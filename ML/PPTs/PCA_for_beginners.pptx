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11"/>
    <p:sldId id="265" r:id="rId12"/>
    <p:sldId id="266" r:id="rId13"/>
    <p:sldId id="267" r:id="rId14"/>
    <p:sldId id="268" r:id="rId15"/>
    <p:sldId id="269" r:id="rId16"/>
  </p:sldIdLst>
  <p:sldSz cx="15819438" cy="932656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38">
          <p15:clr>
            <a:srgbClr val="A4A3A4"/>
          </p15:clr>
        </p15:guide>
        <p15:guide id="2" pos="498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504" y="53"/>
      </p:cViewPr>
      <p:guideLst>
        <p:guide orient="horz" pos="2938"/>
        <p:guide pos="498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52EF74-6433-4F59-B0AF-EBEA1F425953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90775" y="514350"/>
            <a:ext cx="436245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351A78-8632-4982-825F-33B46C52061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6461" y="2897280"/>
            <a:ext cx="13446523" cy="199916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72919" y="5285056"/>
            <a:ext cx="11073607" cy="238345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43AD2-DD54-4162-BA34-DCEB00360E64}" type="datetime1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D20D4-A9CA-4A66-88C8-9BE7A63E269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95BA9-0527-4C8D-B53B-15568E080F72}" type="datetime1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D20D4-A9CA-4A66-88C8-9BE7A63E269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9629" y="5993182"/>
            <a:ext cx="13446523" cy="1852359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9629" y="3953000"/>
            <a:ext cx="13446523" cy="2040185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70D47-000C-4712-AF1F-1188460B1864}" type="datetime1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D20D4-A9CA-4A66-88C8-9BE7A63E269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90972" y="2176199"/>
            <a:ext cx="6986918" cy="6155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41548" y="2176199"/>
            <a:ext cx="6986918" cy="6155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46730-7BE2-4B4E-B800-6AB15243AC1A}" type="datetime1">
              <a:rPr lang="en-US" smtClean="0"/>
              <a:t>12/18/2024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D20D4-A9CA-4A66-88C8-9BE7A63E269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0976" y="2087687"/>
            <a:ext cx="6989666" cy="87004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0976" y="2957733"/>
            <a:ext cx="6989666" cy="537356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036056" y="2087687"/>
            <a:ext cx="6992410" cy="87004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036056" y="2957733"/>
            <a:ext cx="6992410" cy="537356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AB3AF-8206-4DA2-96C3-47A2EE85E823}" type="datetime1">
              <a:rPr lang="en-US" smtClean="0"/>
              <a:t>12/18/2024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D20D4-A9CA-4A66-88C8-9BE7A63E269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E7BB-8775-4938-99EB-9370A5ABF23E}" type="datetime1">
              <a:rPr lang="en-US" smtClean="0"/>
              <a:t>12/18/2024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D20D4-A9CA-4A66-88C8-9BE7A63E269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D2AF8-C62E-423A-97B2-BD27CE5E5961}" type="datetime1">
              <a:rPr lang="en-US" smtClean="0"/>
              <a:t>12/18/2024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D20D4-A9CA-4A66-88C8-9BE7A63E269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73" y="371336"/>
            <a:ext cx="5204486" cy="158033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84962" y="371340"/>
            <a:ext cx="8843505" cy="7959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973" y="1951674"/>
            <a:ext cx="5204486" cy="637962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74725-9DCD-4948-A0E3-CA5B3A6950BA}" type="datetime1">
              <a:rPr lang="en-US" smtClean="0"/>
              <a:t>12/18/2024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D20D4-A9CA-4A66-88C8-9BE7A63E269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0723" y="6528598"/>
            <a:ext cx="9491663" cy="7707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100723" y="833346"/>
            <a:ext cx="9491663" cy="55959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0723" y="7299336"/>
            <a:ext cx="9491663" cy="10945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46836-679E-44AF-AC9F-CEA13518FDBB}" type="datetime1">
              <a:rPr lang="en-US" smtClean="0"/>
              <a:t>12/18/2024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D20D4-A9CA-4A66-88C8-9BE7A63E269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2555D-095F-47ED-A82D-8A73B696F8A5}" type="datetime1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D20D4-A9CA-4A66-88C8-9BE7A63E269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469093" y="373495"/>
            <a:ext cx="3559374" cy="79578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90975" y="373495"/>
            <a:ext cx="10414463" cy="795780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313D5-FB11-4C82-B310-15AB5A33E9BC}" type="datetime1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D20D4-A9CA-4A66-88C8-9BE7A63E269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0975" y="373499"/>
            <a:ext cx="14237495" cy="1554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0975" y="2176199"/>
            <a:ext cx="14237495" cy="6155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0972" y="8644347"/>
            <a:ext cx="3691202" cy="4965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BFAF97-2F76-48BC-A537-CC2AD3B8B5AE}" type="datetime1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404978" y="8644347"/>
            <a:ext cx="5009489" cy="4965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37264" y="8644347"/>
            <a:ext cx="3691202" cy="4965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D20D4-A9CA-4A66-88C8-9BE7A63E269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Principal Component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Amrita Nandan Helwade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C2059B70-581E-46E4-B323-F1335D082C76}"/>
              </a:ext>
            </a:extLst>
          </p:cNvPr>
          <p:cNvSpPr txBox="1">
            <a:spLocks/>
          </p:cNvSpPr>
          <p:nvPr/>
        </p:nvSpPr>
        <p:spPr bwMode="auto">
          <a:xfrm>
            <a:off x="2710540" y="2475243"/>
            <a:ext cx="2727745" cy="369576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 anchor="ctr"/>
          <a:lstStyle>
            <a:lvl1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ctr" defTabSz="912813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defTabSz="912813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defTabSz="912813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defTabSz="912813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>
              <a:defRPr/>
            </a:pPr>
            <a:r>
              <a:rPr lang="en-US" altLang="en-US" sz="2000" b="1" dirty="0">
                <a:solidFill>
                  <a:schemeClr val="bg1"/>
                </a:solidFill>
              </a:rPr>
              <a:t>PCA </a:t>
            </a:r>
          </a:p>
          <a:p>
            <a:pPr algn="l">
              <a:defRPr/>
            </a:pPr>
            <a:r>
              <a:rPr lang="en-US" altLang="en-US" sz="2000" b="1" dirty="0">
                <a:solidFill>
                  <a:schemeClr val="bg1"/>
                </a:solidFill>
              </a:rPr>
              <a:t>BASICS</a:t>
            </a:r>
          </a:p>
          <a:p>
            <a:pPr algn="l">
              <a:defRPr/>
            </a:pPr>
            <a:endParaRPr lang="en-US" altLang="en-US" sz="1400" b="1" dirty="0">
              <a:solidFill>
                <a:schemeClr val="bg1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292A435-DF44-426D-A3BC-5634A9A6A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0539" y="6171005"/>
            <a:ext cx="605588" cy="958563"/>
          </a:xfrm>
          <a:prstGeom prst="rect">
            <a:avLst/>
          </a:pr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2E4C2EBB-5AF6-4E4F-BC88-955294972944}"/>
              </a:ext>
            </a:extLst>
          </p:cNvPr>
          <p:cNvSpPr txBox="1">
            <a:spLocks/>
          </p:cNvSpPr>
          <p:nvPr/>
        </p:nvSpPr>
        <p:spPr bwMode="auto">
          <a:xfrm>
            <a:off x="6055834" y="2475242"/>
            <a:ext cx="2727745" cy="369576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 anchor="ctr"/>
          <a:lstStyle>
            <a:lvl1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ctr" defTabSz="912813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defTabSz="912813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defTabSz="912813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defTabSz="912813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>
              <a:defRPr/>
            </a:pPr>
            <a:endParaRPr lang="en-US" altLang="en-US" sz="2000" b="1" dirty="0">
              <a:solidFill>
                <a:schemeClr val="bg1"/>
              </a:solidFill>
            </a:endParaRPr>
          </a:p>
          <a:p>
            <a:pPr algn="l">
              <a:defRPr/>
            </a:pPr>
            <a:endParaRPr lang="en-US" altLang="en-US" sz="2000" b="1" dirty="0">
              <a:solidFill>
                <a:schemeClr val="bg1"/>
              </a:solidFill>
            </a:endParaRPr>
          </a:p>
          <a:p>
            <a:pPr algn="l">
              <a:defRPr/>
            </a:pPr>
            <a:r>
              <a:rPr lang="en-US" altLang="en-US" sz="2000" b="1" dirty="0">
                <a:solidFill>
                  <a:schemeClr val="bg1"/>
                </a:solidFill>
              </a:rPr>
              <a:t>PCA </a:t>
            </a:r>
          </a:p>
          <a:p>
            <a:pPr algn="l">
              <a:defRPr/>
            </a:pPr>
            <a:r>
              <a:rPr lang="en-US" altLang="en-US" sz="2000" b="1" dirty="0">
                <a:solidFill>
                  <a:schemeClr val="bg1"/>
                </a:solidFill>
              </a:rPr>
              <a:t>Problem 1</a:t>
            </a:r>
          </a:p>
          <a:p>
            <a:pPr algn="l">
              <a:defRPr/>
            </a:pPr>
            <a:endParaRPr lang="en-US" altLang="en-US" sz="2000" b="1" dirty="0">
              <a:solidFill>
                <a:schemeClr val="bg1"/>
              </a:solidFill>
            </a:endParaRPr>
          </a:p>
          <a:p>
            <a:pPr algn="l">
              <a:defRPr/>
            </a:pPr>
            <a:endParaRPr lang="en-US" altLang="en-US" sz="3200" b="1" dirty="0">
              <a:solidFill>
                <a:schemeClr val="bg1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60ED83A-0139-47C5-8F40-E5EA241D51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5829" y="6171002"/>
            <a:ext cx="605588" cy="995860"/>
          </a:xfrm>
          <a:prstGeom prst="rect">
            <a:avLst/>
          </a:prstGeom>
        </p:spPr>
      </p:pic>
      <p:sp>
        <p:nvSpPr>
          <p:cNvPr id="22" name="Title 1">
            <a:extLst>
              <a:ext uri="{FF2B5EF4-FFF2-40B4-BE49-F238E27FC236}">
                <a16:creationId xmlns:a16="http://schemas.microsoft.com/office/drawing/2014/main" id="{67492BFE-F9F5-4CF0-A244-85EB7DEDE71B}"/>
              </a:ext>
            </a:extLst>
          </p:cNvPr>
          <p:cNvSpPr txBox="1">
            <a:spLocks/>
          </p:cNvSpPr>
          <p:nvPr/>
        </p:nvSpPr>
        <p:spPr bwMode="auto">
          <a:xfrm>
            <a:off x="9311581" y="2475242"/>
            <a:ext cx="2727745" cy="369576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 anchor="ctr"/>
          <a:lstStyle>
            <a:lvl1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ctr" defTabSz="912813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defTabSz="912813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defTabSz="912813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defTabSz="912813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>
              <a:defRPr/>
            </a:pPr>
            <a:r>
              <a:rPr lang="en-US" altLang="en-US" sz="2000" b="1" dirty="0">
                <a:solidFill>
                  <a:schemeClr val="bg1"/>
                </a:solidFill>
              </a:rPr>
              <a:t>PCA</a:t>
            </a:r>
          </a:p>
          <a:p>
            <a:pPr algn="l">
              <a:defRPr/>
            </a:pPr>
            <a:r>
              <a:rPr lang="en-US" altLang="en-US" sz="2000" b="1" dirty="0">
                <a:solidFill>
                  <a:schemeClr val="bg1"/>
                </a:solidFill>
              </a:rPr>
              <a:t>Problem 2</a:t>
            </a:r>
          </a:p>
          <a:p>
            <a:pPr algn="l">
              <a:defRPr/>
            </a:pPr>
            <a:endParaRPr lang="en-IN" altLang="en-US" sz="1600" b="1" dirty="0">
              <a:solidFill>
                <a:schemeClr val="bg1"/>
              </a:solidFill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53DE6FF-A045-456A-958B-98122CBC1F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1581" y="6171002"/>
            <a:ext cx="649467" cy="99586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F34F94D2-3474-425F-B3D4-08CFE77A4C5E}"/>
              </a:ext>
            </a:extLst>
          </p:cNvPr>
          <p:cNvSpPr txBox="1"/>
          <p:nvPr/>
        </p:nvSpPr>
        <p:spPr>
          <a:xfrm>
            <a:off x="1250218" y="771818"/>
            <a:ext cx="79115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687707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4055A4C7-E1DD-497F-8C83-F98F946821A8}"/>
              </a:ext>
            </a:extLst>
          </p:cNvPr>
          <p:cNvSpPr txBox="1">
            <a:spLocks/>
          </p:cNvSpPr>
          <p:nvPr/>
        </p:nvSpPr>
        <p:spPr bwMode="auto">
          <a:xfrm>
            <a:off x="-1" y="-1"/>
            <a:ext cx="2727745" cy="369576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 anchor="ctr"/>
          <a:lstStyle>
            <a:lvl1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ctr" defTabSz="912813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defTabSz="912813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defTabSz="912813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defTabSz="912813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>
              <a:defRPr/>
            </a:pPr>
            <a:r>
              <a:rPr lang="en-US" altLang="en-US" sz="2000" b="1" dirty="0">
                <a:solidFill>
                  <a:schemeClr val="bg1"/>
                </a:solidFill>
              </a:rPr>
              <a:t>PCA</a:t>
            </a:r>
          </a:p>
          <a:p>
            <a:pPr algn="l">
              <a:defRPr/>
            </a:pPr>
            <a:r>
              <a:rPr lang="en-US" altLang="en-US" sz="2000" b="1" dirty="0">
                <a:solidFill>
                  <a:schemeClr val="bg1"/>
                </a:solidFill>
              </a:rPr>
              <a:t>BASICS</a:t>
            </a:r>
          </a:p>
          <a:p>
            <a:pPr algn="l">
              <a:defRPr/>
            </a:pPr>
            <a:endParaRPr lang="en-US" altLang="en-US" sz="2000" b="1" dirty="0">
              <a:solidFill>
                <a:schemeClr val="bg1"/>
              </a:solidFill>
            </a:endParaRPr>
          </a:p>
          <a:p>
            <a:pPr algn="l">
              <a:defRPr/>
            </a:pPr>
            <a:r>
              <a:rPr lang="en-US" altLang="en-US" sz="1400" b="1" dirty="0">
                <a:solidFill>
                  <a:schemeClr val="bg1"/>
                </a:solidFill>
              </a:rPr>
              <a:t>Why PCA ? </a:t>
            </a:r>
            <a:endParaRPr lang="en-IN" altLang="en-US" sz="1600" b="1" dirty="0">
              <a:solidFill>
                <a:schemeClr val="bg1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1CDC0AD-088C-48EE-A97C-EC72685C8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95763"/>
            <a:ext cx="605588" cy="95856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1595" y="1179339"/>
            <a:ext cx="10424188" cy="6528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38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B906A-0762-4ECC-9B1C-D765CC5D8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7944" y="383981"/>
            <a:ext cx="10021779" cy="66306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Principal Component Analysis ?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Principal Component Analysis is a well-known dimension reduction technique.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transforms the variables into a new set of variables called as principal components.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principal components are linear combination of original variables and are orthogonal.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principal component accounts for most of the possible variation of original data.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second principal component does its best to capture the variance in the data.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can be only two principal components for a two-dimensional data set.</a:t>
            </a:r>
            <a:endParaRPr lang="en-US" sz="2000" dirty="0">
              <a:solidFill>
                <a:srgbClr val="204A8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DEA870-2C62-45C3-829B-F0D5556405CA}"/>
              </a:ext>
            </a:extLst>
          </p:cNvPr>
          <p:cNvSpPr txBox="1"/>
          <p:nvPr/>
        </p:nvSpPr>
        <p:spPr>
          <a:xfrm>
            <a:off x="3845893" y="4132707"/>
            <a:ext cx="79115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PCA? 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055A4C7-E1DD-497F-8C83-F98F946821A8}"/>
              </a:ext>
            </a:extLst>
          </p:cNvPr>
          <p:cNvSpPr txBox="1">
            <a:spLocks/>
          </p:cNvSpPr>
          <p:nvPr/>
        </p:nvSpPr>
        <p:spPr bwMode="auto">
          <a:xfrm>
            <a:off x="-1" y="-1"/>
            <a:ext cx="2727745" cy="369576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 anchor="ctr"/>
          <a:lstStyle>
            <a:lvl1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ctr" defTabSz="912813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defTabSz="912813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defTabSz="912813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defTabSz="912813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>
              <a:defRPr/>
            </a:pPr>
            <a:r>
              <a:rPr lang="en-US" altLang="en-US" sz="2000" b="1" dirty="0">
                <a:solidFill>
                  <a:schemeClr val="bg1"/>
                </a:solidFill>
              </a:rPr>
              <a:t>PCA</a:t>
            </a:r>
          </a:p>
          <a:p>
            <a:pPr algn="l">
              <a:defRPr/>
            </a:pPr>
            <a:r>
              <a:rPr lang="en-US" altLang="en-US" sz="2000" b="1" dirty="0">
                <a:solidFill>
                  <a:schemeClr val="bg1"/>
                </a:solidFill>
              </a:rPr>
              <a:t>BASICS</a:t>
            </a:r>
          </a:p>
          <a:p>
            <a:pPr algn="l">
              <a:defRPr/>
            </a:pPr>
            <a:endParaRPr lang="en-US" altLang="en-US" sz="2000" b="1" dirty="0">
              <a:solidFill>
                <a:schemeClr val="bg1"/>
              </a:solidFill>
            </a:endParaRPr>
          </a:p>
          <a:p>
            <a:pPr algn="l">
              <a:defRPr/>
            </a:pPr>
            <a:r>
              <a:rPr lang="en-US" altLang="en-US" sz="1400" b="1" dirty="0">
                <a:solidFill>
                  <a:schemeClr val="bg1"/>
                </a:solidFill>
              </a:rPr>
              <a:t>What is PCA ? </a:t>
            </a:r>
            <a:endParaRPr lang="en-IN" altLang="en-US" sz="1600" b="1" dirty="0">
              <a:solidFill>
                <a:schemeClr val="bg1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1CDC0AD-088C-48EE-A97C-EC72685C8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95763"/>
            <a:ext cx="605588" cy="95856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697940" y="4654322"/>
            <a:ext cx="35621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following example-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1333" y="4383846"/>
            <a:ext cx="3968585" cy="311145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667267" y="5091627"/>
            <a:ext cx="797625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graph shows two dimensions x1 and x2.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 represents the measurement of several objects in cm.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x2 represents the measurement of several objects in inches.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67268" y="6659046"/>
            <a:ext cx="790972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Using both these dimensions convey similar information.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Also, they introduce a lot of noise in the system.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So, it is better to use just one dimension.</a:t>
            </a:r>
          </a:p>
        </p:txBody>
      </p:sp>
    </p:spTree>
    <p:extLst>
      <p:ext uri="{BB962C8B-B14F-4D97-AF65-F5344CB8AC3E}">
        <p14:creationId xmlns:p14="http://schemas.microsoft.com/office/powerpoint/2010/main" val="2277547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B906A-0762-4ECC-9B1C-D765CC5D8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7944" y="383981"/>
            <a:ext cx="10021779" cy="66306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dimension reduction techniques-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convert the dimensions of data from 2 dimensions (x1 and x2) to 1 dimension (z1).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makes the data relatively easier to explain.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DEA870-2C62-45C3-829B-F0D5556405CA}"/>
              </a:ext>
            </a:extLst>
          </p:cNvPr>
          <p:cNvSpPr txBox="1"/>
          <p:nvPr/>
        </p:nvSpPr>
        <p:spPr>
          <a:xfrm>
            <a:off x="3838586" y="2995400"/>
            <a:ext cx="79115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 PCA? 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055A4C7-E1DD-497F-8C83-F98F946821A8}"/>
              </a:ext>
            </a:extLst>
          </p:cNvPr>
          <p:cNvSpPr txBox="1">
            <a:spLocks/>
          </p:cNvSpPr>
          <p:nvPr/>
        </p:nvSpPr>
        <p:spPr bwMode="auto">
          <a:xfrm>
            <a:off x="-1" y="-1"/>
            <a:ext cx="2727745" cy="369576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 anchor="ctr"/>
          <a:lstStyle>
            <a:lvl1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ctr" defTabSz="912813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defTabSz="912813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defTabSz="912813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defTabSz="912813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>
              <a:defRPr/>
            </a:pPr>
            <a:r>
              <a:rPr lang="en-US" altLang="en-US" sz="2000" b="1" dirty="0">
                <a:solidFill>
                  <a:schemeClr val="bg1"/>
                </a:solidFill>
              </a:rPr>
              <a:t>PCA</a:t>
            </a:r>
          </a:p>
          <a:p>
            <a:pPr algn="l">
              <a:defRPr/>
            </a:pPr>
            <a:r>
              <a:rPr lang="en-US" altLang="en-US" sz="2000" b="1" dirty="0">
                <a:solidFill>
                  <a:schemeClr val="bg1"/>
                </a:solidFill>
              </a:rPr>
              <a:t>BASICS</a:t>
            </a:r>
          </a:p>
          <a:p>
            <a:pPr algn="l">
              <a:defRPr/>
            </a:pPr>
            <a:endParaRPr lang="en-US" altLang="en-US" sz="2000" b="1" dirty="0">
              <a:solidFill>
                <a:schemeClr val="bg1"/>
              </a:solidFill>
            </a:endParaRPr>
          </a:p>
          <a:p>
            <a:pPr algn="l">
              <a:defRPr/>
            </a:pPr>
            <a:r>
              <a:rPr lang="en-US" altLang="en-US" sz="2000" b="1" dirty="0">
                <a:solidFill>
                  <a:schemeClr val="bg1"/>
                </a:solidFill>
              </a:rPr>
              <a:t>Why PCA ? </a:t>
            </a:r>
            <a:endParaRPr lang="en-IN" altLang="en-US" sz="2000" b="1" dirty="0">
              <a:solidFill>
                <a:schemeClr val="bg1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1CDC0AD-088C-48EE-A97C-EC72685C8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95763"/>
            <a:ext cx="605588" cy="95856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757345" y="3497675"/>
            <a:ext cx="555331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Dimension reduction offers several benefits such as-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757340" y="3974437"/>
            <a:ext cx="7909720" cy="1631216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compresses the data and thus reduces the storage space requirements.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reduces the time required for computation since less dimensions require less computation.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eliminates the redundant features.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improves the model performance.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6400" y="1847883"/>
            <a:ext cx="6204187" cy="117605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8442" y="6218768"/>
            <a:ext cx="8571855" cy="2052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89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B906A-0762-4ECC-9B1C-D765CC5D8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5471" y="295158"/>
            <a:ext cx="11158620" cy="33060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Steps involved in PCA 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076B32C-F543-4C09-9EB8-BA86DFE59FF5}"/>
              </a:ext>
            </a:extLst>
          </p:cNvPr>
          <p:cNvSpPr txBox="1">
            <a:spLocks/>
          </p:cNvSpPr>
          <p:nvPr/>
        </p:nvSpPr>
        <p:spPr bwMode="auto">
          <a:xfrm>
            <a:off x="-1" y="-1"/>
            <a:ext cx="2727745" cy="369576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 anchor="ctr"/>
          <a:lstStyle>
            <a:lvl1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ctr" defTabSz="912813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defTabSz="912813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defTabSz="912813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defTabSz="912813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>
              <a:defRPr/>
            </a:pPr>
            <a:r>
              <a:rPr lang="en-US" altLang="en-US" sz="2000" b="1" dirty="0">
                <a:solidFill>
                  <a:schemeClr val="bg1"/>
                </a:solidFill>
              </a:rPr>
              <a:t>PCA </a:t>
            </a:r>
          </a:p>
          <a:p>
            <a:pPr algn="l">
              <a:defRPr/>
            </a:pPr>
            <a:endParaRPr lang="en-US" altLang="en-US" sz="2000" b="1" dirty="0">
              <a:solidFill>
                <a:schemeClr val="bg1"/>
              </a:solidFill>
            </a:endParaRPr>
          </a:p>
          <a:p>
            <a:pPr algn="l">
              <a:defRPr/>
            </a:pPr>
            <a:r>
              <a:rPr lang="en-US" altLang="en-US" sz="2000" b="1" dirty="0">
                <a:solidFill>
                  <a:schemeClr val="bg1"/>
                </a:solidFill>
              </a:rPr>
              <a:t>How to calculate PCA ?</a:t>
            </a:r>
          </a:p>
          <a:p>
            <a:pPr algn="l">
              <a:defRPr/>
            </a:pPr>
            <a:r>
              <a:rPr lang="en-US" altLang="en-US" sz="2000" b="1" dirty="0">
                <a:solidFill>
                  <a:schemeClr val="bg1"/>
                </a:solidFill>
              </a:rPr>
              <a:t>PROBLEM 1</a:t>
            </a:r>
            <a:endParaRPr lang="en-IN" altLang="en-US" sz="2000" b="1" dirty="0">
              <a:solidFill>
                <a:schemeClr val="bg1"/>
              </a:solidFill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64BA1F0C-6E9A-4A6B-8042-6ADAA3864D20}"/>
              </a:ext>
            </a:extLst>
          </p:cNvPr>
          <p:cNvSpPr txBox="1">
            <a:spLocks noChangeArrowheads="1"/>
          </p:cNvSpPr>
          <p:nvPr/>
        </p:nvSpPr>
        <p:spPr>
          <a:xfrm>
            <a:off x="3901719" y="1472932"/>
            <a:ext cx="9195049" cy="632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endParaRPr lang="en-US" altLang="en-US" sz="2000" dirty="0"/>
          </a:p>
        </p:txBody>
      </p:sp>
      <p:sp>
        <p:nvSpPr>
          <p:cNvPr id="2" name="Rectangle 1"/>
          <p:cNvSpPr/>
          <p:nvPr/>
        </p:nvSpPr>
        <p:spPr>
          <a:xfrm>
            <a:off x="3655474" y="713432"/>
            <a:ext cx="10783497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20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Step-01: Get data.</a:t>
            </a:r>
          </a:p>
          <a:p>
            <a:pPr fontAlgn="base"/>
            <a:r>
              <a:rPr lang="en-US" sz="20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Step-02: Compute the mean vector (µ).</a:t>
            </a:r>
          </a:p>
          <a:p>
            <a:pPr fontAlgn="base"/>
            <a:r>
              <a:rPr lang="en-US" sz="20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Step-03: Subtract mean from the given data.</a:t>
            </a:r>
          </a:p>
          <a:p>
            <a:pPr fontAlgn="base"/>
            <a:r>
              <a:rPr lang="en-US" sz="20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Step-04: Calculate the covariance matrix.</a:t>
            </a:r>
          </a:p>
          <a:p>
            <a:pPr fontAlgn="base"/>
            <a:r>
              <a:rPr lang="en-US" sz="20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Step-05: Calculate the </a:t>
            </a:r>
            <a:r>
              <a:rPr lang="en-US" sz="2000" i="0" dirty="0" err="1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eigen</a:t>
            </a:r>
            <a:r>
              <a:rPr lang="en-US" sz="20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vectors and </a:t>
            </a:r>
            <a:r>
              <a:rPr lang="en-US" sz="2000" i="0" dirty="0" err="1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eigen</a:t>
            </a:r>
            <a:r>
              <a:rPr lang="en-US" sz="20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values of the covariance matrix.</a:t>
            </a:r>
          </a:p>
          <a:p>
            <a:pPr fontAlgn="base"/>
            <a:r>
              <a:rPr lang="en-US" sz="20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Step-06: Choosing components and forming a feature vector.</a:t>
            </a:r>
          </a:p>
          <a:p>
            <a:pPr fontAlgn="base"/>
            <a:r>
              <a:rPr lang="en-US" sz="20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Step-07: Deriving the new data set.</a:t>
            </a:r>
          </a:p>
        </p:txBody>
      </p:sp>
      <p:sp>
        <p:nvSpPr>
          <p:cNvPr id="4" name="Rectangle 3"/>
          <p:cNvSpPr/>
          <p:nvPr/>
        </p:nvSpPr>
        <p:spPr>
          <a:xfrm>
            <a:off x="3591244" y="3523262"/>
            <a:ext cx="1122284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 Problems Based On Principal Component Analysis-</a:t>
            </a:r>
          </a:p>
        </p:txBody>
      </p:sp>
      <p:sp>
        <p:nvSpPr>
          <p:cNvPr id="5" name="Rectangle 4"/>
          <p:cNvSpPr/>
          <p:nvPr/>
        </p:nvSpPr>
        <p:spPr>
          <a:xfrm>
            <a:off x="3591242" y="4173179"/>
            <a:ext cx="57791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Lets consider data = { 2, 3, 4, 5, 6, 7 ; 1, 5, 3, 6, 7, 8 }.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91248" y="4830234"/>
            <a:ext cx="728667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1</a:t>
            </a:r>
            <a:r>
              <a:rPr lang="en-US" sz="20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Compute the principal component using PCA Algorithm.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591243" y="5706710"/>
            <a:ext cx="1033577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20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two dimensional patterns (2, 1), (3, 5), (4, 3), (5, 6), (6, 7), (7, 8).</a:t>
            </a:r>
          </a:p>
          <a:p>
            <a:pPr fontAlgn="base"/>
            <a:r>
              <a:rPr lang="en-US" sz="20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Compute the principal component using PCA Algorithm.</a:t>
            </a:r>
          </a:p>
        </p:txBody>
      </p:sp>
      <p:sp>
        <p:nvSpPr>
          <p:cNvPr id="8" name="Rectangle 7"/>
          <p:cNvSpPr/>
          <p:nvPr/>
        </p:nvSpPr>
        <p:spPr>
          <a:xfrm>
            <a:off x="6754120" y="5255604"/>
            <a:ext cx="5421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endParaRPr lang="en-US" sz="2000" dirty="0"/>
          </a:p>
        </p:txBody>
      </p:sp>
      <p:sp>
        <p:nvSpPr>
          <p:cNvPr id="10" name="Rectangle 9"/>
          <p:cNvSpPr/>
          <p:nvPr/>
        </p:nvSpPr>
        <p:spPr>
          <a:xfrm>
            <a:off x="3591247" y="6805343"/>
            <a:ext cx="55883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Compute the principal component of following data-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55473" y="7211782"/>
            <a:ext cx="790972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s-ES" sz="20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 1                                 X = 2 , 3 , 4</a:t>
            </a:r>
          </a:p>
          <a:p>
            <a:pPr algn="ctr" fontAlgn="base"/>
            <a:r>
              <a:rPr lang="es-ES" sz="20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 = 1 , 5 , 3</a:t>
            </a:r>
          </a:p>
          <a:p>
            <a:pPr algn="ctr" fontAlgn="base"/>
            <a:endParaRPr lang="es-ES" sz="2000" b="0" i="0" dirty="0">
              <a:solidFill>
                <a:srgbClr val="30303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s-ES" sz="20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 2                                 X = 5 , 6 , 7</a:t>
            </a:r>
          </a:p>
          <a:p>
            <a:pPr algn="ctr" fontAlgn="base"/>
            <a:r>
              <a:rPr lang="es-ES" sz="20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 = 6 , 7 , 8</a:t>
            </a:r>
          </a:p>
          <a:p>
            <a:pPr fontAlgn="base"/>
            <a:r>
              <a:rPr lang="es-ES" sz="2000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54120" y="6475482"/>
            <a:ext cx="5421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endParaRPr lang="en-US" sz="20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60ED83A-0139-47C5-8F40-E5EA241D5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3675250"/>
            <a:ext cx="605588" cy="99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554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B906A-0762-4ECC-9B1C-D765CC5D8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8921" y="295158"/>
            <a:ext cx="11158620" cy="33060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 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076B32C-F543-4C09-9EB8-BA86DFE59FF5}"/>
              </a:ext>
            </a:extLst>
          </p:cNvPr>
          <p:cNvSpPr txBox="1">
            <a:spLocks/>
          </p:cNvSpPr>
          <p:nvPr/>
        </p:nvSpPr>
        <p:spPr bwMode="auto">
          <a:xfrm>
            <a:off x="-1" y="-1"/>
            <a:ext cx="2727745" cy="369576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 anchor="ctr"/>
          <a:lstStyle>
            <a:lvl1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ctr" defTabSz="912813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defTabSz="912813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defTabSz="912813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defTabSz="912813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>
              <a:defRPr/>
            </a:pPr>
            <a:r>
              <a:rPr lang="en-US" altLang="en-US" sz="2000" b="1" dirty="0">
                <a:solidFill>
                  <a:schemeClr val="bg1"/>
                </a:solidFill>
              </a:rPr>
              <a:t>PCA </a:t>
            </a:r>
          </a:p>
          <a:p>
            <a:pPr algn="l">
              <a:defRPr/>
            </a:pPr>
            <a:endParaRPr lang="en-US" altLang="en-US" sz="2000" b="1" dirty="0">
              <a:solidFill>
                <a:schemeClr val="bg1"/>
              </a:solidFill>
            </a:endParaRPr>
          </a:p>
          <a:p>
            <a:pPr algn="l">
              <a:defRPr/>
            </a:pPr>
            <a:r>
              <a:rPr lang="en-US" altLang="en-US" sz="1400" b="1" dirty="0">
                <a:solidFill>
                  <a:schemeClr val="bg1"/>
                </a:solidFill>
              </a:rPr>
              <a:t>How to calculate PCA ?</a:t>
            </a:r>
          </a:p>
          <a:p>
            <a:pPr algn="l">
              <a:defRPr/>
            </a:pPr>
            <a:r>
              <a:rPr lang="en-US" altLang="en-US" sz="1400" b="1" dirty="0">
                <a:solidFill>
                  <a:schemeClr val="bg1"/>
                </a:solidFill>
              </a:rPr>
              <a:t>Solution </a:t>
            </a:r>
            <a:endParaRPr lang="en-IN" altLang="en-US" sz="1600" b="1" dirty="0">
              <a:solidFill>
                <a:schemeClr val="bg1"/>
              </a:solidFill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64BA1F0C-6E9A-4A6B-8042-6ADAA3864D20}"/>
              </a:ext>
            </a:extLst>
          </p:cNvPr>
          <p:cNvSpPr txBox="1">
            <a:spLocks noChangeArrowheads="1"/>
          </p:cNvSpPr>
          <p:nvPr/>
        </p:nvSpPr>
        <p:spPr>
          <a:xfrm>
            <a:off x="3655475" y="1485758"/>
            <a:ext cx="9195049" cy="632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endParaRPr lang="en-US" altLang="en-US" sz="1600" dirty="0"/>
          </a:p>
        </p:txBody>
      </p:sp>
      <p:sp>
        <p:nvSpPr>
          <p:cNvPr id="2" name="Rectangle 1"/>
          <p:cNvSpPr/>
          <p:nvPr/>
        </p:nvSpPr>
        <p:spPr>
          <a:xfrm>
            <a:off x="3394042" y="693083"/>
            <a:ext cx="10783497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1600" b="1" i="0" u="sng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Step-01</a:t>
            </a:r>
            <a:r>
              <a:rPr lang="en-US" sz="1600" i="0" u="sng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fontAlgn="base"/>
            <a:r>
              <a:rPr lang="en-US" sz="16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 data.</a:t>
            </a:r>
          </a:p>
          <a:p>
            <a:pPr fontAlgn="base"/>
            <a:r>
              <a:rPr lang="en-US" sz="16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given feature vectors are-</a:t>
            </a:r>
          </a:p>
          <a:p>
            <a:pPr fontAlgn="base"/>
            <a:endParaRPr lang="en-US" sz="1600" i="0" dirty="0">
              <a:solidFill>
                <a:srgbClr val="30303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16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x1 = (2, 1)</a:t>
            </a:r>
          </a:p>
          <a:p>
            <a:pPr fontAlgn="base"/>
            <a:r>
              <a:rPr lang="en-US" sz="16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x2 = (3, 5)</a:t>
            </a:r>
          </a:p>
          <a:p>
            <a:pPr fontAlgn="base"/>
            <a:r>
              <a:rPr lang="en-US" sz="16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x3 = (4, 3)</a:t>
            </a:r>
          </a:p>
          <a:p>
            <a:pPr fontAlgn="base"/>
            <a:r>
              <a:rPr lang="en-US" sz="16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x4 = (5, 6)</a:t>
            </a:r>
          </a:p>
          <a:p>
            <a:pPr fontAlgn="base"/>
            <a:r>
              <a:rPr lang="en-US" sz="16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x5 = (6, 7)</a:t>
            </a:r>
          </a:p>
          <a:p>
            <a:pPr fontAlgn="base"/>
            <a:r>
              <a:rPr lang="en-US" sz="16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x6 = (7, 8)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7545" y="1847878"/>
            <a:ext cx="8404077" cy="2176198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394043" y="4447954"/>
            <a:ext cx="879513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1600" b="1" i="0" u="sng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Step-02:</a:t>
            </a:r>
          </a:p>
          <a:p>
            <a:pPr fontAlgn="base"/>
            <a:endParaRPr lang="en-US" sz="1600" b="1" i="0" dirty="0">
              <a:solidFill>
                <a:srgbClr val="30303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16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mean vector (µ).</a:t>
            </a:r>
          </a:p>
          <a:p>
            <a:pPr fontAlgn="base"/>
            <a:r>
              <a:rPr lang="en-US" sz="16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fontAlgn="base"/>
            <a:r>
              <a:rPr lang="en-US" sz="16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Mean vector (µ)</a:t>
            </a:r>
          </a:p>
          <a:p>
            <a:pPr fontAlgn="base"/>
            <a:r>
              <a:rPr lang="en-US" sz="16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 ((2 + 3 + 4 + 5 + 6 + 7) / 6, (1 + 5 + 3 + 6 + 7 + 8) / 6)</a:t>
            </a:r>
          </a:p>
          <a:p>
            <a:pPr fontAlgn="base"/>
            <a:r>
              <a:rPr lang="en-US" sz="16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 (4.5, 5)</a:t>
            </a:r>
          </a:p>
          <a:p>
            <a:pPr fontAlgn="base"/>
            <a:r>
              <a:rPr lang="en-US" sz="16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fontAlgn="base"/>
            <a:r>
              <a:rPr lang="en-US" sz="16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Thus,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0904" y="6855010"/>
            <a:ext cx="4770552" cy="190417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60ED83A-0139-47C5-8F40-E5EA241D51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3675250"/>
            <a:ext cx="605588" cy="99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967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B906A-0762-4ECC-9B1C-D765CC5D8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8921" y="295158"/>
            <a:ext cx="11158620" cy="33060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 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076B32C-F543-4C09-9EB8-BA86DFE59FF5}"/>
              </a:ext>
            </a:extLst>
          </p:cNvPr>
          <p:cNvSpPr txBox="1">
            <a:spLocks/>
          </p:cNvSpPr>
          <p:nvPr/>
        </p:nvSpPr>
        <p:spPr bwMode="auto">
          <a:xfrm>
            <a:off x="-1" y="-1"/>
            <a:ext cx="2727745" cy="369576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 anchor="ctr"/>
          <a:lstStyle>
            <a:lvl1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ctr" defTabSz="912813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defTabSz="912813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defTabSz="912813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defTabSz="912813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>
              <a:defRPr/>
            </a:pPr>
            <a:r>
              <a:rPr lang="en-US" altLang="en-US" sz="2000" b="1" dirty="0">
                <a:solidFill>
                  <a:schemeClr val="bg1"/>
                </a:solidFill>
              </a:rPr>
              <a:t>PCA </a:t>
            </a:r>
          </a:p>
          <a:p>
            <a:pPr algn="l">
              <a:defRPr/>
            </a:pPr>
            <a:endParaRPr lang="en-US" altLang="en-US" sz="2000" b="1" dirty="0">
              <a:solidFill>
                <a:schemeClr val="bg1"/>
              </a:solidFill>
            </a:endParaRPr>
          </a:p>
          <a:p>
            <a:pPr algn="l">
              <a:defRPr/>
            </a:pPr>
            <a:r>
              <a:rPr lang="en-US" altLang="en-US" sz="1400" b="1" dirty="0">
                <a:solidFill>
                  <a:schemeClr val="bg1"/>
                </a:solidFill>
              </a:rPr>
              <a:t>How to calculate PCA ?</a:t>
            </a:r>
          </a:p>
          <a:p>
            <a:pPr algn="l">
              <a:defRPr/>
            </a:pPr>
            <a:r>
              <a:rPr lang="en-US" altLang="en-US" sz="1400" b="1" dirty="0">
                <a:solidFill>
                  <a:schemeClr val="bg1"/>
                </a:solidFill>
              </a:rPr>
              <a:t>Solution </a:t>
            </a:r>
            <a:endParaRPr lang="en-IN" altLang="en-US" sz="1600" b="1" dirty="0">
              <a:solidFill>
                <a:schemeClr val="bg1"/>
              </a:solidFill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64BA1F0C-6E9A-4A6B-8042-6ADAA3864D20}"/>
              </a:ext>
            </a:extLst>
          </p:cNvPr>
          <p:cNvSpPr txBox="1">
            <a:spLocks noChangeArrowheads="1"/>
          </p:cNvSpPr>
          <p:nvPr/>
        </p:nvSpPr>
        <p:spPr>
          <a:xfrm>
            <a:off x="3655475" y="1485758"/>
            <a:ext cx="9195049" cy="632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endParaRPr lang="en-US" altLang="en-US" sz="1600" dirty="0"/>
          </a:p>
        </p:txBody>
      </p:sp>
      <p:sp>
        <p:nvSpPr>
          <p:cNvPr id="2" name="Rectangle 1"/>
          <p:cNvSpPr/>
          <p:nvPr/>
        </p:nvSpPr>
        <p:spPr>
          <a:xfrm>
            <a:off x="3394042" y="693077"/>
            <a:ext cx="10783497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1600" b="1" i="0" u="sng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Step-03:</a:t>
            </a:r>
          </a:p>
          <a:p>
            <a:pPr fontAlgn="base"/>
            <a:r>
              <a:rPr lang="en-US" sz="1600" b="1" i="0" u="sng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fontAlgn="base"/>
            <a:r>
              <a:rPr lang="en-US" sz="16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Subtract mean vector (µ) from the given feature vectors.</a:t>
            </a:r>
          </a:p>
          <a:p>
            <a:pPr fontAlgn="base"/>
            <a:endParaRPr lang="en-US" sz="1600" i="0" dirty="0">
              <a:solidFill>
                <a:srgbClr val="30303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16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x1 – µ = (2 – 4.5, 1 – 5) = (-2.5, -4)</a:t>
            </a:r>
          </a:p>
          <a:p>
            <a:pPr fontAlgn="base"/>
            <a:r>
              <a:rPr lang="en-US" sz="16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x2 – µ = (3 – 4.5, 5 – 5) = (-1.5, 0)</a:t>
            </a:r>
          </a:p>
          <a:p>
            <a:pPr fontAlgn="base"/>
            <a:r>
              <a:rPr lang="en-US" sz="16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x3 – µ = (4 – 4.5, 3 – 5) = (-0.5, -2)</a:t>
            </a:r>
          </a:p>
          <a:p>
            <a:pPr fontAlgn="base"/>
            <a:r>
              <a:rPr lang="en-US" sz="16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x4 – µ = (5 – 4.5, 6 – 5) = (0.5, 1)</a:t>
            </a:r>
          </a:p>
          <a:p>
            <a:pPr fontAlgn="base"/>
            <a:r>
              <a:rPr lang="en-US" sz="16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x5 – µ = (6 – 4.5, 7 – 5) = (1.5, 2)</a:t>
            </a:r>
          </a:p>
          <a:p>
            <a:pPr fontAlgn="base"/>
            <a:r>
              <a:rPr lang="en-US" sz="16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x6 – µ = (7 – 4.5, 8 – 5) = (2.5, 3)</a:t>
            </a:r>
          </a:p>
          <a:p>
            <a:pPr fontAlgn="base"/>
            <a:endParaRPr lang="en-US" sz="1600" dirty="0">
              <a:solidFill>
                <a:srgbClr val="30303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1600" dirty="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vectors (xi) after subtracting mean vector (µ) are-</a:t>
            </a:r>
          </a:p>
          <a:p>
            <a:pPr fontAlgn="base"/>
            <a:endParaRPr lang="en-US" sz="1600" i="0" dirty="0">
              <a:solidFill>
                <a:srgbClr val="30303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1600" dirty="0">
              <a:solidFill>
                <a:srgbClr val="30303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1600" i="0" dirty="0">
              <a:solidFill>
                <a:srgbClr val="30303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394043" y="6342124"/>
            <a:ext cx="879513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1600" b="1" i="0" u="sng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Step-04:</a:t>
            </a:r>
          </a:p>
          <a:p>
            <a:pPr fontAlgn="base"/>
            <a:r>
              <a:rPr lang="en-US" sz="1600" b="1" i="0" u="sng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00" i="0" dirty="0">
              <a:solidFill>
                <a:srgbClr val="30303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16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covariance matrix.</a:t>
            </a:r>
          </a:p>
          <a:p>
            <a:pPr fontAlgn="base"/>
            <a:r>
              <a:rPr lang="en-US" sz="16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Covariance matrix is given by-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2846" y="4706229"/>
            <a:ext cx="8193975" cy="163590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3496" y="6674212"/>
            <a:ext cx="7909720" cy="227982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60ED83A-0139-47C5-8F40-E5EA241D51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3675250"/>
            <a:ext cx="605588" cy="99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67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6B32C-F543-4C09-9EB8-BA86DFE59FF5}"/>
              </a:ext>
            </a:extLst>
          </p:cNvPr>
          <p:cNvSpPr txBox="1">
            <a:spLocks/>
          </p:cNvSpPr>
          <p:nvPr/>
        </p:nvSpPr>
        <p:spPr bwMode="auto">
          <a:xfrm>
            <a:off x="-1" y="-1"/>
            <a:ext cx="2727745" cy="369576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 anchor="ctr"/>
          <a:lstStyle>
            <a:lvl1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ctr" defTabSz="912813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defTabSz="912813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defTabSz="912813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defTabSz="912813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>
              <a:defRPr/>
            </a:pPr>
            <a:r>
              <a:rPr lang="en-US" altLang="en-US" sz="2000" b="1" dirty="0">
                <a:solidFill>
                  <a:schemeClr val="bg1"/>
                </a:solidFill>
              </a:rPr>
              <a:t>PCA </a:t>
            </a:r>
          </a:p>
          <a:p>
            <a:pPr algn="l">
              <a:defRPr/>
            </a:pPr>
            <a:endParaRPr lang="en-US" altLang="en-US" sz="2000" b="1" dirty="0">
              <a:solidFill>
                <a:schemeClr val="bg1"/>
              </a:solidFill>
            </a:endParaRPr>
          </a:p>
          <a:p>
            <a:pPr algn="l">
              <a:defRPr/>
            </a:pPr>
            <a:r>
              <a:rPr lang="en-US" altLang="en-US" sz="1400" b="1" dirty="0">
                <a:solidFill>
                  <a:schemeClr val="bg1"/>
                </a:solidFill>
              </a:rPr>
              <a:t>How to calculate PCA ?</a:t>
            </a:r>
          </a:p>
          <a:p>
            <a:pPr algn="l">
              <a:defRPr/>
            </a:pPr>
            <a:r>
              <a:rPr lang="en-US" altLang="en-US" sz="1400" b="1" dirty="0">
                <a:solidFill>
                  <a:schemeClr val="bg1"/>
                </a:solidFill>
              </a:rPr>
              <a:t>NOW</a:t>
            </a:r>
            <a:endParaRPr lang="en-IN" altLang="en-US" sz="1600" b="1" dirty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558" y="868135"/>
            <a:ext cx="8627937" cy="81768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0ED83A-0139-47C5-8F40-E5EA241D51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3675250"/>
            <a:ext cx="605588" cy="99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3330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3636C-878C-3854-334D-726B6C518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A4FCB-3F30-00DD-4A7B-08642555F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700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B906A-0762-4ECC-9B1C-D765CC5D8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8921" y="295158"/>
            <a:ext cx="11158620" cy="33060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 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076B32C-F543-4C09-9EB8-BA86DFE59FF5}"/>
              </a:ext>
            </a:extLst>
          </p:cNvPr>
          <p:cNvSpPr txBox="1">
            <a:spLocks/>
          </p:cNvSpPr>
          <p:nvPr/>
        </p:nvSpPr>
        <p:spPr bwMode="auto">
          <a:xfrm>
            <a:off x="-1" y="-1"/>
            <a:ext cx="2727745" cy="369576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 anchor="ctr"/>
          <a:lstStyle>
            <a:lvl1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ctr" defTabSz="912813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defTabSz="912813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defTabSz="912813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defTabSz="912813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>
              <a:defRPr/>
            </a:pPr>
            <a:r>
              <a:rPr lang="en-US" altLang="en-US" sz="2000" b="1" dirty="0">
                <a:solidFill>
                  <a:schemeClr val="bg1"/>
                </a:solidFill>
              </a:rPr>
              <a:t>PCA </a:t>
            </a:r>
          </a:p>
          <a:p>
            <a:pPr algn="l">
              <a:defRPr/>
            </a:pPr>
            <a:endParaRPr lang="en-US" altLang="en-US" sz="2000" b="1" dirty="0">
              <a:solidFill>
                <a:schemeClr val="bg1"/>
              </a:solidFill>
            </a:endParaRPr>
          </a:p>
          <a:p>
            <a:pPr algn="l">
              <a:defRPr/>
            </a:pPr>
            <a:r>
              <a:rPr lang="en-US" altLang="en-US" sz="1400" b="1" dirty="0">
                <a:solidFill>
                  <a:schemeClr val="bg1"/>
                </a:solidFill>
              </a:rPr>
              <a:t>How to calculate PCA ?</a:t>
            </a:r>
          </a:p>
          <a:p>
            <a:pPr algn="l">
              <a:defRPr/>
            </a:pPr>
            <a:r>
              <a:rPr lang="en-US" altLang="en-US" sz="1400" b="1" dirty="0">
                <a:solidFill>
                  <a:schemeClr val="bg1"/>
                </a:solidFill>
              </a:rPr>
              <a:t>Solution </a:t>
            </a:r>
            <a:endParaRPr lang="en-IN" altLang="en-US" sz="1600" b="1" dirty="0">
              <a:solidFill>
                <a:schemeClr val="bg1"/>
              </a:solidFill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64BA1F0C-6E9A-4A6B-8042-6ADAA3864D20}"/>
              </a:ext>
            </a:extLst>
          </p:cNvPr>
          <p:cNvSpPr txBox="1">
            <a:spLocks noChangeArrowheads="1"/>
          </p:cNvSpPr>
          <p:nvPr/>
        </p:nvSpPr>
        <p:spPr>
          <a:xfrm>
            <a:off x="3655475" y="1485758"/>
            <a:ext cx="9195049" cy="632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endParaRPr lang="en-US" altLang="en-US" sz="1600" dirty="0"/>
          </a:p>
        </p:txBody>
      </p:sp>
      <p:sp>
        <p:nvSpPr>
          <p:cNvPr id="2" name="Rectangle 1"/>
          <p:cNvSpPr/>
          <p:nvPr/>
        </p:nvSpPr>
        <p:spPr>
          <a:xfrm>
            <a:off x="3394042" y="693077"/>
            <a:ext cx="1078349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20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Now,</a:t>
            </a:r>
          </a:p>
          <a:p>
            <a:pPr fontAlgn="base"/>
            <a:r>
              <a:rPr lang="en-US" sz="20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Covariance matrix</a:t>
            </a:r>
          </a:p>
          <a:p>
            <a:pPr fontAlgn="base"/>
            <a:r>
              <a:rPr lang="en-US" sz="20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 (m1 + m2 + m3 + m4 + m5 + m6) / 6</a:t>
            </a:r>
          </a:p>
          <a:p>
            <a:pPr fontAlgn="base"/>
            <a:r>
              <a:rPr lang="en-US" sz="20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 adding the above matrices and dividing by 6, we get-</a:t>
            </a:r>
          </a:p>
          <a:p>
            <a:pPr fontAlgn="base"/>
            <a:endParaRPr lang="en-US" sz="2000" dirty="0">
              <a:solidFill>
                <a:srgbClr val="30303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000" i="0" dirty="0">
              <a:solidFill>
                <a:srgbClr val="30303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394041" y="5158042"/>
            <a:ext cx="10783497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2000" b="1" i="0" u="sng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Step-04: </a:t>
            </a:r>
          </a:p>
          <a:p>
            <a:pPr fontAlgn="base"/>
            <a:endParaRPr lang="en-US" sz="2000" b="1" i="0" u="sng" dirty="0">
              <a:solidFill>
                <a:srgbClr val="30303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20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</a:t>
            </a:r>
            <a:r>
              <a:rPr lang="en-US" sz="2000" i="0" dirty="0" err="1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eigen</a:t>
            </a:r>
            <a:r>
              <a:rPr lang="en-US" sz="20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values and </a:t>
            </a:r>
            <a:r>
              <a:rPr lang="en-US" sz="2000" i="0" dirty="0" err="1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eigen</a:t>
            </a:r>
            <a:r>
              <a:rPr lang="en-US" sz="20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vectors of the covariance matrix.</a:t>
            </a:r>
          </a:p>
          <a:p>
            <a:pPr fontAlgn="base"/>
            <a:r>
              <a:rPr lang="en-US" sz="20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λ is an </a:t>
            </a:r>
            <a:r>
              <a:rPr lang="en-US" sz="2000" i="0" dirty="0" err="1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eigen</a:t>
            </a:r>
            <a:r>
              <a:rPr lang="en-US" sz="20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value for a matrix M if it is a solution of the characteristic equation |M – </a:t>
            </a:r>
            <a:r>
              <a:rPr lang="en-US" sz="2000" i="0" dirty="0" err="1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λI</a:t>
            </a:r>
            <a:r>
              <a:rPr lang="en-US" sz="20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| = 0.</a:t>
            </a:r>
          </a:p>
          <a:p>
            <a:pPr fontAlgn="base"/>
            <a:endParaRPr lang="en-US" sz="2000" i="0" dirty="0">
              <a:solidFill>
                <a:srgbClr val="30303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20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So, we have-</a:t>
            </a:r>
          </a:p>
          <a:p>
            <a:pPr fontAlgn="base"/>
            <a:r>
              <a:rPr lang="en-US" sz="2000" b="1" i="0" u="sng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i="0" dirty="0">
              <a:solidFill>
                <a:srgbClr val="30303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5410" y="2369098"/>
            <a:ext cx="4755179" cy="273912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7045" y="6560535"/>
            <a:ext cx="4541659" cy="262952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60ED83A-0139-47C5-8F40-E5EA241D51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3675250"/>
            <a:ext cx="605588" cy="99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4343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B906A-0762-4ECC-9B1C-D765CC5D8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8921" y="0"/>
            <a:ext cx="11158620" cy="33060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 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076B32C-F543-4C09-9EB8-BA86DFE59FF5}"/>
              </a:ext>
            </a:extLst>
          </p:cNvPr>
          <p:cNvSpPr txBox="1">
            <a:spLocks/>
          </p:cNvSpPr>
          <p:nvPr/>
        </p:nvSpPr>
        <p:spPr bwMode="auto">
          <a:xfrm>
            <a:off x="-1" y="-1"/>
            <a:ext cx="2727745" cy="369576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 anchor="ctr"/>
          <a:lstStyle>
            <a:lvl1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ctr" defTabSz="912813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defTabSz="912813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defTabSz="912813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defTabSz="912813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>
              <a:defRPr/>
            </a:pPr>
            <a:r>
              <a:rPr lang="en-US" altLang="en-US" sz="2000" b="1" dirty="0">
                <a:solidFill>
                  <a:schemeClr val="bg1"/>
                </a:solidFill>
              </a:rPr>
              <a:t>PCA </a:t>
            </a:r>
          </a:p>
          <a:p>
            <a:pPr algn="l">
              <a:defRPr/>
            </a:pPr>
            <a:endParaRPr lang="en-US" altLang="en-US" sz="2000" b="1" dirty="0">
              <a:solidFill>
                <a:schemeClr val="bg1"/>
              </a:solidFill>
            </a:endParaRPr>
          </a:p>
          <a:p>
            <a:pPr algn="l">
              <a:defRPr/>
            </a:pPr>
            <a:r>
              <a:rPr lang="en-US" altLang="en-US" sz="1400" b="1" dirty="0">
                <a:solidFill>
                  <a:schemeClr val="bg1"/>
                </a:solidFill>
              </a:rPr>
              <a:t>How to calculate PCA ?</a:t>
            </a:r>
          </a:p>
          <a:p>
            <a:pPr algn="l">
              <a:defRPr/>
            </a:pPr>
            <a:r>
              <a:rPr lang="en-US" altLang="en-US" sz="1400" b="1" dirty="0">
                <a:solidFill>
                  <a:schemeClr val="bg1"/>
                </a:solidFill>
              </a:rPr>
              <a:t>Solution </a:t>
            </a:r>
            <a:endParaRPr lang="en-IN" altLang="en-US" sz="1600" b="1" dirty="0">
              <a:solidFill>
                <a:schemeClr val="bg1"/>
              </a:solidFill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64BA1F0C-6E9A-4A6B-8042-6ADAA3864D20}"/>
              </a:ext>
            </a:extLst>
          </p:cNvPr>
          <p:cNvSpPr txBox="1">
            <a:spLocks noChangeArrowheads="1"/>
          </p:cNvSpPr>
          <p:nvPr/>
        </p:nvSpPr>
        <p:spPr>
          <a:xfrm>
            <a:off x="3655475" y="1485758"/>
            <a:ext cx="9195049" cy="632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endParaRPr lang="en-US" altLang="en-US" sz="1600" dirty="0"/>
          </a:p>
        </p:txBody>
      </p:sp>
      <p:sp>
        <p:nvSpPr>
          <p:cNvPr id="2" name="Rectangle 1"/>
          <p:cNvSpPr/>
          <p:nvPr/>
        </p:nvSpPr>
        <p:spPr>
          <a:xfrm>
            <a:off x="3394042" y="421015"/>
            <a:ext cx="10783497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1600" b="1" i="0" u="sng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Step-05:</a:t>
            </a:r>
          </a:p>
          <a:p>
            <a:pPr fontAlgn="base"/>
            <a:r>
              <a:rPr lang="en-US" sz="1600" b="1" i="0" u="sng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fontAlgn="base"/>
            <a:r>
              <a:rPr lang="en-US" sz="16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From here,</a:t>
            </a:r>
          </a:p>
          <a:p>
            <a:pPr fontAlgn="base"/>
            <a:r>
              <a:rPr lang="en-US" sz="16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(2.92 – λ)(5.67 – λ) – (3.67 x 3.67) = 0</a:t>
            </a:r>
          </a:p>
          <a:p>
            <a:pPr fontAlgn="base"/>
            <a:r>
              <a:rPr lang="en-US" sz="16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16.56 – 2.92λ – 5.67λ + λ2 – 13.47 = 0</a:t>
            </a:r>
          </a:p>
          <a:p>
            <a:pPr fontAlgn="base"/>
            <a:r>
              <a:rPr lang="en-US" sz="16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λ2 – 8.59λ + 3.09 = 0</a:t>
            </a:r>
          </a:p>
          <a:p>
            <a:pPr fontAlgn="base"/>
            <a:endParaRPr lang="en-US" sz="1600" i="0" dirty="0">
              <a:solidFill>
                <a:srgbClr val="30303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16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Solving this quadratic equation, we get λ = 8.22, 0.38</a:t>
            </a:r>
          </a:p>
          <a:p>
            <a:pPr fontAlgn="base"/>
            <a:r>
              <a:rPr lang="en-US" sz="16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Thus, two </a:t>
            </a:r>
            <a:r>
              <a:rPr lang="en-US" sz="1600" i="0" dirty="0" err="1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eigen</a:t>
            </a:r>
            <a:r>
              <a:rPr lang="en-US" sz="16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values are λ1 = 8.22 and λ2 = 0.38.</a:t>
            </a:r>
          </a:p>
          <a:p>
            <a:pPr fontAlgn="base"/>
            <a:endParaRPr lang="en-US" sz="1600" i="0" dirty="0">
              <a:solidFill>
                <a:srgbClr val="30303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16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Clearly, the second </a:t>
            </a:r>
            <a:r>
              <a:rPr lang="en-US" sz="1600" i="0" dirty="0" err="1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eigen</a:t>
            </a:r>
            <a:r>
              <a:rPr lang="en-US" sz="16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value is very small compared to the first </a:t>
            </a:r>
            <a:r>
              <a:rPr lang="en-US" sz="1600" i="0" dirty="0" err="1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eigen</a:t>
            </a:r>
            <a:r>
              <a:rPr lang="en-US" sz="16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value.</a:t>
            </a:r>
          </a:p>
          <a:p>
            <a:pPr fontAlgn="base"/>
            <a:r>
              <a:rPr lang="en-US" sz="16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So, the second </a:t>
            </a:r>
            <a:r>
              <a:rPr lang="en-US" sz="1600" i="0" dirty="0" err="1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eigen</a:t>
            </a:r>
            <a:r>
              <a:rPr lang="en-US" sz="16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vector can be left out.</a:t>
            </a:r>
          </a:p>
          <a:p>
            <a:pPr fontAlgn="base"/>
            <a:endParaRPr lang="en-US" sz="1600" i="0" dirty="0">
              <a:solidFill>
                <a:srgbClr val="30303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16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Eigen vector corresponding to the greatest </a:t>
            </a:r>
            <a:r>
              <a:rPr lang="en-US" sz="1600" i="0" dirty="0" err="1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eigen</a:t>
            </a:r>
            <a:r>
              <a:rPr lang="en-US" sz="16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value is the principal component for the given data set.</a:t>
            </a:r>
          </a:p>
          <a:p>
            <a:pPr fontAlgn="base"/>
            <a:r>
              <a:rPr lang="en-US" sz="16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So. we find the </a:t>
            </a:r>
            <a:r>
              <a:rPr lang="en-US" sz="1600" i="0" dirty="0" err="1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eigen</a:t>
            </a:r>
            <a:r>
              <a:rPr lang="en-US" sz="16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vector corresponding to </a:t>
            </a:r>
            <a:r>
              <a:rPr lang="en-US" sz="1600" i="0" dirty="0" err="1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eigen</a:t>
            </a:r>
            <a:r>
              <a:rPr lang="en-US" sz="16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value λ1.</a:t>
            </a:r>
          </a:p>
          <a:p>
            <a:pPr fontAlgn="base"/>
            <a:endParaRPr lang="en-US" sz="1600" i="0" dirty="0">
              <a:solidFill>
                <a:srgbClr val="30303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16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 use the following equation to find the </a:t>
            </a:r>
            <a:r>
              <a:rPr lang="en-US" sz="1600" i="0" dirty="0" err="1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eigen</a:t>
            </a:r>
            <a:r>
              <a:rPr lang="en-US" sz="16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vector-</a:t>
            </a:r>
          </a:p>
          <a:p>
            <a:pPr fontAlgn="base"/>
            <a:endParaRPr lang="en-US" sz="1600" i="0" dirty="0">
              <a:solidFill>
                <a:srgbClr val="30303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16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MX = </a:t>
            </a:r>
            <a:r>
              <a:rPr lang="en-US" sz="1600" i="0" dirty="0" err="1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λX</a:t>
            </a:r>
            <a:endParaRPr lang="en-US" sz="1600" i="0" dirty="0">
              <a:solidFill>
                <a:srgbClr val="30303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1600" dirty="0">
              <a:solidFill>
                <a:srgbClr val="30303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1600" i="0" dirty="0">
              <a:solidFill>
                <a:srgbClr val="30303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940801" y="7074607"/>
            <a:ext cx="790972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US" sz="16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where-</a:t>
            </a:r>
          </a:p>
          <a:p>
            <a:pPr fontAlgn="base"/>
            <a:r>
              <a:rPr lang="en-US" sz="16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 = Covariance Matrix</a:t>
            </a:r>
          </a:p>
          <a:p>
            <a:pPr fontAlgn="base"/>
            <a:r>
              <a:rPr lang="en-US" sz="16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 = Eigen vector</a:t>
            </a:r>
          </a:p>
          <a:p>
            <a:pPr fontAlgn="base"/>
            <a:r>
              <a:rPr lang="el-GR" sz="16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λ = </a:t>
            </a:r>
            <a:r>
              <a:rPr lang="en-US" sz="16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Eigen value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60ED83A-0139-47C5-8F40-E5EA241D5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3675250"/>
            <a:ext cx="605588" cy="99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9198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B906A-0762-4ECC-9B1C-D765CC5D8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8921" y="295158"/>
            <a:ext cx="11158620" cy="33060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 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076B32C-F543-4C09-9EB8-BA86DFE59FF5}"/>
              </a:ext>
            </a:extLst>
          </p:cNvPr>
          <p:cNvSpPr txBox="1">
            <a:spLocks/>
          </p:cNvSpPr>
          <p:nvPr/>
        </p:nvSpPr>
        <p:spPr bwMode="auto">
          <a:xfrm>
            <a:off x="-1" y="-1"/>
            <a:ext cx="2727745" cy="369576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 anchor="ctr"/>
          <a:lstStyle>
            <a:lvl1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ctr" defTabSz="912813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defTabSz="912813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defTabSz="912813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defTabSz="912813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>
              <a:defRPr/>
            </a:pPr>
            <a:r>
              <a:rPr lang="en-US" altLang="en-US" sz="2000" b="1" dirty="0">
                <a:solidFill>
                  <a:schemeClr val="bg1"/>
                </a:solidFill>
              </a:rPr>
              <a:t>PCA </a:t>
            </a:r>
          </a:p>
          <a:p>
            <a:pPr algn="l">
              <a:defRPr/>
            </a:pPr>
            <a:endParaRPr lang="en-US" altLang="en-US" sz="2000" b="1" dirty="0">
              <a:solidFill>
                <a:schemeClr val="bg1"/>
              </a:solidFill>
            </a:endParaRPr>
          </a:p>
          <a:p>
            <a:pPr algn="l">
              <a:defRPr/>
            </a:pPr>
            <a:r>
              <a:rPr lang="en-US" altLang="en-US" sz="1400" b="1" dirty="0">
                <a:solidFill>
                  <a:schemeClr val="bg1"/>
                </a:solidFill>
              </a:rPr>
              <a:t>How to calculate PCA ?</a:t>
            </a:r>
          </a:p>
          <a:p>
            <a:pPr algn="l">
              <a:defRPr/>
            </a:pPr>
            <a:r>
              <a:rPr lang="en-US" altLang="en-US" sz="1400" b="1" dirty="0">
                <a:solidFill>
                  <a:schemeClr val="bg1"/>
                </a:solidFill>
              </a:rPr>
              <a:t>Solution </a:t>
            </a:r>
            <a:endParaRPr lang="en-IN" altLang="en-US" sz="1600" b="1" dirty="0">
              <a:solidFill>
                <a:schemeClr val="bg1"/>
              </a:solidFill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64BA1F0C-6E9A-4A6B-8042-6ADAA3864D20}"/>
              </a:ext>
            </a:extLst>
          </p:cNvPr>
          <p:cNvSpPr txBox="1">
            <a:spLocks noChangeArrowheads="1"/>
          </p:cNvSpPr>
          <p:nvPr/>
        </p:nvSpPr>
        <p:spPr>
          <a:xfrm>
            <a:off x="3655475" y="1485758"/>
            <a:ext cx="9195049" cy="632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endParaRPr lang="en-US" altLang="en-US" sz="1600" dirty="0"/>
          </a:p>
        </p:txBody>
      </p:sp>
      <p:sp>
        <p:nvSpPr>
          <p:cNvPr id="2" name="Rectangle 1"/>
          <p:cNvSpPr/>
          <p:nvPr/>
        </p:nvSpPr>
        <p:spPr>
          <a:xfrm>
            <a:off x="3394042" y="693077"/>
            <a:ext cx="1078349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16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Substituting the values in the above equation, we get</a:t>
            </a:r>
          </a:p>
          <a:p>
            <a:pPr fontAlgn="base"/>
            <a:endParaRPr lang="en-US" sz="1600" i="0" dirty="0">
              <a:solidFill>
                <a:srgbClr val="30303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1600" dirty="0">
              <a:solidFill>
                <a:srgbClr val="30303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1600" i="0" dirty="0">
              <a:solidFill>
                <a:srgbClr val="30303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394043" y="2768799"/>
            <a:ext cx="8795135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16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Solving these, we get-</a:t>
            </a:r>
          </a:p>
          <a:p>
            <a:pPr fontAlgn="base"/>
            <a:endParaRPr lang="en-US" sz="1600" i="0" dirty="0">
              <a:solidFill>
                <a:srgbClr val="30303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16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2.92X1 + 3.67X2 = 8.22X1</a:t>
            </a:r>
          </a:p>
          <a:p>
            <a:pPr fontAlgn="base"/>
            <a:endParaRPr lang="en-US" sz="1600" i="0" dirty="0">
              <a:solidFill>
                <a:srgbClr val="30303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16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3.67X1 + 5.67X2 = 8.22X2</a:t>
            </a:r>
          </a:p>
          <a:p>
            <a:pPr fontAlgn="base"/>
            <a:endParaRPr lang="en-US" sz="1600" i="0" dirty="0">
              <a:solidFill>
                <a:srgbClr val="30303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1600" i="0" dirty="0">
              <a:solidFill>
                <a:srgbClr val="30303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16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 simplification, we get-</a:t>
            </a:r>
          </a:p>
          <a:p>
            <a:pPr fontAlgn="base"/>
            <a:endParaRPr lang="en-US" sz="1600" i="0" dirty="0">
              <a:solidFill>
                <a:srgbClr val="30303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16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5.3X1 = 3.67X2 ………(1)</a:t>
            </a:r>
          </a:p>
          <a:p>
            <a:pPr fontAlgn="base"/>
            <a:endParaRPr lang="en-US" sz="1600" i="0" dirty="0">
              <a:solidFill>
                <a:srgbClr val="30303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16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3.67X1 = 2.55X2 ………(2)</a:t>
            </a:r>
          </a:p>
          <a:p>
            <a:pPr fontAlgn="base"/>
            <a:endParaRPr lang="en-US" sz="1600" i="0" dirty="0">
              <a:solidFill>
                <a:srgbClr val="30303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16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fontAlgn="base"/>
            <a:endParaRPr lang="en-US" sz="1600" i="0" dirty="0">
              <a:solidFill>
                <a:srgbClr val="30303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16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From (1) and (2), X1 = 0.69X2</a:t>
            </a:r>
          </a:p>
          <a:p>
            <a:pPr fontAlgn="base"/>
            <a:endParaRPr lang="en-US" sz="1600" i="0" dirty="0">
              <a:solidFill>
                <a:srgbClr val="30303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16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From (2), the </a:t>
            </a:r>
            <a:r>
              <a:rPr lang="en-US" sz="1600" i="0" dirty="0" err="1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eigen</a:t>
            </a:r>
            <a:r>
              <a:rPr lang="en-US" sz="16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vector is-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6725" y="1222646"/>
            <a:ext cx="5211041" cy="145109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724" y="6772709"/>
            <a:ext cx="6747980" cy="21891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60ED83A-0139-47C5-8F40-E5EA241D51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3675250"/>
            <a:ext cx="605588" cy="99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857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B906A-0762-4ECC-9B1C-D765CC5D8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8921" y="295158"/>
            <a:ext cx="11158620" cy="33060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 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076B32C-F543-4C09-9EB8-BA86DFE59FF5}"/>
              </a:ext>
            </a:extLst>
          </p:cNvPr>
          <p:cNvSpPr txBox="1">
            <a:spLocks/>
          </p:cNvSpPr>
          <p:nvPr/>
        </p:nvSpPr>
        <p:spPr bwMode="auto">
          <a:xfrm>
            <a:off x="-1" y="-1"/>
            <a:ext cx="2727745" cy="369576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 anchor="ctr"/>
          <a:lstStyle>
            <a:lvl1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ctr" defTabSz="912813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defTabSz="912813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defTabSz="912813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defTabSz="912813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>
              <a:defRPr/>
            </a:pPr>
            <a:r>
              <a:rPr lang="en-US" altLang="en-US" sz="2000" b="1" dirty="0">
                <a:solidFill>
                  <a:schemeClr val="bg1"/>
                </a:solidFill>
              </a:rPr>
              <a:t>PCA </a:t>
            </a:r>
          </a:p>
          <a:p>
            <a:pPr algn="l">
              <a:defRPr/>
            </a:pPr>
            <a:endParaRPr lang="en-US" altLang="en-US" sz="2000" b="1" dirty="0">
              <a:solidFill>
                <a:schemeClr val="bg1"/>
              </a:solidFill>
            </a:endParaRPr>
          </a:p>
          <a:p>
            <a:pPr algn="l">
              <a:defRPr/>
            </a:pPr>
            <a:r>
              <a:rPr lang="en-US" altLang="en-US" sz="1400" b="1" dirty="0">
                <a:solidFill>
                  <a:schemeClr val="bg1"/>
                </a:solidFill>
              </a:rPr>
              <a:t>How to calculate PCA ?</a:t>
            </a:r>
          </a:p>
          <a:p>
            <a:pPr algn="l">
              <a:defRPr/>
            </a:pPr>
            <a:r>
              <a:rPr lang="en-US" altLang="en-US" sz="1400" b="1" dirty="0">
                <a:solidFill>
                  <a:schemeClr val="bg1"/>
                </a:solidFill>
              </a:rPr>
              <a:t>Solution </a:t>
            </a:r>
            <a:endParaRPr lang="en-IN" altLang="en-US" sz="1600" b="1" dirty="0">
              <a:solidFill>
                <a:schemeClr val="bg1"/>
              </a:solidFill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64BA1F0C-6E9A-4A6B-8042-6ADAA3864D20}"/>
              </a:ext>
            </a:extLst>
          </p:cNvPr>
          <p:cNvSpPr txBox="1">
            <a:spLocks noChangeArrowheads="1"/>
          </p:cNvSpPr>
          <p:nvPr/>
        </p:nvSpPr>
        <p:spPr>
          <a:xfrm>
            <a:off x="3655475" y="1485758"/>
            <a:ext cx="9195049" cy="632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endParaRPr lang="en-US" altLang="en-US" sz="1600" dirty="0"/>
          </a:p>
        </p:txBody>
      </p:sp>
      <p:sp>
        <p:nvSpPr>
          <p:cNvPr id="14" name="Rectangle 13"/>
          <p:cNvSpPr/>
          <p:nvPr/>
        </p:nvSpPr>
        <p:spPr>
          <a:xfrm>
            <a:off x="3114217" y="753276"/>
            <a:ext cx="879513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1600" b="1" i="0" u="sng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00" i="0" dirty="0">
              <a:solidFill>
                <a:srgbClr val="30303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16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Thus, principal component for the given data set is-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1055" y="2298790"/>
            <a:ext cx="6661465" cy="18134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60ED83A-0139-47C5-8F40-E5EA241D51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3675250"/>
            <a:ext cx="605588" cy="99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4932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B906A-0762-4ECC-9B1C-D765CC5D8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8921" y="295158"/>
            <a:ext cx="11158620" cy="33060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No. 2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076B32C-F543-4C09-9EB8-BA86DFE59FF5}"/>
              </a:ext>
            </a:extLst>
          </p:cNvPr>
          <p:cNvSpPr txBox="1">
            <a:spLocks/>
          </p:cNvSpPr>
          <p:nvPr/>
        </p:nvSpPr>
        <p:spPr bwMode="auto">
          <a:xfrm>
            <a:off x="-1" y="-1"/>
            <a:ext cx="2727745" cy="369576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 anchor="ctr"/>
          <a:lstStyle>
            <a:lvl1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defTabSz="9128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ctr" defTabSz="912813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defTabSz="912813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defTabSz="912813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defTabSz="912813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>
              <a:defRPr/>
            </a:pPr>
            <a:r>
              <a:rPr lang="en-US" altLang="en-US" sz="2000" b="1" dirty="0">
                <a:solidFill>
                  <a:schemeClr val="bg1"/>
                </a:solidFill>
              </a:rPr>
              <a:t>PCA </a:t>
            </a:r>
          </a:p>
          <a:p>
            <a:pPr algn="l">
              <a:defRPr/>
            </a:pPr>
            <a:endParaRPr lang="en-US" altLang="en-US" sz="2000" b="1" dirty="0">
              <a:solidFill>
                <a:schemeClr val="bg1"/>
              </a:solidFill>
            </a:endParaRPr>
          </a:p>
          <a:p>
            <a:pPr algn="l">
              <a:defRPr/>
            </a:pPr>
            <a:r>
              <a:rPr lang="en-US" altLang="en-US" sz="1400" b="1" dirty="0">
                <a:solidFill>
                  <a:schemeClr val="bg1"/>
                </a:solidFill>
              </a:rPr>
              <a:t>How to calculate PCA ?</a:t>
            </a:r>
          </a:p>
          <a:p>
            <a:pPr algn="l">
              <a:defRPr/>
            </a:pPr>
            <a:r>
              <a:rPr lang="en-US" altLang="en-US" sz="1400" b="1" dirty="0">
                <a:solidFill>
                  <a:schemeClr val="bg1"/>
                </a:solidFill>
              </a:rPr>
              <a:t>PROBLEM 2</a:t>
            </a:r>
            <a:endParaRPr lang="en-IN" altLang="en-US" sz="1600" b="1" dirty="0">
              <a:solidFill>
                <a:schemeClr val="bg1"/>
              </a:solidFill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64BA1F0C-6E9A-4A6B-8042-6ADAA3864D20}"/>
              </a:ext>
            </a:extLst>
          </p:cNvPr>
          <p:cNvSpPr txBox="1">
            <a:spLocks noChangeArrowheads="1"/>
          </p:cNvSpPr>
          <p:nvPr/>
        </p:nvSpPr>
        <p:spPr>
          <a:xfrm>
            <a:off x="3655475" y="1485758"/>
            <a:ext cx="9195049" cy="632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endParaRPr lang="en-US" altLang="en-US" sz="1600" dirty="0"/>
          </a:p>
        </p:txBody>
      </p:sp>
      <p:sp>
        <p:nvSpPr>
          <p:cNvPr id="2" name="Rectangle 1"/>
          <p:cNvSpPr/>
          <p:nvPr/>
        </p:nvSpPr>
        <p:spPr>
          <a:xfrm>
            <a:off x="3394042" y="693081"/>
            <a:ext cx="1078349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16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PCA Algorithm to transform the pattern (2, 1) onto the </a:t>
            </a:r>
            <a:r>
              <a:rPr lang="en-US" sz="1600" i="0" dirty="0" err="1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eigen</a:t>
            </a:r>
            <a:r>
              <a:rPr lang="en-US" sz="16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vector in the previous question.</a:t>
            </a:r>
          </a:p>
          <a:p>
            <a:pPr fontAlgn="base"/>
            <a:r>
              <a:rPr lang="en-US" sz="1600" dirty="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vectors (xi) after subtracting mean vector (µ) are-</a:t>
            </a:r>
          </a:p>
          <a:p>
            <a:pPr fontAlgn="base"/>
            <a:endParaRPr lang="en-US" sz="1600" i="0" dirty="0">
              <a:solidFill>
                <a:srgbClr val="30303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 </a:t>
            </a:r>
          </a:p>
          <a:p>
            <a:pPr fontAlgn="base"/>
            <a:endParaRPr lang="en-US" sz="1600" i="0" dirty="0">
              <a:solidFill>
                <a:srgbClr val="30303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405726" y="4449923"/>
            <a:ext cx="879513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16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feature vector gets transformed to</a:t>
            </a:r>
          </a:p>
          <a:p>
            <a:pPr fontAlgn="base"/>
            <a:endParaRPr lang="en-US" sz="1600" i="0" dirty="0">
              <a:solidFill>
                <a:srgbClr val="30303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16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 Transpose of Eigen vector x (Feature Vector – Mean Vector)</a:t>
            </a:r>
          </a:p>
          <a:p>
            <a:pPr fontAlgn="base"/>
            <a:endParaRPr lang="en-US" sz="1600" i="0" dirty="0">
              <a:solidFill>
                <a:srgbClr val="30303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160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Rectangle 3"/>
          <p:cNvSpPr/>
          <p:nvPr/>
        </p:nvSpPr>
        <p:spPr>
          <a:xfrm>
            <a:off x="3394044" y="2383114"/>
            <a:ext cx="293862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0" i="0" dirty="0">
                <a:solidFill>
                  <a:srgbClr val="30303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given feature vector is (2, 1).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8500" y="2843532"/>
            <a:ext cx="4424501" cy="158033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8667" y="5682698"/>
            <a:ext cx="4984328" cy="316782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53DE6FF-A045-456A-958B-98122CBC1F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95761"/>
            <a:ext cx="649467" cy="99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344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</TotalTime>
  <Words>1172</Words>
  <Application>Microsoft Office PowerPoint</Application>
  <PresentationFormat>Custom</PresentationFormat>
  <Paragraphs>214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Arimo</vt:lpstr>
      <vt:lpstr>Calibri</vt:lpstr>
      <vt:lpstr>Times New Roman</vt:lpstr>
      <vt:lpstr>Office Theme</vt:lpstr>
      <vt:lpstr>Principal Component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Principal Component Analysis</dc:title>
  <dc:creator>Amrita</dc:creator>
  <cp:lastModifiedBy>Amrita Helwade</cp:lastModifiedBy>
  <cp:revision>6</cp:revision>
  <dcterms:created xsi:type="dcterms:W3CDTF">2021-07-27T03:20:10Z</dcterms:created>
  <dcterms:modified xsi:type="dcterms:W3CDTF">2024-12-18T16:22:45Z</dcterms:modified>
</cp:coreProperties>
</file>