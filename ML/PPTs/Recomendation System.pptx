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commentAuthors.xml" ContentType="application/vnd.openxmlformats-officedocument.presentationml.commentAuthor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emf" ContentType="image/x-emf"/>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580" r:id="rId1"/>
  </p:sldMasterIdLst>
  <p:notesMasterIdLst>
    <p:notesMasterId r:id="rId39"/>
  </p:notesMasterIdLst>
  <p:handoutMasterIdLst>
    <p:handoutMasterId r:id="rId40"/>
  </p:handoutMasterIdLst>
  <p:sldIdLst>
    <p:sldId id="383" r:id="rId2"/>
    <p:sldId id="318" r:id="rId3"/>
    <p:sldId id="504" r:id="rId4"/>
    <p:sldId id="505" r:id="rId5"/>
    <p:sldId id="506" r:id="rId6"/>
    <p:sldId id="507" r:id="rId7"/>
    <p:sldId id="508" r:id="rId8"/>
    <p:sldId id="509" r:id="rId9"/>
    <p:sldId id="510" r:id="rId10"/>
    <p:sldId id="511" r:id="rId11"/>
    <p:sldId id="512" r:id="rId12"/>
    <p:sldId id="517" r:id="rId13"/>
    <p:sldId id="518" r:id="rId14"/>
    <p:sldId id="519" r:id="rId15"/>
    <p:sldId id="520" r:id="rId16"/>
    <p:sldId id="521" r:id="rId17"/>
    <p:sldId id="522" r:id="rId18"/>
    <p:sldId id="523" r:id="rId19"/>
    <p:sldId id="513" r:id="rId20"/>
    <p:sldId id="514" r:id="rId21"/>
    <p:sldId id="516" r:id="rId22"/>
    <p:sldId id="448" r:id="rId23"/>
    <p:sldId id="453" r:id="rId24"/>
    <p:sldId id="454" r:id="rId25"/>
    <p:sldId id="455" r:id="rId26"/>
    <p:sldId id="456" r:id="rId27"/>
    <p:sldId id="457" r:id="rId28"/>
    <p:sldId id="458" r:id="rId29"/>
    <p:sldId id="524" r:id="rId30"/>
    <p:sldId id="452" r:id="rId31"/>
    <p:sldId id="483" r:id="rId32"/>
    <p:sldId id="498" r:id="rId33"/>
    <p:sldId id="502" r:id="rId34"/>
    <p:sldId id="503" r:id="rId35"/>
    <p:sldId id="499" r:id="rId36"/>
    <p:sldId id="500" r:id="rId37"/>
    <p:sldId id="501" r:id="rId38"/>
  </p:sldIdLst>
  <p:sldSz cx="10801350" cy="5143500"/>
  <p:notesSz cx="6858000" cy="9945688"/>
  <p:embeddedFontLst>
    <p:embeddedFont>
      <p:font typeface="Gill Sans MT" pitchFamily="34" charset="0"/>
      <p:regular r:id="rId41"/>
      <p:bold r:id="rId42"/>
      <p:italic r:id="rId43"/>
      <p:boldItalic r:id="rId44"/>
    </p:embeddedFont>
    <p:embeddedFont>
      <p:font typeface="Calibri" pitchFamily="34" charset="0"/>
      <p:regular r:id="rId45"/>
      <p:bold r:id="rId46"/>
      <p:italic r:id="rId47"/>
      <p:boldItalic r:id="rId4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est" initials="Gu" lastIdx="6" clrIdx="0"/>
  <p:cmAuthor id="2" name="Bhupen" initials="B" lastIdx="2" clrIdx="1">
    <p:extLst>
      <p:ext uri="{19B8F6BF-5375-455C-9EA6-DF929625EA0E}">
        <p15:presenceInfo xmlns:p15="http://schemas.microsoft.com/office/powerpoint/2012/main" xmlns="" userId="Bhupe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1E5458E1-0376-4910-A6E8-49B6F46B1678}">
  <a:tblStyle styleId="{1E5458E1-0376-4910-A6E8-49B6F46B1678}" styleName="Table_0"/>
  <a:tblStyle styleId="{2D7838A6-8AF6-4D93-9898-C73CC40452AA}" styleName="Table_1">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208" autoAdjust="0"/>
    <p:restoredTop sz="95628" autoAdjust="0"/>
  </p:normalViewPr>
  <p:slideViewPr>
    <p:cSldViewPr snapToGrid="0">
      <p:cViewPr varScale="1">
        <p:scale>
          <a:sx n="97" d="100"/>
          <a:sy n="97" d="100"/>
        </p:scale>
        <p:origin x="-108" y="-96"/>
      </p:cViewPr>
      <p:guideLst>
        <p:guide orient="horz" pos="1620"/>
        <p:guide pos="3402"/>
      </p:guideLst>
    </p:cSldViewPr>
  </p:slideViewPr>
  <p:notesTextViewPr>
    <p:cViewPr>
      <p:scale>
        <a:sx n="3" d="2"/>
        <a:sy n="3" d="2"/>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font" Target="fonts/font5.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font" Target="fonts/font8.fntdata"/><Relationship Id="rId8" Type="http://schemas.openxmlformats.org/officeDocument/2006/relationships/slide" Target="slides/slide7.xml"/><Relationship Id="rId5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522BDDF6-302D-41B3-BAFD-AC28624CAA02}"/>
              </a:ext>
            </a:extLst>
          </p:cNvPr>
          <p:cNvSpPr>
            <a:spLocks noGrp="1"/>
          </p:cNvSpPr>
          <p:nvPr>
            <p:ph type="hdr" sz="quarter"/>
          </p:nvPr>
        </p:nvSpPr>
        <p:spPr>
          <a:xfrm>
            <a:off x="0" y="0"/>
            <a:ext cx="2971800" cy="4984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xmlns="" id="{BAD0240B-8CF4-4C08-8D15-2800399E6E8B}"/>
              </a:ext>
            </a:extLst>
          </p:cNvPr>
          <p:cNvSpPr>
            <a:spLocks noGrp="1"/>
          </p:cNvSpPr>
          <p:nvPr>
            <p:ph type="dt" sz="quarter" idx="1"/>
          </p:nvPr>
        </p:nvSpPr>
        <p:spPr>
          <a:xfrm>
            <a:off x="3884613" y="0"/>
            <a:ext cx="2971800" cy="498475"/>
          </a:xfrm>
          <a:prstGeom prst="rect">
            <a:avLst/>
          </a:prstGeom>
        </p:spPr>
        <p:txBody>
          <a:bodyPr vert="horz" lIns="91440" tIns="45720" rIns="91440" bIns="45720" rtlCol="0"/>
          <a:lstStyle>
            <a:lvl1pPr algn="r">
              <a:defRPr sz="1200"/>
            </a:lvl1pPr>
          </a:lstStyle>
          <a:p>
            <a:fld id="{A620B5A5-0365-41F6-AD78-4D08F86D41EF}" type="datetimeFigureOut">
              <a:rPr lang="en-US" smtClean="0"/>
              <a:pPr/>
              <a:t>9/12/2022</a:t>
            </a:fld>
            <a:endParaRPr lang="en-US"/>
          </a:p>
        </p:txBody>
      </p:sp>
      <p:sp>
        <p:nvSpPr>
          <p:cNvPr id="4" name="Footer Placeholder 3">
            <a:extLst>
              <a:ext uri="{FF2B5EF4-FFF2-40B4-BE49-F238E27FC236}">
                <a16:creationId xmlns:a16="http://schemas.microsoft.com/office/drawing/2014/main" xmlns="" id="{EC7000B5-3DB9-408E-A0D3-22C1B18C6E61}"/>
              </a:ext>
            </a:extLst>
          </p:cNvPr>
          <p:cNvSpPr>
            <a:spLocks noGrp="1"/>
          </p:cNvSpPr>
          <p:nvPr>
            <p:ph type="ftr" sz="quarter" idx="2"/>
          </p:nvPr>
        </p:nvSpPr>
        <p:spPr>
          <a:xfrm>
            <a:off x="0" y="9447213"/>
            <a:ext cx="2971800"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14525C2D-8D10-4B9D-B60B-15C0B9AE3A80}"/>
              </a:ext>
            </a:extLst>
          </p:cNvPr>
          <p:cNvSpPr>
            <a:spLocks noGrp="1"/>
          </p:cNvSpPr>
          <p:nvPr>
            <p:ph type="sldNum" sz="quarter" idx="3"/>
          </p:nvPr>
        </p:nvSpPr>
        <p:spPr>
          <a:xfrm>
            <a:off x="3884613" y="9447213"/>
            <a:ext cx="2971800" cy="498475"/>
          </a:xfrm>
          <a:prstGeom prst="rect">
            <a:avLst/>
          </a:prstGeom>
        </p:spPr>
        <p:txBody>
          <a:bodyPr vert="horz" lIns="91440" tIns="45720" rIns="91440" bIns="45720" rtlCol="0" anchor="b"/>
          <a:lstStyle>
            <a:lvl1pPr algn="r">
              <a:defRPr sz="1200"/>
            </a:lvl1pPr>
          </a:lstStyle>
          <a:p>
            <a:fld id="{3D309C1F-EB5C-4D33-A0F9-5C1454B74C82}" type="slidenum">
              <a:rPr lang="en-US" smtClean="0"/>
              <a:pPr/>
              <a:t>‹#›</a:t>
            </a:fld>
            <a:endParaRPr lang="en-US"/>
          </a:p>
        </p:txBody>
      </p:sp>
    </p:spTree>
    <p:extLst>
      <p:ext uri="{BB962C8B-B14F-4D97-AF65-F5344CB8AC3E}">
        <p14:creationId xmlns:p14="http://schemas.microsoft.com/office/powerpoint/2010/main" xmlns="" val="363772539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485775" y="746125"/>
            <a:ext cx="7829550" cy="3729038"/>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724202"/>
            <a:ext cx="5486400" cy="447556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5775" y="746125"/>
            <a:ext cx="7829550" cy="3729038"/>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a:xfrm>
            <a:off x="3884613" y="9446678"/>
            <a:ext cx="2971800" cy="497284"/>
          </a:xfrm>
          <a:prstGeom prst="rect">
            <a:avLst/>
          </a:prstGeom>
        </p:spPr>
        <p:txBody>
          <a:bodyPr/>
          <a:lstStyle/>
          <a:p>
            <a:fld id="{C174F797-D0C9-4CC8-A782-47AF8FE2512F}" type="slidenum">
              <a:rPr lang="en-US" smtClean="0">
                <a:solidFill>
                  <a:prstClr val="black"/>
                </a:solidFill>
              </a:rPr>
              <a:pPr/>
              <a:t>3</a:t>
            </a:fld>
            <a:endParaRPr lang="en-US" dirty="0">
              <a:solidFill>
                <a:prstClr val="black"/>
              </a:solidFill>
            </a:endParaRPr>
          </a:p>
        </p:txBody>
      </p:sp>
    </p:spTree>
    <p:extLst>
      <p:ext uri="{BB962C8B-B14F-4D97-AF65-F5344CB8AC3E}">
        <p14:creationId xmlns="" xmlns:p14="http://schemas.microsoft.com/office/powerpoint/2010/main" val="23120007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417677" y="1790058"/>
            <a:ext cx="7965996" cy="1234440"/>
          </a:xfrm>
          <a:solidFill>
            <a:srgbClr val="FFFFFF"/>
          </a:solidFill>
          <a:ln w="38100">
            <a:solidFill>
              <a:srgbClr val="404040"/>
            </a:solidFill>
          </a:ln>
        </p:spPr>
        <p:txBody>
          <a:bodyPr lIns="274320" rIns="274320" anchor="ctr" anchorCtr="1">
            <a:normAutofit/>
          </a:bodyPr>
          <a:lstStyle>
            <a:lvl1pPr algn="ctr">
              <a:defRPr sz="2850">
                <a:solidFill>
                  <a:srgbClr val="00B050"/>
                </a:solidFill>
              </a:defRPr>
            </a:lvl1pPr>
          </a:lstStyle>
          <a:p>
            <a:r>
              <a:rPr lang="en-US" dirty="0"/>
              <a:t>Click to edit Master title style</a:t>
            </a:r>
          </a:p>
        </p:txBody>
      </p:sp>
      <p:sp>
        <p:nvSpPr>
          <p:cNvPr id="3" name="Subtitle 2"/>
          <p:cNvSpPr>
            <a:spLocks noGrp="1"/>
          </p:cNvSpPr>
          <p:nvPr>
            <p:ph type="subTitle" idx="1"/>
          </p:nvPr>
        </p:nvSpPr>
        <p:spPr>
          <a:xfrm>
            <a:off x="2387775" y="3264409"/>
            <a:ext cx="6025803" cy="929921"/>
          </a:xfrm>
          <a:noFill/>
        </p:spPr>
        <p:txBody>
          <a:bodyPr>
            <a:normAutofit/>
          </a:bodyPr>
          <a:lstStyle>
            <a:lvl1pPr marL="0" indent="0" algn="ctr">
              <a:buNone/>
              <a:defRPr sz="1500">
                <a:solidFill>
                  <a:srgbClr val="002060"/>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7" name="Date Placeholder 6"/>
          <p:cNvSpPr>
            <a:spLocks noGrp="1"/>
          </p:cNvSpPr>
          <p:nvPr>
            <p:ph type="dt" sz="half" idx="10"/>
          </p:nvPr>
        </p:nvSpPr>
        <p:spPr/>
        <p:txBody>
          <a:bodyPr/>
          <a:lstStyle>
            <a:lvl1pPr>
              <a:defRPr>
                <a:solidFill>
                  <a:srgbClr val="002060">
                    <a:alpha val="70000"/>
                  </a:srgbClr>
                </a:solidFill>
              </a:defRPr>
            </a:lvl1pPr>
          </a:lstStyle>
          <a:p>
            <a:fld id="{51F2954F-EE9A-48FA-8927-4E69DA2B8F54}" type="datetime1">
              <a:rPr lang="en-US" smtClean="0"/>
              <a:pPr/>
              <a:t>9/12/2022</a:t>
            </a:fld>
            <a:endParaRPr lang="en-US" dirty="0"/>
          </a:p>
        </p:txBody>
      </p:sp>
    </p:spTree>
    <p:extLst>
      <p:ext uri="{BB962C8B-B14F-4D97-AF65-F5344CB8AC3E}">
        <p14:creationId xmlns:p14="http://schemas.microsoft.com/office/powerpoint/2010/main" xmlns="" val="415234873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5400675" cy="51435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712889" y="1682872"/>
            <a:ext cx="3974897" cy="856123"/>
          </a:xfrm>
          <a:solidFill>
            <a:srgbClr val="FFFFFF"/>
          </a:solidFill>
          <a:ln>
            <a:solidFill>
              <a:srgbClr val="404040"/>
            </a:solidFill>
          </a:ln>
        </p:spPr>
        <p:txBody>
          <a:bodyPr anchor="ctr" anchorCtr="1">
            <a:normAutofit/>
          </a:bodyPr>
          <a:lstStyle>
            <a:lvl1pPr>
              <a:defRPr sz="1650">
                <a:solidFill>
                  <a:srgbClr val="00B050"/>
                </a:solidFill>
              </a:defRPr>
            </a:lvl1pPr>
          </a:lstStyle>
          <a:p>
            <a:r>
              <a:rPr lang="en-US" dirty="0"/>
              <a:t>Click to edit Master title style</a:t>
            </a:r>
          </a:p>
        </p:txBody>
      </p:sp>
      <p:sp>
        <p:nvSpPr>
          <p:cNvPr id="3" name="Content Placeholder 2"/>
          <p:cNvSpPr>
            <a:spLocks noGrp="1"/>
          </p:cNvSpPr>
          <p:nvPr>
            <p:ph idx="1"/>
          </p:nvPr>
        </p:nvSpPr>
        <p:spPr>
          <a:xfrm>
            <a:off x="5511143" y="748144"/>
            <a:ext cx="5204287" cy="4010892"/>
          </a:xfrm>
        </p:spPr>
        <p:txBody>
          <a:bodyPr>
            <a:normAutofit/>
          </a:bodyPr>
          <a:lstStyle>
            <a:lvl1pPr>
              <a:defRPr sz="1425">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88324" y="2662440"/>
            <a:ext cx="3361920" cy="1645527"/>
          </a:xfrm>
        </p:spPr>
        <p:txBody>
          <a:bodyPr anchor="t" anchorCtr="1">
            <a:normAutofit/>
          </a:bodyPr>
          <a:lstStyle>
            <a:lvl1pPr marL="0" indent="0" algn="ctr">
              <a:buNone/>
              <a:defRPr sz="1125">
                <a:solidFill>
                  <a:srgbClr val="FFFF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Edit Master text styles</a:t>
            </a:r>
          </a:p>
        </p:txBody>
      </p:sp>
      <p:sp>
        <p:nvSpPr>
          <p:cNvPr id="9" name="Date Placeholder 8"/>
          <p:cNvSpPr>
            <a:spLocks noGrp="1"/>
          </p:cNvSpPr>
          <p:nvPr>
            <p:ph type="dt" sz="half" idx="10"/>
          </p:nvPr>
        </p:nvSpPr>
        <p:spPr/>
        <p:txBody>
          <a:bodyPr/>
          <a:lstStyle/>
          <a:p>
            <a:fld id="{2BD644C9-7BC7-4D6F-B8D9-1CF000CA5F8E}" type="datetime1">
              <a:rPr lang="en-US" smtClean="0"/>
              <a:pPr/>
              <a:t>9/12/2022</a:t>
            </a:fld>
            <a:endParaRPr lang="en-US"/>
          </a:p>
        </p:txBody>
      </p:sp>
      <p:sp>
        <p:nvSpPr>
          <p:cNvPr id="10" name="Footer Placeholder 9"/>
          <p:cNvSpPr>
            <a:spLocks noGrp="1"/>
          </p:cNvSpPr>
          <p:nvPr>
            <p:ph type="ftr" sz="quarter" idx="11"/>
          </p:nvPr>
        </p:nvSpPr>
        <p:spPr>
          <a:xfrm>
            <a:off x="712889" y="4677156"/>
            <a:ext cx="4540250" cy="240030"/>
          </a:xfrm>
          <a:prstGeom prst="rect">
            <a:avLst/>
          </a:prstGeom>
        </p:spPr>
        <p:txBody>
          <a:bodyPr/>
          <a:lstStyle>
            <a:lvl1pPr>
              <a:defRPr>
                <a:solidFill>
                  <a:srgbClr val="FFFFFF">
                    <a:alpha val="70000"/>
                  </a:srgbClr>
                </a:solidFill>
              </a:defRPr>
            </a:lvl1pPr>
          </a:lstStyle>
          <a:p>
            <a:endParaRPr lang="en-US"/>
          </a:p>
        </p:txBody>
      </p:sp>
    </p:spTree>
    <p:extLst>
      <p:ext uri="{BB962C8B-B14F-4D97-AF65-F5344CB8AC3E}">
        <p14:creationId xmlns:p14="http://schemas.microsoft.com/office/powerpoint/2010/main" xmlns="" val="3619039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417677" y="1790058"/>
            <a:ext cx="7965996" cy="1234440"/>
          </a:xfrm>
          <a:solidFill>
            <a:srgbClr val="FFFFFF"/>
          </a:solidFill>
          <a:ln w="38100">
            <a:solidFill>
              <a:srgbClr val="404040"/>
            </a:solidFill>
          </a:ln>
        </p:spPr>
        <p:txBody>
          <a:bodyPr lIns="274320" rIns="274320" anchor="ctr" anchorCtr="1">
            <a:normAutofit/>
          </a:bodyPr>
          <a:lstStyle>
            <a:lvl1pPr>
              <a:defRPr sz="2850">
                <a:solidFill>
                  <a:srgbClr val="00B050"/>
                </a:solidFill>
              </a:defRPr>
            </a:lvl1pPr>
          </a:lstStyle>
          <a:p>
            <a:r>
              <a:rPr lang="en-US" dirty="0"/>
              <a:t>Click to edit Master title style</a:t>
            </a:r>
          </a:p>
        </p:txBody>
      </p:sp>
      <p:sp>
        <p:nvSpPr>
          <p:cNvPr id="3" name="Text Placeholder 2"/>
          <p:cNvSpPr>
            <a:spLocks noGrp="1"/>
          </p:cNvSpPr>
          <p:nvPr>
            <p:ph type="body" idx="1"/>
          </p:nvPr>
        </p:nvSpPr>
        <p:spPr>
          <a:xfrm>
            <a:off x="2387775" y="3264349"/>
            <a:ext cx="6025803" cy="948812"/>
          </a:xfrm>
        </p:spPr>
        <p:txBody>
          <a:bodyPr anchor="t" anchorCtr="1">
            <a:normAutofit/>
          </a:bodyPr>
          <a:lstStyle>
            <a:lvl1pPr marL="0" indent="0">
              <a:buNone/>
              <a:defRPr sz="15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403DAB19-1AC9-42C4-92E0-1D4CE97CC0B3}" type="datetime1">
              <a:rPr lang="en-US" smtClean="0"/>
              <a:pPr/>
              <a:t>9/12/2022</a:t>
            </a:fld>
            <a:endParaRPr lang="en-US"/>
          </a:p>
        </p:txBody>
      </p:sp>
    </p:spTree>
    <p:extLst>
      <p:ext uri="{BB962C8B-B14F-4D97-AF65-F5344CB8AC3E}">
        <p14:creationId xmlns:p14="http://schemas.microsoft.com/office/powerpoint/2010/main" xmlns="" val="232718774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0" y="891540"/>
            <a:ext cx="10801350" cy="397140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6C72BE-1EB1-4D3D-82B3-E7DC2624987E}" type="datetime1">
              <a:rPr lang="en-US" smtClean="0"/>
              <a:pPr/>
              <a:t>9/12/2022</a:t>
            </a:fld>
            <a:endParaRPr lang="en-US"/>
          </a:p>
        </p:txBody>
      </p:sp>
      <p:sp>
        <p:nvSpPr>
          <p:cNvPr id="9" name="Slide Number Placeholder 6">
            <a:extLst>
              <a:ext uri="{FF2B5EF4-FFF2-40B4-BE49-F238E27FC236}">
                <a16:creationId xmlns:a16="http://schemas.microsoft.com/office/drawing/2014/main" xmlns="" id="{D9D80E00-DEAC-45D7-B0EC-A4178BB9A641}"/>
              </a:ext>
            </a:extLst>
          </p:cNvPr>
          <p:cNvSpPr>
            <a:spLocks noGrp="1"/>
          </p:cNvSpPr>
          <p:nvPr>
            <p:ph type="sldNum" sz="quarter" idx="4"/>
          </p:nvPr>
        </p:nvSpPr>
        <p:spPr>
          <a:xfrm>
            <a:off x="8371046" y="4864136"/>
            <a:ext cx="2430304" cy="274637"/>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Slide no. </a:t>
            </a:r>
            <a:fld id="{7240F3D1-AE27-48C7-9FC9-EF8542F23A88}" type="slidenum">
              <a:rPr lang="en-US" smtClean="0"/>
              <a:pPr/>
              <a:t>‹#›</a:t>
            </a:fld>
            <a:endParaRPr lang="en-US" dirty="0"/>
          </a:p>
        </p:txBody>
      </p:sp>
    </p:spTree>
    <p:extLst>
      <p:ext uri="{BB962C8B-B14F-4D97-AF65-F5344CB8AC3E}">
        <p14:creationId xmlns:p14="http://schemas.microsoft.com/office/powerpoint/2010/main" xmlns="" val="1722045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0" y="895800"/>
            <a:ext cx="5185999" cy="386323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400675" y="895800"/>
            <a:ext cx="5400675" cy="386323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1EC4751-02B4-4942-A113-166F753AA363}" type="datetime1">
              <a:rPr lang="en-US" smtClean="0"/>
              <a:pPr/>
              <a:t>9/12/2022</a:t>
            </a:fld>
            <a:endParaRPr lang="en-US"/>
          </a:p>
        </p:txBody>
      </p:sp>
      <p:sp>
        <p:nvSpPr>
          <p:cNvPr id="7" name="Slide Number Placeholder 6">
            <a:extLst>
              <a:ext uri="{FF2B5EF4-FFF2-40B4-BE49-F238E27FC236}">
                <a16:creationId xmlns:a16="http://schemas.microsoft.com/office/drawing/2014/main" xmlns="" id="{A54D4DE1-88E5-4010-9E96-C865E3F1BA78}"/>
              </a:ext>
            </a:extLst>
          </p:cNvPr>
          <p:cNvSpPr>
            <a:spLocks noGrp="1"/>
          </p:cNvSpPr>
          <p:nvPr>
            <p:ph type="sldNum" sz="quarter" idx="4"/>
          </p:nvPr>
        </p:nvSpPr>
        <p:spPr>
          <a:xfrm>
            <a:off x="8371046" y="4864136"/>
            <a:ext cx="2430304" cy="274637"/>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Slide no. </a:t>
            </a:r>
            <a:fld id="{7240F3D1-AE27-48C7-9FC9-EF8542F23A88}" type="slidenum">
              <a:rPr lang="en-US" smtClean="0"/>
              <a:pPr/>
              <a:t>‹#›</a:t>
            </a:fld>
            <a:endParaRPr lang="en-US" dirty="0"/>
          </a:p>
        </p:txBody>
      </p:sp>
    </p:spTree>
    <p:extLst>
      <p:ext uri="{BB962C8B-B14F-4D97-AF65-F5344CB8AC3E}">
        <p14:creationId xmlns:p14="http://schemas.microsoft.com/office/powerpoint/2010/main" xmlns="" val="3629543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 y="948937"/>
            <a:ext cx="5228084" cy="528065"/>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Edit Master text styles</a:t>
            </a:r>
          </a:p>
        </p:txBody>
      </p:sp>
      <p:sp>
        <p:nvSpPr>
          <p:cNvPr id="4" name="Content Placeholder 3"/>
          <p:cNvSpPr>
            <a:spLocks noGrp="1"/>
          </p:cNvSpPr>
          <p:nvPr>
            <p:ph sz="half" idx="2"/>
          </p:nvPr>
        </p:nvSpPr>
        <p:spPr>
          <a:xfrm>
            <a:off x="-1" y="1534397"/>
            <a:ext cx="5228085" cy="3110339"/>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4"/>
          </p:nvPr>
        </p:nvSpPr>
        <p:spPr>
          <a:xfrm>
            <a:off x="5540481" y="1534397"/>
            <a:ext cx="5228084" cy="3110339"/>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5540480" y="948937"/>
            <a:ext cx="5242936" cy="528065"/>
          </a:xfrm>
        </p:spPr>
        <p:txBody>
          <a:bodyPr anchor="b" anchorCtr="1">
            <a:normAutofit/>
          </a:bodyPr>
          <a:lstStyle>
            <a:lvl1pPr marL="0" indent="0" algn="ctr">
              <a:buNone/>
              <a:defRPr sz="1425" b="0" cap="all" spc="75" baseline="0">
                <a:solidFill>
                  <a:schemeClr val="accent2">
                    <a:lumMod val="75000"/>
                  </a:schemeClr>
                </a:solidFill>
              </a:defRPr>
            </a:lvl1pPr>
            <a:lvl2pPr marL="342900" indent="0">
              <a:buNone/>
              <a:defRPr sz="1425"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Edit Master text styles</a:t>
            </a:r>
          </a:p>
        </p:txBody>
      </p:sp>
      <p:sp>
        <p:nvSpPr>
          <p:cNvPr id="7" name="Date Placeholder 6"/>
          <p:cNvSpPr>
            <a:spLocks noGrp="1"/>
          </p:cNvSpPr>
          <p:nvPr>
            <p:ph type="dt" sz="half" idx="10"/>
          </p:nvPr>
        </p:nvSpPr>
        <p:spPr/>
        <p:txBody>
          <a:bodyPr/>
          <a:lstStyle/>
          <a:p>
            <a:fld id="{8DFD86F5-1073-4EBF-BAB9-80DF352807D1}" type="datetime1">
              <a:rPr lang="en-US" smtClean="0"/>
              <a:pPr/>
              <a:t>9/12/2022</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
        <p:nvSpPr>
          <p:cNvPr id="9" name="Slide Number Placeholder 6">
            <a:extLst>
              <a:ext uri="{FF2B5EF4-FFF2-40B4-BE49-F238E27FC236}">
                <a16:creationId xmlns:a16="http://schemas.microsoft.com/office/drawing/2014/main" xmlns="" id="{79453041-3D19-452C-A72D-7B398299A640}"/>
              </a:ext>
            </a:extLst>
          </p:cNvPr>
          <p:cNvSpPr>
            <a:spLocks noGrp="1"/>
          </p:cNvSpPr>
          <p:nvPr>
            <p:ph type="sldNum" sz="quarter" idx="14"/>
          </p:nvPr>
        </p:nvSpPr>
        <p:spPr>
          <a:xfrm>
            <a:off x="8371046" y="4864136"/>
            <a:ext cx="2430304" cy="274637"/>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Slide no. </a:t>
            </a:r>
            <a:fld id="{7240F3D1-AE27-48C7-9FC9-EF8542F23A88}" type="slidenum">
              <a:rPr lang="en-US" smtClean="0"/>
              <a:pPr/>
              <a:t>‹#›</a:t>
            </a:fld>
            <a:endParaRPr lang="en-US" dirty="0"/>
          </a:p>
        </p:txBody>
      </p:sp>
    </p:spTree>
    <p:extLst>
      <p:ext uri="{BB962C8B-B14F-4D97-AF65-F5344CB8AC3E}">
        <p14:creationId xmlns:p14="http://schemas.microsoft.com/office/powerpoint/2010/main" xmlns="" val="2745959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04B242-A112-40FA-B30F-F44D6727C9BE}" type="datetime1">
              <a:rPr lang="en-US" smtClean="0"/>
              <a:pPr/>
              <a:t>9/12/2022</a:t>
            </a:fld>
            <a:endParaRPr lang="en-US"/>
          </a:p>
        </p:txBody>
      </p:sp>
      <p:sp>
        <p:nvSpPr>
          <p:cNvPr id="5" name="Slide Number Placeholder 6">
            <a:extLst>
              <a:ext uri="{FF2B5EF4-FFF2-40B4-BE49-F238E27FC236}">
                <a16:creationId xmlns:a16="http://schemas.microsoft.com/office/drawing/2014/main" xmlns="" id="{BCB409B5-A817-4350-8707-32EE46DD2EAF}"/>
              </a:ext>
            </a:extLst>
          </p:cNvPr>
          <p:cNvSpPr>
            <a:spLocks noGrp="1"/>
          </p:cNvSpPr>
          <p:nvPr>
            <p:ph type="sldNum" sz="quarter" idx="4"/>
          </p:nvPr>
        </p:nvSpPr>
        <p:spPr>
          <a:xfrm>
            <a:off x="8371046" y="4864136"/>
            <a:ext cx="2430304" cy="274637"/>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Slide no. </a:t>
            </a:r>
            <a:fld id="{7240F3D1-AE27-48C7-9FC9-EF8542F23A88}" type="slidenum">
              <a:rPr lang="en-US" smtClean="0"/>
              <a:pPr/>
              <a:t>‹#›</a:t>
            </a:fld>
            <a:endParaRPr lang="en-US" dirty="0"/>
          </a:p>
        </p:txBody>
      </p:sp>
    </p:spTree>
    <p:extLst>
      <p:ext uri="{BB962C8B-B14F-4D97-AF65-F5344CB8AC3E}">
        <p14:creationId xmlns:p14="http://schemas.microsoft.com/office/powerpoint/2010/main" xmlns="" val="1788172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0" y="0"/>
            <a:ext cx="10801350" cy="89154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0" y="891539"/>
            <a:ext cx="10801350" cy="3962426"/>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0" y="4853965"/>
            <a:ext cx="876941" cy="242976"/>
          </a:xfrm>
          <a:prstGeom prst="rect">
            <a:avLst/>
          </a:prstGeom>
        </p:spPr>
        <p:txBody>
          <a:bodyPr vert="horz" lIns="91440" tIns="45720" rIns="91440" bIns="45720" rtlCol="0" anchor="ctr"/>
          <a:lstStyle>
            <a:lvl1pPr algn="r">
              <a:defRPr sz="788">
                <a:solidFill>
                  <a:schemeClr val="tx1">
                    <a:alpha val="70000"/>
                  </a:schemeClr>
                </a:solidFill>
              </a:defRPr>
            </a:lvl1pPr>
          </a:lstStyle>
          <a:p>
            <a:fld id="{B7D6B663-8DAB-4EA1-B019-BBACB021B42A}" type="datetime1">
              <a:rPr lang="en-US" smtClean="0"/>
              <a:pPr/>
              <a:t>9/12/2022</a:t>
            </a:fld>
            <a:endParaRPr lang="en-US"/>
          </a:p>
        </p:txBody>
      </p:sp>
      <p:cxnSp>
        <p:nvCxnSpPr>
          <p:cNvPr id="8" name="Straight Connector 7">
            <a:extLst>
              <a:ext uri="{FF2B5EF4-FFF2-40B4-BE49-F238E27FC236}">
                <a16:creationId xmlns:a16="http://schemas.microsoft.com/office/drawing/2014/main" xmlns="" id="{1C9E9E6B-91A3-4557-B33F-D9C439492E74}"/>
              </a:ext>
            </a:extLst>
          </p:cNvPr>
          <p:cNvCxnSpPr/>
          <p:nvPr userDrawn="1"/>
        </p:nvCxnSpPr>
        <p:spPr>
          <a:xfrm>
            <a:off x="0" y="4824470"/>
            <a:ext cx="10801350" cy="22253"/>
          </a:xfrm>
          <a:prstGeom prst="line">
            <a:avLst/>
          </a:prstGeom>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xmlns="" id="{F56E57FB-B570-4735-AF29-B0AFEEDA216B}"/>
              </a:ext>
            </a:extLst>
          </p:cNvPr>
          <p:cNvSpPr>
            <a:spLocks noGrp="1"/>
          </p:cNvSpPr>
          <p:nvPr>
            <p:ph type="sldNum" sz="quarter" idx="4"/>
          </p:nvPr>
        </p:nvSpPr>
        <p:spPr>
          <a:xfrm>
            <a:off x="8371046" y="4864136"/>
            <a:ext cx="2430304" cy="274637"/>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Slide no. </a:t>
            </a:r>
            <a:fld id="{7240F3D1-AE27-48C7-9FC9-EF8542F23A88}" type="slidenum">
              <a:rPr lang="en-US" smtClean="0"/>
              <a:pPr/>
              <a:t>‹#›</a:t>
            </a:fld>
            <a:endParaRPr lang="en-US" dirty="0"/>
          </a:p>
        </p:txBody>
      </p:sp>
    </p:spTree>
    <p:extLst>
      <p:ext uri="{BB962C8B-B14F-4D97-AF65-F5344CB8AC3E}">
        <p14:creationId xmlns:p14="http://schemas.microsoft.com/office/powerpoint/2010/main" xmlns="" val="4108759851"/>
      </p:ext>
    </p:extLst>
  </p:cSld>
  <p:clrMap bg1="lt1" tx1="dk1" bg2="lt2" tx2="dk2" accent1="accent1" accent2="accent2" accent3="accent3" accent4="accent4" accent5="accent5" accent6="accent6" hlink="hlink" folHlink="folHlink"/>
  <p:sldLayoutIdLst>
    <p:sldLayoutId id="2147484581" r:id="rId1"/>
    <p:sldLayoutId id="2147484588" r:id="rId2"/>
    <p:sldLayoutId id="2147484583" r:id="rId3"/>
    <p:sldLayoutId id="2147484582" r:id="rId4"/>
    <p:sldLayoutId id="2147484584" r:id="rId5"/>
    <p:sldLayoutId id="2147484585" r:id="rId6"/>
    <p:sldLayoutId id="2147484586" r:id="rId7"/>
  </p:sldLayoutIdLst>
  <p:hf hdr="0" ftr="0"/>
  <p:txStyles>
    <p:titleStyle>
      <a:lvl1pPr algn="l" defTabSz="685800" rtl="0" eaLnBrk="1" latinLnBrk="0" hangingPunct="1">
        <a:lnSpc>
          <a:spcPct val="90000"/>
        </a:lnSpc>
        <a:spcBef>
          <a:spcPct val="0"/>
        </a:spcBef>
        <a:buNone/>
        <a:defRPr sz="2100" kern="1200" cap="all" spc="150" baseline="0">
          <a:solidFill>
            <a:srgbClr val="00B050"/>
          </a:solidFill>
          <a:latin typeface="+mj-lt"/>
          <a:ea typeface="+mj-ea"/>
          <a:cs typeface="+mj-cs"/>
        </a:defRPr>
      </a:lvl1pPr>
    </p:titleStyle>
    <p:bodyStyle>
      <a:lvl1pPr marL="171450" indent="-171450" algn="l" defTabSz="685800" rtl="0" eaLnBrk="1" latinLnBrk="0" hangingPunct="1">
        <a:lnSpc>
          <a:spcPct val="100000"/>
        </a:lnSpc>
        <a:spcBef>
          <a:spcPts val="750"/>
        </a:spcBef>
        <a:buClr>
          <a:schemeClr val="accent2"/>
        </a:buClr>
        <a:buFont typeface="Arial" panose="020B0604020202020204" pitchFamily="34" charset="0"/>
        <a:buChar char="•"/>
        <a:defRPr sz="1350" kern="1200">
          <a:solidFill>
            <a:schemeClr val="tx1">
              <a:lumMod val="85000"/>
              <a:lumOff val="15000"/>
            </a:schemeClr>
          </a:solidFill>
          <a:latin typeface="+mn-lt"/>
          <a:ea typeface="+mn-ea"/>
          <a:cs typeface="+mn-cs"/>
        </a:defRPr>
      </a:lvl1pPr>
      <a:lvl2pPr marL="3429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2pPr>
      <a:lvl3pPr marL="5143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3pPr>
      <a:lvl4pPr marL="68580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4pPr>
      <a:lvl5pPr marL="857250"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lumMod val="85000"/>
              <a:lumOff val="15000"/>
            </a:schemeClr>
          </a:solidFill>
          <a:latin typeface="+mn-lt"/>
          <a:ea typeface="+mn-ea"/>
          <a:cs typeface="+mn-cs"/>
        </a:defRPr>
      </a:lvl5pPr>
      <a:lvl6pPr marL="984647"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6pPr>
      <a:lvl7pPr marL="1113235"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a:solidFill>
            <a:schemeClr val="tx1"/>
          </a:solidFill>
          <a:latin typeface="+mn-lt"/>
          <a:ea typeface="+mn-ea"/>
          <a:cs typeface="+mn-cs"/>
        </a:defRPr>
      </a:lvl7pPr>
      <a:lvl8pPr marL="1243013"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8pPr>
      <a:lvl9pPr marL="1412081" indent="-171450" algn="l" defTabSz="685800" rtl="0" eaLnBrk="1" latinLnBrk="0" hangingPunct="1">
        <a:lnSpc>
          <a:spcPct val="100000"/>
        </a:lnSpc>
        <a:spcBef>
          <a:spcPts val="750"/>
        </a:spcBef>
        <a:buClr>
          <a:schemeClr val="accent2"/>
        </a:buClr>
        <a:buFont typeface="Arial" panose="020B0604020202020204" pitchFamily="34" charset="0"/>
        <a:buChar char="•"/>
        <a:defRPr sz="12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869A59-8B0D-46C2-A137-F2DC2A0449B3}"/>
              </a:ext>
            </a:extLst>
          </p:cNvPr>
          <p:cNvSpPr>
            <a:spLocks noGrp="1"/>
          </p:cNvSpPr>
          <p:nvPr>
            <p:ph type="title"/>
          </p:nvPr>
        </p:nvSpPr>
        <p:spPr/>
        <p:txBody>
          <a:bodyPr/>
          <a:lstStyle/>
          <a:p>
            <a:r>
              <a:rPr lang="en-US" dirty="0" smtClean="0"/>
              <a:t>Recommendation System</a:t>
            </a:r>
            <a:endParaRPr lang="en-US" dirty="0"/>
          </a:p>
        </p:txBody>
      </p:sp>
      <p:sp>
        <p:nvSpPr>
          <p:cNvPr id="3" name="Content Placeholder 2">
            <a:extLst>
              <a:ext uri="{FF2B5EF4-FFF2-40B4-BE49-F238E27FC236}">
                <a16:creationId xmlns:a16="http://schemas.microsoft.com/office/drawing/2014/main" xmlns="" id="{44001884-DE3B-4108-8470-2CDBB42A3C5E}"/>
              </a:ext>
            </a:extLst>
          </p:cNvPr>
          <p:cNvSpPr>
            <a:spLocks noGrp="1"/>
          </p:cNvSpPr>
          <p:nvPr>
            <p:ph idx="1"/>
          </p:nvPr>
        </p:nvSpPr>
        <p:spPr/>
        <p:txBody>
          <a:bodyPr/>
          <a:lstStyle/>
          <a:p>
            <a:r>
              <a:rPr lang="en-US" dirty="0" smtClean="0"/>
              <a:t>What is recommendation System?</a:t>
            </a:r>
          </a:p>
          <a:p>
            <a:r>
              <a:rPr lang="en-US" dirty="0" smtClean="0"/>
              <a:t>Types of recommendation System</a:t>
            </a:r>
          </a:p>
          <a:p>
            <a:pPr lvl="1"/>
            <a:r>
              <a:rPr lang="en-US" dirty="0" smtClean="0"/>
              <a:t>Collaborative filtering</a:t>
            </a:r>
          </a:p>
          <a:p>
            <a:pPr lvl="1"/>
            <a:r>
              <a:rPr lang="en-US" dirty="0" smtClean="0"/>
              <a:t>Content based filtering</a:t>
            </a:r>
            <a:endParaRPr lang="en-US" dirty="0"/>
          </a:p>
          <a:p>
            <a:pPr lvl="1">
              <a:buNone/>
            </a:pPr>
            <a:r>
              <a:rPr lang="en-US" dirty="0" smtClean="0"/>
              <a:t>Examples</a:t>
            </a:r>
          </a:p>
        </p:txBody>
      </p:sp>
      <p:sp>
        <p:nvSpPr>
          <p:cNvPr id="4" name="Text Placeholder 3">
            <a:extLst>
              <a:ext uri="{FF2B5EF4-FFF2-40B4-BE49-F238E27FC236}">
                <a16:creationId xmlns:a16="http://schemas.microsoft.com/office/drawing/2014/main" xmlns="" id="{174DA211-4F59-4FBF-9EAD-0E7FF84A29A6}"/>
              </a:ext>
            </a:extLst>
          </p:cNvPr>
          <p:cNvSpPr>
            <a:spLocks noGrp="1"/>
          </p:cNvSpPr>
          <p:nvPr>
            <p:ph type="body" sz="half" idx="2"/>
          </p:nvPr>
        </p:nvSpPr>
        <p:spPr/>
        <p:txBody>
          <a:bodyPr/>
          <a:lstStyle/>
          <a:p>
            <a:endParaRPr lang="en-US"/>
          </a:p>
        </p:txBody>
      </p:sp>
      <p:sp>
        <p:nvSpPr>
          <p:cNvPr id="5" name="Date Placeholder 4">
            <a:extLst>
              <a:ext uri="{FF2B5EF4-FFF2-40B4-BE49-F238E27FC236}">
                <a16:creationId xmlns:a16="http://schemas.microsoft.com/office/drawing/2014/main" xmlns="" id="{A3B11A12-221E-4580-8333-D5F5645EDB2D}"/>
              </a:ext>
            </a:extLst>
          </p:cNvPr>
          <p:cNvSpPr>
            <a:spLocks noGrp="1"/>
          </p:cNvSpPr>
          <p:nvPr>
            <p:ph type="dt" sz="half" idx="10"/>
          </p:nvPr>
        </p:nvSpPr>
        <p:spPr/>
        <p:txBody>
          <a:bodyPr/>
          <a:lstStyle/>
          <a:p>
            <a:fld id="{2BD644C9-7BC7-4D6F-B8D9-1CF000CA5F8E}" type="datetime1">
              <a:rPr lang="en-US" smtClean="0"/>
              <a:pPr/>
              <a:t>9/12/2022</a:t>
            </a:fld>
            <a:endParaRPr lang="en-US"/>
          </a:p>
        </p:txBody>
      </p:sp>
    </p:spTree>
    <p:extLst>
      <p:ext uri="{BB962C8B-B14F-4D97-AF65-F5344CB8AC3E}">
        <p14:creationId xmlns:p14="http://schemas.microsoft.com/office/powerpoint/2010/main" xmlns="" val="2856686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6360EB-14A9-454A-9DA9-61A80391F9BF}"/>
              </a:ext>
            </a:extLst>
          </p:cNvPr>
          <p:cNvSpPr>
            <a:spLocks noGrp="1"/>
          </p:cNvSpPr>
          <p:nvPr>
            <p:ph type="title"/>
          </p:nvPr>
        </p:nvSpPr>
        <p:spPr/>
        <p:txBody>
          <a:bodyPr/>
          <a:lstStyle/>
          <a:p>
            <a:r>
              <a:rPr lang="en-US" dirty="0" smtClean="0"/>
              <a:t>Market basket analysis</a:t>
            </a:r>
            <a:endParaRPr lang="en-US" dirty="0"/>
          </a:p>
        </p:txBody>
      </p:sp>
      <p:sp>
        <p:nvSpPr>
          <p:cNvPr id="5" name="Rectangle 4">
            <a:extLst>
              <a:ext uri="{FF2B5EF4-FFF2-40B4-BE49-F238E27FC236}">
                <a16:creationId xmlns:a16="http://schemas.microsoft.com/office/drawing/2014/main" xmlns="" id="{DC020568-A34D-4BA7-91D9-C56A9BAF5E12}"/>
              </a:ext>
            </a:extLst>
          </p:cNvPr>
          <p:cNvSpPr/>
          <p:nvPr/>
        </p:nvSpPr>
        <p:spPr>
          <a:xfrm>
            <a:off x="0" y="958745"/>
            <a:ext cx="10683712" cy="584775"/>
          </a:xfrm>
          <a:prstGeom prst="rect">
            <a:avLst/>
          </a:prstGeom>
        </p:spPr>
        <p:txBody>
          <a:bodyPr wrap="square">
            <a:spAutoFit/>
          </a:bodyPr>
          <a:lstStyle/>
          <a:p>
            <a:r>
              <a:rPr lang="en-US" sz="1600" dirty="0" smtClean="0"/>
              <a:t>Market Basket analysis is a technique applied by retailers to understand customer’s shopping </a:t>
            </a:r>
            <a:r>
              <a:rPr lang="en-US" sz="1600" dirty="0" err="1" smtClean="0"/>
              <a:t>behaviour</a:t>
            </a:r>
            <a:r>
              <a:rPr lang="en-US" sz="1600" dirty="0" smtClean="0"/>
              <a:t> from their stores. The result of the effective analysis may improve supplier’s profitability, quality of service and customer satisfaction</a:t>
            </a:r>
            <a:endParaRPr lang="en-US" sz="1600" dirty="0"/>
          </a:p>
        </p:txBody>
      </p:sp>
      <p:sp>
        <p:nvSpPr>
          <p:cNvPr id="7" name="Date Placeholder 6">
            <a:extLst>
              <a:ext uri="{FF2B5EF4-FFF2-40B4-BE49-F238E27FC236}">
                <a16:creationId xmlns:a16="http://schemas.microsoft.com/office/drawing/2014/main" xmlns="" id="{BE2A21F9-6606-4967-984B-FA460257E20D}"/>
              </a:ext>
            </a:extLst>
          </p:cNvPr>
          <p:cNvSpPr>
            <a:spLocks noGrp="1"/>
          </p:cNvSpPr>
          <p:nvPr>
            <p:ph type="dt" sz="half" idx="10"/>
          </p:nvPr>
        </p:nvSpPr>
        <p:spPr/>
        <p:txBody>
          <a:bodyPr/>
          <a:lstStyle/>
          <a:p>
            <a:fld id="{6DBEF19A-2A3E-42AB-BA50-C101F041D128}" type="datetime1">
              <a:rPr lang="en-US" smtClean="0"/>
              <a:pPr/>
              <a:t>9/12/2022</a:t>
            </a:fld>
            <a:endParaRPr lang="en-US"/>
          </a:p>
        </p:txBody>
      </p:sp>
      <p:sp>
        <p:nvSpPr>
          <p:cNvPr id="8" name="Slide Number Placeholder 7">
            <a:extLst>
              <a:ext uri="{FF2B5EF4-FFF2-40B4-BE49-F238E27FC236}">
                <a16:creationId xmlns:a16="http://schemas.microsoft.com/office/drawing/2014/main" xmlns="" id="{9B1664A2-BCB2-4B21-A702-454E1E69E3E1}"/>
              </a:ext>
            </a:extLst>
          </p:cNvPr>
          <p:cNvSpPr>
            <a:spLocks noGrp="1"/>
          </p:cNvSpPr>
          <p:nvPr>
            <p:ph type="sldNum" sz="quarter" idx="4"/>
          </p:nvPr>
        </p:nvSpPr>
        <p:spPr/>
        <p:txBody>
          <a:bodyPr/>
          <a:lstStyle/>
          <a:p>
            <a:r>
              <a:rPr lang="en-US"/>
              <a:t>Slide no. </a:t>
            </a:r>
            <a:fld id="{7240F3D1-AE27-48C7-9FC9-EF8542F23A88}" type="slidenum">
              <a:rPr lang="en-US" smtClean="0"/>
              <a:pPr/>
              <a:t>2</a:t>
            </a:fld>
            <a:endParaRPr lang="en-US" dirty="0"/>
          </a:p>
        </p:txBody>
      </p:sp>
    </p:spTree>
    <p:extLst>
      <p:ext uri="{BB962C8B-B14F-4D97-AF65-F5344CB8AC3E}">
        <p14:creationId xmlns:p14="http://schemas.microsoft.com/office/powerpoint/2010/main" xmlns="" val="3722222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normAutofit fontScale="32500" lnSpcReduction="20000"/>
          </a:bodyPr>
          <a:lstStyle/>
          <a:p>
            <a:r>
              <a:rPr lang="en-US" sz="9600" b="1" dirty="0">
                <a:solidFill>
                  <a:schemeClr val="bg2">
                    <a:lumMod val="25000"/>
                  </a:schemeClr>
                </a:solidFill>
                <a:effectLst>
                  <a:outerShdw blurRad="38100" dist="38100" dir="2700000" algn="tl">
                    <a:srgbClr val="000000">
                      <a:alpha val="43137"/>
                    </a:srgbClr>
                  </a:outerShdw>
                </a:effectLst>
              </a:rPr>
              <a:t>MARKET BASKET ANALYSIS</a:t>
            </a:r>
          </a:p>
          <a:p>
            <a:endParaRPr lang="en-US" dirty="0">
              <a:solidFill>
                <a:schemeClr val="tx1"/>
              </a:solidFill>
            </a:endParaRPr>
          </a:p>
        </p:txBody>
      </p:sp>
      <p:pic>
        <p:nvPicPr>
          <p:cNvPr id="2" name="Picture 1"/>
          <p:cNvPicPr>
            <a:picLocks noChangeAspect="1"/>
          </p:cNvPicPr>
          <p:nvPr/>
        </p:nvPicPr>
        <p:blipFill>
          <a:blip r:embed="rId3"/>
          <a:stretch>
            <a:fillRect/>
          </a:stretch>
        </p:blipFill>
        <p:spPr>
          <a:xfrm>
            <a:off x="202525" y="116274"/>
            <a:ext cx="4379989" cy="3077579"/>
          </a:xfrm>
          <a:prstGeom prst="rect">
            <a:avLst/>
          </a:prstGeom>
        </p:spPr>
      </p:pic>
      <p:pic>
        <p:nvPicPr>
          <p:cNvPr id="3" name="Picture 2"/>
          <p:cNvPicPr>
            <a:picLocks noChangeAspect="1"/>
          </p:cNvPicPr>
          <p:nvPr/>
        </p:nvPicPr>
        <p:blipFill>
          <a:blip r:embed="rId4"/>
          <a:stretch>
            <a:fillRect/>
          </a:stretch>
        </p:blipFill>
        <p:spPr>
          <a:xfrm>
            <a:off x="5042881" y="320318"/>
            <a:ext cx="4049600" cy="2831720"/>
          </a:xfrm>
          <a:prstGeom prst="rect">
            <a:avLst/>
          </a:prstGeom>
        </p:spPr>
      </p:pic>
      <p:sp>
        <p:nvSpPr>
          <p:cNvPr id="5" name="Footer Placeholder 4"/>
          <p:cNvSpPr>
            <a:spLocks noGrp="1"/>
          </p:cNvSpPr>
          <p:nvPr>
            <p:ph type="ftr" sz="quarter" idx="4294967295"/>
          </p:nvPr>
        </p:nvSpPr>
        <p:spPr>
          <a:xfrm>
            <a:off x="3265729" y="4844841"/>
            <a:ext cx="4272703" cy="273844"/>
          </a:xfrm>
          <a:prstGeom prst="rect">
            <a:avLst/>
          </a:prstGeom>
        </p:spPr>
        <p:txBody>
          <a:bodyPr lIns="68580" tIns="34290" rIns="68580" bIns="34290"/>
          <a:lstStyle/>
          <a:p>
            <a:endParaRPr lang="en-US" dirty="0">
              <a:solidFill>
                <a:srgbClr val="242852">
                  <a:lumMod val="50000"/>
                </a:srgbClr>
              </a:solidFill>
            </a:endParaRPr>
          </a:p>
        </p:txBody>
      </p:sp>
    </p:spTree>
    <p:extLst>
      <p:ext uri="{BB962C8B-B14F-4D97-AF65-F5344CB8AC3E}">
        <p14:creationId xmlns="" xmlns:p14="http://schemas.microsoft.com/office/powerpoint/2010/main" val="1578308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Market Basket Analysis</a:t>
            </a:r>
          </a:p>
        </p:txBody>
      </p:sp>
      <p:pic>
        <p:nvPicPr>
          <p:cNvPr id="4" name="Content Placeholder 3"/>
          <p:cNvPicPr>
            <a:picLocks noGrp="1" noChangeAspect="1"/>
          </p:cNvPicPr>
          <p:nvPr>
            <p:ph idx="1"/>
          </p:nvPr>
        </p:nvPicPr>
        <p:blipFill>
          <a:blip r:embed="rId2"/>
          <a:stretch>
            <a:fillRect/>
          </a:stretch>
        </p:blipFill>
        <p:spPr>
          <a:xfrm>
            <a:off x="5084579" y="1034670"/>
            <a:ext cx="5720374" cy="3631984"/>
          </a:xfrm>
          <a:prstGeom prst="rect">
            <a:avLst/>
          </a:prstGeom>
        </p:spPr>
      </p:pic>
      <p:sp>
        <p:nvSpPr>
          <p:cNvPr id="3" name="Footer Placeholder 2"/>
          <p:cNvSpPr>
            <a:spLocks noGrp="1"/>
          </p:cNvSpPr>
          <p:nvPr>
            <p:ph type="ftr" sz="quarter" idx="4294967295"/>
          </p:nvPr>
        </p:nvSpPr>
        <p:spPr>
          <a:xfrm>
            <a:off x="2421365" y="4844649"/>
            <a:ext cx="7072894" cy="273844"/>
          </a:xfrm>
          <a:prstGeom prst="rect">
            <a:avLst/>
          </a:prstGeom>
        </p:spPr>
        <p:txBody>
          <a:bodyPr lIns="68580" tIns="34290" rIns="68580" bIns="34290"/>
          <a:lstStyle/>
          <a:p>
            <a:endParaRPr lang="en-US" dirty="0">
              <a:solidFill>
                <a:srgbClr val="242852">
                  <a:lumMod val="50000"/>
                </a:srgbClr>
              </a:solidFill>
            </a:endParaRPr>
          </a:p>
        </p:txBody>
      </p:sp>
      <p:sp>
        <p:nvSpPr>
          <p:cNvPr id="5" name="TextBox 4"/>
          <p:cNvSpPr txBox="1"/>
          <p:nvPr/>
        </p:nvSpPr>
        <p:spPr>
          <a:xfrm>
            <a:off x="236800" y="936984"/>
            <a:ext cx="5359132" cy="2839239"/>
          </a:xfrm>
          <a:prstGeom prst="rect">
            <a:avLst/>
          </a:prstGeom>
          <a:noFill/>
        </p:spPr>
        <p:txBody>
          <a:bodyPr wrap="square" lIns="68580" tIns="34290" rIns="68580" bIns="34290" rtlCol="0">
            <a:spAutoFit/>
          </a:bodyPr>
          <a:lstStyle/>
          <a:p>
            <a:pPr marL="214313" indent="-214313">
              <a:buFont typeface="Arial" panose="020B0604020202020204" pitchFamily="34" charset="0"/>
              <a:buChar char="•"/>
            </a:pPr>
            <a:r>
              <a:rPr lang="en-US" sz="1500" dirty="0"/>
              <a:t>Suppose a consumer visits a store, if he /she buys product A and also product B and C.</a:t>
            </a:r>
          </a:p>
          <a:p>
            <a:pPr marL="214313" indent="-214313">
              <a:buFont typeface="Arial" panose="020B0604020202020204" pitchFamily="34" charset="0"/>
              <a:buChar char="•"/>
            </a:pPr>
            <a:r>
              <a:rPr lang="en-US" sz="1500" dirty="0"/>
              <a:t>Few more consumers visit the same store some buy product A and B only, some buy B &amp; C only and some A &amp; C.</a:t>
            </a:r>
          </a:p>
          <a:p>
            <a:pPr marL="214313" indent="-214313">
              <a:buFont typeface="Arial" panose="020B0604020202020204" pitchFamily="34" charset="0"/>
              <a:buChar char="•"/>
            </a:pPr>
            <a:r>
              <a:rPr lang="en-US" sz="1500" dirty="0"/>
              <a:t>Now that store manager wants to know the products  sold together e.g. bread and butter.</a:t>
            </a:r>
          </a:p>
          <a:p>
            <a:pPr marL="214313" indent="-214313">
              <a:buFont typeface="Arial" panose="020B0604020202020204" pitchFamily="34" charset="0"/>
              <a:buChar char="•"/>
            </a:pPr>
            <a:r>
              <a:rPr lang="en-US" sz="1500" dirty="0"/>
              <a:t>Placing those products adjacent to each other can further increase the sales and would be ease for consumers also.</a:t>
            </a:r>
            <a:endParaRPr lang="en-IN" sz="1500" dirty="0"/>
          </a:p>
          <a:p>
            <a:pPr marL="214313" indent="-214313">
              <a:buFont typeface="Arial" panose="020B0604020202020204" pitchFamily="34" charset="0"/>
              <a:buChar char="•"/>
            </a:pPr>
            <a:r>
              <a:rPr lang="en-IN" sz="1500" dirty="0"/>
              <a:t>To find out these insights of consumers, Market Basket Analysis is used. It is a modelling technique based upon the theory that if a customer buys a certain group of items, he / she is more (or less) likely to buy another group of items.</a:t>
            </a:r>
          </a:p>
        </p:txBody>
      </p:sp>
    </p:spTree>
    <p:extLst>
      <p:ext uri="{BB962C8B-B14F-4D97-AF65-F5344CB8AC3E}">
        <p14:creationId xmlns="" xmlns:p14="http://schemas.microsoft.com/office/powerpoint/2010/main" val="471511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normAutofit/>
          </a:bodyPr>
          <a:lstStyle/>
          <a:p>
            <a:r>
              <a:rPr lang="en-US" altLang="en-US" dirty="0"/>
              <a:t>Market Basket Analysis (MBA)</a:t>
            </a:r>
          </a:p>
        </p:txBody>
      </p:sp>
      <p:sp>
        <p:nvSpPr>
          <p:cNvPr id="50182" name="Rectangle 6"/>
          <p:cNvSpPr>
            <a:spLocks noGrp="1" noChangeArrowheads="1"/>
          </p:cNvSpPr>
          <p:nvPr>
            <p:ph type="body" idx="1"/>
          </p:nvPr>
        </p:nvSpPr>
        <p:spPr/>
        <p:txBody>
          <a:bodyPr>
            <a:normAutofit/>
          </a:bodyPr>
          <a:lstStyle/>
          <a:p>
            <a:pPr>
              <a:lnSpc>
                <a:spcPct val="80000"/>
              </a:lnSpc>
            </a:pPr>
            <a:r>
              <a:rPr lang="en-US" altLang="en-US" sz="1800" dirty="0"/>
              <a:t>Each customer purchases different set of products, different quantities, different times</a:t>
            </a:r>
          </a:p>
          <a:p>
            <a:pPr>
              <a:lnSpc>
                <a:spcPct val="80000"/>
              </a:lnSpc>
            </a:pPr>
            <a:r>
              <a:rPr lang="en-US" altLang="en-US" sz="1800" dirty="0"/>
              <a:t>MBA uses this information to:</a:t>
            </a:r>
          </a:p>
          <a:p>
            <a:pPr lvl="1">
              <a:lnSpc>
                <a:spcPct val="80000"/>
              </a:lnSpc>
            </a:pPr>
            <a:r>
              <a:rPr lang="en-US" altLang="en-US" sz="1500" dirty="0"/>
              <a:t>Identify who customers are (not by name)</a:t>
            </a:r>
          </a:p>
          <a:p>
            <a:pPr lvl="1">
              <a:lnSpc>
                <a:spcPct val="80000"/>
              </a:lnSpc>
            </a:pPr>
            <a:r>
              <a:rPr lang="en-US" altLang="en-US" sz="1500" dirty="0"/>
              <a:t>Understand why they make certain purchases</a:t>
            </a:r>
          </a:p>
          <a:p>
            <a:pPr lvl="1">
              <a:lnSpc>
                <a:spcPct val="80000"/>
              </a:lnSpc>
            </a:pPr>
            <a:r>
              <a:rPr lang="en-US" altLang="en-US" sz="1500" dirty="0"/>
              <a:t>Gain insight about its merchandise (products):</a:t>
            </a:r>
          </a:p>
          <a:p>
            <a:pPr lvl="2">
              <a:lnSpc>
                <a:spcPct val="80000"/>
              </a:lnSpc>
            </a:pPr>
            <a:r>
              <a:rPr lang="en-US" altLang="en-US" sz="1400" dirty="0"/>
              <a:t>Fast and slow movers</a:t>
            </a:r>
          </a:p>
          <a:p>
            <a:pPr lvl="2">
              <a:lnSpc>
                <a:spcPct val="80000"/>
              </a:lnSpc>
            </a:pPr>
            <a:r>
              <a:rPr lang="en-US" altLang="en-US" sz="1400" dirty="0"/>
              <a:t>Products which are purchased together</a:t>
            </a:r>
          </a:p>
          <a:p>
            <a:pPr lvl="2">
              <a:lnSpc>
                <a:spcPct val="80000"/>
              </a:lnSpc>
            </a:pPr>
            <a:r>
              <a:rPr lang="en-US" altLang="en-US" sz="1400" dirty="0"/>
              <a:t>Products which might benefit from promotion</a:t>
            </a:r>
          </a:p>
          <a:p>
            <a:pPr lvl="1">
              <a:lnSpc>
                <a:spcPct val="80000"/>
              </a:lnSpc>
            </a:pPr>
            <a:r>
              <a:rPr lang="en-US" altLang="en-US" sz="1500" dirty="0"/>
              <a:t>Take action:</a:t>
            </a:r>
          </a:p>
          <a:p>
            <a:pPr lvl="2">
              <a:lnSpc>
                <a:spcPct val="80000"/>
              </a:lnSpc>
            </a:pPr>
            <a:r>
              <a:rPr lang="en-US" altLang="en-US" sz="1400" dirty="0"/>
              <a:t>Store layouts</a:t>
            </a:r>
          </a:p>
          <a:p>
            <a:pPr lvl="2">
              <a:lnSpc>
                <a:spcPct val="80000"/>
              </a:lnSpc>
            </a:pPr>
            <a:r>
              <a:rPr lang="en-US" altLang="en-US" sz="1400" dirty="0"/>
              <a:t>Which products to put on specials, promote, coupons…</a:t>
            </a:r>
          </a:p>
          <a:p>
            <a:pPr>
              <a:lnSpc>
                <a:spcPct val="80000"/>
              </a:lnSpc>
            </a:pPr>
            <a:r>
              <a:rPr lang="en-US" altLang="en-US" sz="1800" dirty="0"/>
              <a:t>Combining all of this with a customer loyalty card it becomes even more valuable</a:t>
            </a:r>
          </a:p>
        </p:txBody>
      </p:sp>
      <p:sp>
        <p:nvSpPr>
          <p:cNvPr id="2" name="Footer Placeholder 1"/>
          <p:cNvSpPr>
            <a:spLocks noGrp="1"/>
          </p:cNvSpPr>
          <p:nvPr>
            <p:ph type="ftr" sz="quarter" idx="4294967295"/>
          </p:nvPr>
        </p:nvSpPr>
        <p:spPr>
          <a:xfrm>
            <a:off x="1823138" y="4844649"/>
            <a:ext cx="7072894" cy="273844"/>
          </a:xfrm>
          <a:prstGeom prst="rect">
            <a:avLst/>
          </a:prstGeom>
        </p:spPr>
        <p:txBody>
          <a:bodyPr lIns="68580" tIns="34290" rIns="68580" bIns="34290"/>
          <a:lstStyle/>
          <a:p>
            <a:endParaRPr lang="en-US" dirty="0">
              <a:solidFill>
                <a:srgbClr val="242852">
                  <a:lumMod val="50000"/>
                </a:srgbClr>
              </a:solidFill>
            </a:endParaRPr>
          </a:p>
        </p:txBody>
      </p:sp>
    </p:spTree>
    <p:extLst>
      <p:ext uri="{BB962C8B-B14F-4D97-AF65-F5344CB8AC3E}">
        <p14:creationId xmlns="" xmlns:p14="http://schemas.microsoft.com/office/powerpoint/2010/main" val="140532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Market Basket Analysis</a:t>
            </a:r>
          </a:p>
        </p:txBody>
      </p:sp>
      <p:sp>
        <p:nvSpPr>
          <p:cNvPr id="3" name="Content Placeholder 2"/>
          <p:cNvSpPr>
            <a:spLocks noGrp="1"/>
          </p:cNvSpPr>
          <p:nvPr>
            <p:ph idx="1"/>
          </p:nvPr>
        </p:nvSpPr>
        <p:spPr/>
        <p:txBody>
          <a:bodyPr>
            <a:normAutofit/>
          </a:bodyPr>
          <a:lstStyle/>
          <a:p>
            <a:pPr>
              <a:buClrTx/>
              <a:buFont typeface="Arial" panose="020B0604020202020204" pitchFamily="34" charset="0"/>
              <a:buChar char="•"/>
            </a:pPr>
            <a:r>
              <a:rPr lang="en-US" sz="2100" b="1" dirty="0">
                <a:solidFill>
                  <a:srgbClr val="0070C0"/>
                </a:solidFill>
              </a:rPr>
              <a:t>Cross Selling: </a:t>
            </a:r>
            <a:r>
              <a:rPr lang="en-US" sz="2100" dirty="0">
                <a:solidFill>
                  <a:schemeClr val="tx1"/>
                </a:solidFill>
              </a:rPr>
              <a:t>Offering associated items.</a:t>
            </a:r>
          </a:p>
          <a:p>
            <a:pPr>
              <a:buClrTx/>
              <a:buFont typeface="Arial" panose="020B0604020202020204" pitchFamily="34" charset="0"/>
              <a:buChar char="•"/>
            </a:pPr>
            <a:r>
              <a:rPr lang="en-US" sz="2100" b="1" dirty="0">
                <a:solidFill>
                  <a:srgbClr val="0070C0"/>
                </a:solidFill>
              </a:rPr>
              <a:t>Product Placement: </a:t>
            </a:r>
            <a:r>
              <a:rPr lang="en-US" sz="2100" dirty="0">
                <a:solidFill>
                  <a:schemeClr val="tx1"/>
                </a:solidFill>
              </a:rPr>
              <a:t>Placing the associated items near to each other. If consumer sees them, it has higher probability that they will purchase them together. </a:t>
            </a:r>
          </a:p>
          <a:p>
            <a:pPr>
              <a:buClrTx/>
              <a:buFont typeface="Arial" panose="020B0604020202020204" pitchFamily="34" charset="0"/>
              <a:buChar char="•"/>
            </a:pPr>
            <a:r>
              <a:rPr lang="en-US" sz="2100" b="1" dirty="0">
                <a:solidFill>
                  <a:srgbClr val="0070C0"/>
                </a:solidFill>
              </a:rPr>
              <a:t>Affinity Promotion: </a:t>
            </a:r>
            <a:r>
              <a:rPr lang="en-US" sz="2100" dirty="0">
                <a:solidFill>
                  <a:schemeClr val="tx1"/>
                </a:solidFill>
              </a:rPr>
              <a:t>Designing the promotional events based on the associated products.</a:t>
            </a:r>
          </a:p>
          <a:p>
            <a:pPr>
              <a:buClrTx/>
              <a:buFont typeface="Arial" panose="020B0604020202020204" pitchFamily="34" charset="0"/>
              <a:buChar char="•"/>
            </a:pPr>
            <a:r>
              <a:rPr lang="en-US" sz="2100" b="1" dirty="0">
                <a:solidFill>
                  <a:srgbClr val="0070C0"/>
                </a:solidFill>
              </a:rPr>
              <a:t>Fraud detection: </a:t>
            </a:r>
            <a:r>
              <a:rPr lang="en-US" sz="2100" dirty="0">
                <a:solidFill>
                  <a:schemeClr val="tx1"/>
                </a:solidFill>
              </a:rPr>
              <a:t>Based on data, it may be possible to detect certain purchase behavior that can be associated with fraud.</a:t>
            </a:r>
          </a:p>
          <a:p>
            <a:pPr>
              <a:buClrTx/>
              <a:buFont typeface="Arial" panose="020B0604020202020204" pitchFamily="34" charset="0"/>
              <a:buChar char="•"/>
            </a:pPr>
            <a:r>
              <a:rPr lang="en-US" sz="2100" b="1" dirty="0">
                <a:solidFill>
                  <a:srgbClr val="0070C0"/>
                </a:solidFill>
              </a:rPr>
              <a:t>Consumer Behavior: </a:t>
            </a:r>
            <a:r>
              <a:rPr lang="en-US" sz="2100" dirty="0">
                <a:solidFill>
                  <a:schemeClr val="tx1"/>
                </a:solidFill>
              </a:rPr>
              <a:t>Associating purchase with demographic, and socio economic data (such as age, gender and preference) may produce very useful results for marketing.</a:t>
            </a:r>
            <a:endParaRPr lang="en-IN" sz="2100" dirty="0">
              <a:solidFill>
                <a:srgbClr val="FF0000"/>
              </a:solidFill>
            </a:endParaRPr>
          </a:p>
        </p:txBody>
      </p:sp>
      <p:sp>
        <p:nvSpPr>
          <p:cNvPr id="4" name="Footer Placeholder 3"/>
          <p:cNvSpPr>
            <a:spLocks noGrp="1"/>
          </p:cNvSpPr>
          <p:nvPr>
            <p:ph type="ftr" sz="quarter" idx="4294967295"/>
          </p:nvPr>
        </p:nvSpPr>
        <p:spPr>
          <a:xfrm>
            <a:off x="2421365" y="4844649"/>
            <a:ext cx="7072894" cy="273844"/>
          </a:xfrm>
          <a:prstGeom prst="rect">
            <a:avLst/>
          </a:prstGeom>
        </p:spPr>
        <p:txBody>
          <a:bodyPr lIns="68580" tIns="34290" rIns="68580" bIns="34290"/>
          <a:lstStyle/>
          <a:p>
            <a:endParaRPr lang="en-US" dirty="0">
              <a:solidFill>
                <a:srgbClr val="242852">
                  <a:lumMod val="50000"/>
                </a:srgbClr>
              </a:solidFill>
            </a:endParaRPr>
          </a:p>
        </p:txBody>
      </p:sp>
    </p:spTree>
    <p:extLst>
      <p:ext uri="{BB962C8B-B14F-4D97-AF65-F5344CB8AC3E}">
        <p14:creationId xmlns="" xmlns:p14="http://schemas.microsoft.com/office/powerpoint/2010/main" val="763000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Some Definitions </a:t>
            </a:r>
          </a:p>
        </p:txBody>
      </p:sp>
      <p:sp>
        <p:nvSpPr>
          <p:cNvPr id="3" name="Content Placeholder 2"/>
          <p:cNvSpPr>
            <a:spLocks noGrp="1"/>
          </p:cNvSpPr>
          <p:nvPr>
            <p:ph idx="1"/>
          </p:nvPr>
        </p:nvSpPr>
        <p:spPr/>
        <p:txBody>
          <a:bodyPr/>
          <a:lstStyle/>
          <a:p>
            <a:r>
              <a:rPr lang="en-IN" sz="2100" b="1" dirty="0">
                <a:solidFill>
                  <a:srgbClr val="0070C0"/>
                </a:solidFill>
              </a:rPr>
              <a:t>Transaction: </a:t>
            </a:r>
            <a:r>
              <a:rPr lang="en-IN" dirty="0"/>
              <a:t>Transactions are the group of items co-occurring together.</a:t>
            </a:r>
          </a:p>
          <a:p>
            <a:r>
              <a:rPr lang="en-IN" sz="2100" b="1" dirty="0">
                <a:solidFill>
                  <a:srgbClr val="0070C0"/>
                </a:solidFill>
              </a:rPr>
              <a:t>Confidence: </a:t>
            </a:r>
            <a:r>
              <a:rPr lang="en-US" altLang="en-US" dirty="0"/>
              <a:t>It is the measure of uncertainty or trust worthiness associated with each discovered pattern. Mathematically, it is the percentage of transaction that contain both X and Y items out of all the transactions that contain X item.</a:t>
            </a:r>
            <a:endParaRPr lang="en-IN" dirty="0">
              <a:solidFill>
                <a:srgbClr val="FF0000"/>
              </a:solidFill>
            </a:endParaRPr>
          </a:p>
          <a:p>
            <a:r>
              <a:rPr lang="en-IN" sz="2100" b="1" dirty="0">
                <a:solidFill>
                  <a:srgbClr val="0070C0"/>
                </a:solidFill>
              </a:rPr>
              <a:t>Support: </a:t>
            </a:r>
            <a:r>
              <a:rPr lang="en-US" altLang="en-US" dirty="0"/>
              <a:t>It is the measure of how often the collection of items in an association occur together as percentage of all transactions. For example, out of total transactions, if 60% transactions contain itemset {bread, butter}, then the support of {bread, butter} is 60%.</a:t>
            </a:r>
            <a:endParaRPr lang="en-IN" dirty="0">
              <a:solidFill>
                <a:srgbClr val="FF0000"/>
              </a:solidFill>
            </a:endParaRPr>
          </a:p>
          <a:p>
            <a:r>
              <a:rPr lang="en-IN" sz="2100" b="1" dirty="0">
                <a:solidFill>
                  <a:srgbClr val="0070C0"/>
                </a:solidFill>
              </a:rPr>
              <a:t>Frequent items: </a:t>
            </a:r>
            <a:r>
              <a:rPr lang="en-IN" dirty="0">
                <a:solidFill>
                  <a:schemeClr val="tx1"/>
                </a:solidFill>
              </a:rPr>
              <a:t>The items that appear together often enough. The term ‘often enough’ is formally defined with minimum support criterion.</a:t>
            </a:r>
            <a:endParaRPr lang="en-IN" dirty="0">
              <a:solidFill>
                <a:srgbClr val="FF0000"/>
              </a:solidFill>
            </a:endParaRPr>
          </a:p>
          <a:p>
            <a:r>
              <a:rPr lang="en-IN" sz="2100" b="1" dirty="0">
                <a:solidFill>
                  <a:srgbClr val="0070C0"/>
                </a:solidFill>
              </a:rPr>
              <a:t>Strong Association Rule:</a:t>
            </a:r>
            <a:r>
              <a:rPr lang="en-US" altLang="en-US" dirty="0"/>
              <a:t> Rules that satisfy both a minimum support threshold and a minimum confidence threshold</a:t>
            </a:r>
            <a:r>
              <a:rPr lang="en-US" altLang="en-US" dirty="0" smtClean="0"/>
              <a:t>.</a:t>
            </a:r>
          </a:p>
          <a:p>
            <a:endParaRPr lang="en-IN" altLang="en-US" dirty="0" smtClean="0"/>
          </a:p>
          <a:p>
            <a:endParaRPr lang="en-IN" dirty="0">
              <a:solidFill>
                <a:srgbClr val="FF0000"/>
              </a:solidFill>
            </a:endParaRPr>
          </a:p>
        </p:txBody>
      </p:sp>
      <p:sp>
        <p:nvSpPr>
          <p:cNvPr id="4" name="Footer Placeholder 3"/>
          <p:cNvSpPr>
            <a:spLocks noGrp="1"/>
          </p:cNvSpPr>
          <p:nvPr>
            <p:ph type="ftr" sz="quarter" idx="4294967295"/>
          </p:nvPr>
        </p:nvSpPr>
        <p:spPr>
          <a:xfrm>
            <a:off x="2421365" y="4844649"/>
            <a:ext cx="7072894" cy="273844"/>
          </a:xfrm>
          <a:prstGeom prst="rect">
            <a:avLst/>
          </a:prstGeom>
        </p:spPr>
        <p:txBody>
          <a:bodyPr lIns="68580" tIns="34290" rIns="68580" bIns="34290"/>
          <a:lstStyle/>
          <a:p>
            <a:endParaRPr lang="en-US" dirty="0">
              <a:solidFill>
                <a:srgbClr val="242852">
                  <a:lumMod val="50000"/>
                </a:srgbClr>
              </a:solidFill>
            </a:endParaRPr>
          </a:p>
        </p:txBody>
      </p:sp>
    </p:spTree>
    <p:extLst>
      <p:ext uri="{BB962C8B-B14F-4D97-AF65-F5344CB8AC3E}">
        <p14:creationId xmlns="" xmlns:p14="http://schemas.microsoft.com/office/powerpoint/2010/main" val="4031815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Apriori Algorithm							cont.</a:t>
            </a:r>
          </a:p>
        </p:txBody>
      </p:sp>
      <p:pic>
        <p:nvPicPr>
          <p:cNvPr id="5" name="Content Placeholder 4"/>
          <p:cNvPicPr>
            <a:picLocks noGrp="1" noChangeAspect="1"/>
          </p:cNvPicPr>
          <p:nvPr>
            <p:ph idx="1"/>
          </p:nvPr>
        </p:nvPicPr>
        <p:blipFill>
          <a:blip r:embed="rId2"/>
          <a:stretch>
            <a:fillRect/>
          </a:stretch>
        </p:blipFill>
        <p:spPr>
          <a:xfrm>
            <a:off x="6518786" y="1339246"/>
            <a:ext cx="4143191" cy="3099335"/>
          </a:xfrm>
          <a:prstGeom prst="rect">
            <a:avLst/>
          </a:prstGeom>
        </p:spPr>
      </p:pic>
      <p:sp>
        <p:nvSpPr>
          <p:cNvPr id="4" name="Footer Placeholder 3"/>
          <p:cNvSpPr>
            <a:spLocks noGrp="1"/>
          </p:cNvSpPr>
          <p:nvPr>
            <p:ph type="ftr" sz="quarter" idx="4294967295"/>
          </p:nvPr>
        </p:nvSpPr>
        <p:spPr>
          <a:xfrm>
            <a:off x="2421365" y="4844649"/>
            <a:ext cx="7072894" cy="273844"/>
          </a:xfrm>
          <a:prstGeom prst="rect">
            <a:avLst/>
          </a:prstGeom>
        </p:spPr>
        <p:txBody>
          <a:bodyPr lIns="68580" tIns="34290" rIns="68580" bIns="34290"/>
          <a:lstStyle/>
          <a:p>
            <a:endParaRPr lang="en-US" dirty="0">
              <a:solidFill>
                <a:srgbClr val="242852">
                  <a:lumMod val="50000"/>
                </a:srgbClr>
              </a:solidFill>
            </a:endParaRPr>
          </a:p>
        </p:txBody>
      </p:sp>
      <p:sp>
        <p:nvSpPr>
          <p:cNvPr id="6" name="TextBox 5"/>
          <p:cNvSpPr txBox="1"/>
          <p:nvPr/>
        </p:nvSpPr>
        <p:spPr>
          <a:xfrm>
            <a:off x="240984" y="885910"/>
            <a:ext cx="6228642" cy="3762568"/>
          </a:xfrm>
          <a:prstGeom prst="rect">
            <a:avLst/>
          </a:prstGeom>
          <a:noFill/>
        </p:spPr>
        <p:txBody>
          <a:bodyPr wrap="square" lIns="68580" tIns="34290" rIns="68580" bIns="34290" rtlCol="0">
            <a:spAutoFit/>
          </a:bodyPr>
          <a:lstStyle/>
          <a:p>
            <a:r>
              <a:rPr lang="en-IN" sz="1600" b="1" dirty="0">
                <a:solidFill>
                  <a:srgbClr val="0070C0"/>
                </a:solidFill>
                <a:effectLst>
                  <a:outerShdw blurRad="38100" dist="38100" dir="2700000" algn="tl">
                    <a:srgbClr val="000000">
                      <a:alpha val="43137"/>
                    </a:srgbClr>
                  </a:outerShdw>
                </a:effectLst>
              </a:rPr>
              <a:t>Apriori principle:</a:t>
            </a:r>
          </a:p>
          <a:p>
            <a:r>
              <a:rPr lang="en-IN" sz="1600" dirty="0"/>
              <a:t>If an itemset is frequent, then all of its subsets must also be frequent</a:t>
            </a:r>
          </a:p>
          <a:p>
            <a:endParaRPr lang="en-US" sz="1600" dirty="0"/>
          </a:p>
          <a:p>
            <a:pPr marL="214313" indent="-214313">
              <a:buFont typeface="Arial" panose="020B0604020202020204" pitchFamily="34" charset="0"/>
              <a:buChar char="•"/>
            </a:pPr>
            <a:r>
              <a:rPr lang="en-US" sz="1600" dirty="0"/>
              <a:t>Suppose A,B,C,D, E are items. Then total combinations possible for these items are shown in the figure. This figure illustrates how the Apriori works. </a:t>
            </a:r>
          </a:p>
          <a:p>
            <a:pPr marL="214313" indent="-214313">
              <a:buFont typeface="Arial" panose="020B0604020202020204" pitchFamily="34" charset="0"/>
              <a:buChar char="•"/>
            </a:pPr>
            <a:r>
              <a:rPr lang="en-US" sz="1600" dirty="0"/>
              <a:t>If itemset {B,C,D} is frequent, then all the subsets of this itemset, highlighted, must also be frequent itemsets. This provides the basis for Apriori algorithm.</a:t>
            </a:r>
          </a:p>
          <a:p>
            <a:pPr marL="214313" indent="-214313">
              <a:buFont typeface="Arial" panose="020B0604020202020204" pitchFamily="34" charset="0"/>
              <a:buChar char="•"/>
            </a:pPr>
            <a:r>
              <a:rPr lang="en-IN" sz="1600" dirty="0"/>
              <a:t>Apriori principle holds due to the following property of the support measure:</a:t>
            </a:r>
          </a:p>
          <a:p>
            <a:pPr marL="214313" indent="-214313">
              <a:buFont typeface="Arial" panose="020B0604020202020204" pitchFamily="34" charset="0"/>
              <a:buChar char="•"/>
            </a:pPr>
            <a:endParaRPr lang="en-IN" sz="1600" dirty="0" smtClean="0"/>
          </a:p>
          <a:p>
            <a:pPr marL="214313" indent="-214313">
              <a:buFont typeface="Arial" panose="020B0604020202020204" pitchFamily="34" charset="0"/>
              <a:buChar char="•"/>
            </a:pPr>
            <a:r>
              <a:rPr lang="en-IN" sz="1600" dirty="0" smtClean="0"/>
              <a:t>The </a:t>
            </a:r>
            <a:r>
              <a:rPr lang="en-IN" sz="1600" dirty="0"/>
              <a:t>support of an itemset never exceeds the support of its subsets</a:t>
            </a:r>
          </a:p>
          <a:p>
            <a:pPr marL="214313" indent="-214313">
              <a:buFont typeface="Arial" panose="020B0604020202020204" pitchFamily="34" charset="0"/>
              <a:buChar char="•"/>
            </a:pPr>
            <a:r>
              <a:rPr lang="en-IN" sz="1600" dirty="0"/>
              <a:t>This is known as the anti-monotone property of support</a:t>
            </a:r>
          </a:p>
          <a:p>
            <a:pPr marL="214313" indent="-214313">
              <a:buFont typeface="Arial" panose="020B0604020202020204" pitchFamily="34" charset="0"/>
              <a:buChar char="•"/>
            </a:pPr>
            <a:endParaRPr lang="en-IN" sz="1600" dirty="0"/>
          </a:p>
        </p:txBody>
      </p:sp>
      <p:sp>
        <p:nvSpPr>
          <p:cNvPr id="7" name="Oval 6"/>
          <p:cNvSpPr/>
          <p:nvPr/>
        </p:nvSpPr>
        <p:spPr>
          <a:xfrm>
            <a:off x="7066581" y="1561514"/>
            <a:ext cx="436208" cy="29542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IN"/>
          </a:p>
        </p:txBody>
      </p:sp>
      <p:sp>
        <p:nvSpPr>
          <p:cNvPr id="8" name="Oval 7"/>
          <p:cNvSpPr/>
          <p:nvPr/>
        </p:nvSpPr>
        <p:spPr>
          <a:xfrm>
            <a:off x="7812751" y="1561514"/>
            <a:ext cx="436208" cy="24442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IN"/>
          </a:p>
        </p:txBody>
      </p:sp>
      <p:sp>
        <p:nvSpPr>
          <p:cNvPr id="9" name="Oval 8"/>
          <p:cNvSpPr/>
          <p:nvPr/>
        </p:nvSpPr>
        <p:spPr>
          <a:xfrm>
            <a:off x="8558919" y="1536016"/>
            <a:ext cx="436208" cy="29542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IN"/>
          </a:p>
        </p:txBody>
      </p:sp>
      <p:sp>
        <p:nvSpPr>
          <p:cNvPr id="10" name="Oval 9"/>
          <p:cNvSpPr/>
          <p:nvPr/>
        </p:nvSpPr>
        <p:spPr>
          <a:xfrm>
            <a:off x="7502789" y="2188630"/>
            <a:ext cx="436208" cy="29542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IN"/>
          </a:p>
        </p:txBody>
      </p:sp>
      <p:sp>
        <p:nvSpPr>
          <p:cNvPr id="11" name="Oval 10"/>
          <p:cNvSpPr/>
          <p:nvPr/>
        </p:nvSpPr>
        <p:spPr>
          <a:xfrm>
            <a:off x="8056877" y="2194697"/>
            <a:ext cx="436208" cy="29542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IN"/>
          </a:p>
        </p:txBody>
      </p:sp>
      <p:sp>
        <p:nvSpPr>
          <p:cNvPr id="12" name="Oval 11"/>
          <p:cNvSpPr/>
          <p:nvPr/>
        </p:nvSpPr>
        <p:spPr>
          <a:xfrm>
            <a:off x="9152533" y="2194697"/>
            <a:ext cx="436208" cy="29542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IN"/>
          </a:p>
        </p:txBody>
      </p:sp>
      <p:sp>
        <p:nvSpPr>
          <p:cNvPr id="13" name="Oval 12"/>
          <p:cNvSpPr/>
          <p:nvPr/>
        </p:nvSpPr>
        <p:spPr>
          <a:xfrm>
            <a:off x="8697630" y="2941167"/>
            <a:ext cx="436208" cy="29542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en-IN"/>
          </a:p>
        </p:txBody>
      </p:sp>
      <p:pic>
        <p:nvPicPr>
          <p:cNvPr id="14" name="Picture 13"/>
          <p:cNvPicPr>
            <a:picLocks noChangeAspect="1"/>
          </p:cNvPicPr>
          <p:nvPr/>
        </p:nvPicPr>
        <p:blipFill>
          <a:blip r:embed="rId3"/>
          <a:stretch>
            <a:fillRect/>
          </a:stretch>
        </p:blipFill>
        <p:spPr>
          <a:xfrm>
            <a:off x="1583103" y="3448185"/>
            <a:ext cx="3589371" cy="307058"/>
          </a:xfrm>
          <a:prstGeom prst="rect">
            <a:avLst/>
          </a:prstGeom>
        </p:spPr>
      </p:pic>
    </p:spTree>
    <p:extLst>
      <p:ext uri="{BB962C8B-B14F-4D97-AF65-F5344CB8AC3E}">
        <p14:creationId xmlns="" xmlns:p14="http://schemas.microsoft.com/office/powerpoint/2010/main" val="479306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860" y="1085850"/>
            <a:ext cx="10092511" cy="3371850"/>
          </a:xfrm>
        </p:spPr>
        <p:txBody>
          <a:bodyPr>
            <a:normAutofit/>
          </a:bodyPr>
          <a:lstStyle/>
          <a:p>
            <a:pPr>
              <a:buFont typeface="Wingdings" panose="05000000000000000000" pitchFamily="2" charset="2"/>
              <a:buChar char="v"/>
            </a:pPr>
            <a:r>
              <a:rPr lang="en-US" sz="1800" dirty="0"/>
              <a:t>The Apriori algorithm takes a bottom-up iterative approach to uncover the frequent itemsets by first determining all possible items and then identifying which among them are frequent.</a:t>
            </a:r>
          </a:p>
          <a:p>
            <a:pPr>
              <a:buFont typeface="Wingdings" panose="05000000000000000000" pitchFamily="2" charset="2"/>
              <a:buChar char="v"/>
            </a:pPr>
            <a:r>
              <a:rPr lang="en-US" sz="1800" dirty="0"/>
              <a:t>Assuming the minimum support threshold (or minimum support criterion) is set at 0.5, the algorithm identifies and retains those itemsets that appear in at least 50% of all transactions and discards the itemsets that have support less than 0.5 or appear in less than 50% of the transactions.</a:t>
            </a:r>
          </a:p>
          <a:p>
            <a:pPr>
              <a:buFont typeface="Wingdings" panose="05000000000000000000" pitchFamily="2" charset="2"/>
              <a:buChar char="v"/>
            </a:pPr>
            <a:r>
              <a:rPr lang="en-US" sz="1800" dirty="0"/>
              <a:t>In the next iteration, the identified frequent 1-itemsets are paired into 2-itemsets and again evaluated to identify the frequent 2-itemsets among them.</a:t>
            </a:r>
          </a:p>
          <a:p>
            <a:pPr>
              <a:buFont typeface="Wingdings" panose="05000000000000000000" pitchFamily="2" charset="2"/>
              <a:buChar char="v"/>
            </a:pPr>
            <a:r>
              <a:rPr lang="en-US" sz="1800" dirty="0"/>
              <a:t>At each iteration, the algorithm checks whether the support criterion can be met; if it can, the algorithm grows the itemset, repeating the process until it runs out of support or until the itemsets reach a pre-defined length. Apriori algorithm in mathematical form is given in next slide.</a:t>
            </a:r>
            <a:endParaRPr lang="en-IN" sz="1800" dirty="0"/>
          </a:p>
        </p:txBody>
      </p:sp>
      <p:sp>
        <p:nvSpPr>
          <p:cNvPr id="2" name="Footer Placeholder 1"/>
          <p:cNvSpPr>
            <a:spLocks noGrp="1"/>
          </p:cNvSpPr>
          <p:nvPr>
            <p:ph type="ftr" sz="quarter" idx="4294967295"/>
          </p:nvPr>
        </p:nvSpPr>
        <p:spPr>
          <a:xfrm>
            <a:off x="2421365" y="4844649"/>
            <a:ext cx="7072894" cy="273844"/>
          </a:xfrm>
          <a:prstGeom prst="rect">
            <a:avLst/>
          </a:prstGeom>
        </p:spPr>
        <p:txBody>
          <a:bodyPr lIns="68580" tIns="34290" rIns="68580" bIns="34290"/>
          <a:lstStyle/>
          <a:p>
            <a:endParaRPr lang="en-US" dirty="0">
              <a:solidFill>
                <a:srgbClr val="242852">
                  <a:lumMod val="50000"/>
                </a:srgbClr>
              </a:solidFill>
            </a:endParaRPr>
          </a:p>
        </p:txBody>
      </p:sp>
      <p:sp>
        <p:nvSpPr>
          <p:cNvPr id="5" name="Title 1"/>
          <p:cNvSpPr>
            <a:spLocks noGrp="1"/>
          </p:cNvSpPr>
          <p:nvPr>
            <p:ph type="title"/>
          </p:nvPr>
        </p:nvSpPr>
        <p:spPr>
          <a:xfrm>
            <a:off x="116842" y="116693"/>
            <a:ext cx="9748218" cy="642296"/>
          </a:xfrm>
        </p:spPr>
        <p:txBody>
          <a:bodyPr>
            <a:normAutofit fontScale="90000"/>
          </a:bodyPr>
          <a:lstStyle/>
          <a:p>
            <a:r>
              <a:rPr lang="en-IN" dirty="0"/>
              <a:t>Apriori Algorithm							cont.</a:t>
            </a:r>
          </a:p>
        </p:txBody>
      </p:sp>
    </p:spTree>
    <p:extLst>
      <p:ext uri="{BB962C8B-B14F-4D97-AF65-F5344CB8AC3E}">
        <p14:creationId xmlns="" xmlns:p14="http://schemas.microsoft.com/office/powerpoint/2010/main" val="2551199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564" y="986383"/>
            <a:ext cx="10244828" cy="3582101"/>
          </a:xfrm>
        </p:spPr>
        <p:txBody>
          <a:bodyPr>
            <a:normAutofit fontScale="92500" lnSpcReduction="10000"/>
          </a:bodyPr>
          <a:lstStyle/>
          <a:p>
            <a:pPr marL="0" indent="0">
              <a:buNone/>
            </a:pPr>
            <a:r>
              <a:rPr lang="en-US" dirty="0"/>
              <a:t>Let </a:t>
            </a:r>
          </a:p>
          <a:p>
            <a:pPr>
              <a:buFont typeface="Wingdings" panose="05000000000000000000" pitchFamily="2" charset="2"/>
              <a:buChar char="v"/>
            </a:pPr>
            <a:r>
              <a:rPr lang="en-IN" dirty="0"/>
              <a:t> C</a:t>
            </a:r>
            <a:r>
              <a:rPr lang="en-IN" baseline="-25000" dirty="0"/>
              <a:t>K</a:t>
            </a:r>
            <a:r>
              <a:rPr lang="en-IN" dirty="0"/>
              <a:t> : Set of candidate k-itemsets</a:t>
            </a:r>
          </a:p>
          <a:p>
            <a:pPr>
              <a:buFont typeface="Wingdings" panose="05000000000000000000" pitchFamily="2" charset="2"/>
              <a:buChar char="v"/>
            </a:pPr>
            <a:r>
              <a:rPr lang="en-US" dirty="0"/>
              <a:t> </a:t>
            </a:r>
            <a:r>
              <a:rPr lang="en-IN" dirty="0"/>
              <a:t>L</a:t>
            </a:r>
            <a:r>
              <a:rPr lang="en-IN" baseline="-25000" dirty="0"/>
              <a:t>K</a:t>
            </a:r>
            <a:r>
              <a:rPr lang="en-IN" dirty="0"/>
              <a:t> : Set of k- itemsets that satisfy the minimum support</a:t>
            </a:r>
          </a:p>
          <a:p>
            <a:pPr>
              <a:buFont typeface="Wingdings" panose="05000000000000000000" pitchFamily="2" charset="2"/>
              <a:buChar char="v"/>
            </a:pPr>
            <a:r>
              <a:rPr lang="en-US" dirty="0"/>
              <a:t> </a:t>
            </a:r>
            <a:r>
              <a:rPr lang="en-IN" dirty="0"/>
              <a:t>D : Transaction database</a:t>
            </a:r>
          </a:p>
          <a:p>
            <a:pPr>
              <a:buFont typeface="Wingdings" panose="05000000000000000000" pitchFamily="2" charset="2"/>
              <a:buChar char="v"/>
            </a:pPr>
            <a:r>
              <a:rPr lang="en-US" dirty="0"/>
              <a:t> </a:t>
            </a:r>
            <a:r>
              <a:rPr lang="en-IN" dirty="0"/>
              <a:t>δ : Minimum Support threshold</a:t>
            </a:r>
          </a:p>
          <a:p>
            <a:pPr>
              <a:buFont typeface="Wingdings" panose="05000000000000000000" pitchFamily="2" charset="2"/>
              <a:buChar char="v"/>
            </a:pPr>
            <a:r>
              <a:rPr lang="en-US" dirty="0"/>
              <a:t> </a:t>
            </a:r>
            <a:r>
              <a:rPr lang="en-IN" dirty="0"/>
              <a:t>N : Optional parameter indicating the maximum length an itemset could reach</a:t>
            </a:r>
          </a:p>
          <a:p>
            <a:pPr marL="0" indent="0">
              <a:buNone/>
            </a:pPr>
            <a:r>
              <a:rPr lang="en-US" dirty="0"/>
              <a:t>Apriori iteratively computes frequent itemsets </a:t>
            </a:r>
            <a:r>
              <a:rPr lang="en-IN" dirty="0"/>
              <a:t>L</a:t>
            </a:r>
            <a:r>
              <a:rPr lang="en-IN" baseline="-25000" dirty="0"/>
              <a:t>k+1</a:t>
            </a:r>
            <a:r>
              <a:rPr lang="en-US" dirty="0"/>
              <a:t> based on </a:t>
            </a:r>
            <a:r>
              <a:rPr lang="en-IN" dirty="0"/>
              <a:t>L</a:t>
            </a:r>
            <a:r>
              <a:rPr lang="en-IN" baseline="-25000" dirty="0"/>
              <a:t>K</a:t>
            </a:r>
            <a:r>
              <a:rPr lang="en-US" dirty="0"/>
              <a:t>. </a:t>
            </a:r>
            <a:endParaRPr lang="en-IN" dirty="0"/>
          </a:p>
          <a:p>
            <a:pPr marL="342900" indent="-342900">
              <a:buFont typeface="+mj-lt"/>
              <a:buAutoNum type="arabicPeriod"/>
            </a:pPr>
            <a:r>
              <a:rPr lang="en-US" dirty="0"/>
              <a:t>Apriori (D , </a:t>
            </a:r>
            <a:r>
              <a:rPr lang="en-IN" dirty="0"/>
              <a:t>δ, N)</a:t>
            </a:r>
          </a:p>
          <a:p>
            <a:pPr marL="342900" indent="-342900">
              <a:buFont typeface="+mj-lt"/>
              <a:buAutoNum type="arabicPeriod"/>
            </a:pPr>
            <a:r>
              <a:rPr lang="en-US" dirty="0"/>
              <a:t>K         1</a:t>
            </a:r>
          </a:p>
          <a:p>
            <a:pPr marL="342900" indent="-342900">
              <a:buFont typeface="+mj-lt"/>
              <a:buAutoNum type="arabicPeriod"/>
            </a:pPr>
            <a:r>
              <a:rPr lang="en-IN" dirty="0"/>
              <a:t>L</a:t>
            </a:r>
            <a:r>
              <a:rPr lang="en-IN" baseline="-25000" dirty="0"/>
              <a:t>K                </a:t>
            </a:r>
            <a:r>
              <a:rPr lang="en-IN" dirty="0"/>
              <a:t>{ 1 – itemsets that satisfy minimum support δ }</a:t>
            </a:r>
          </a:p>
          <a:p>
            <a:pPr marL="342900" indent="-342900">
              <a:buFont typeface="+mj-lt"/>
              <a:buAutoNum type="arabicPeriod"/>
            </a:pPr>
            <a:r>
              <a:rPr lang="en-US" dirty="0"/>
              <a:t>While </a:t>
            </a:r>
            <a:r>
              <a:rPr lang="en-IN" dirty="0"/>
              <a:t>L</a:t>
            </a:r>
            <a:r>
              <a:rPr lang="en-IN" baseline="-25000" dirty="0"/>
              <a:t>K</a:t>
            </a:r>
            <a:r>
              <a:rPr lang="en-IN" dirty="0"/>
              <a:t> ≠ Ø</a:t>
            </a:r>
          </a:p>
          <a:p>
            <a:pPr marL="342900" indent="-342900">
              <a:buFont typeface="+mj-lt"/>
              <a:buAutoNum type="arabicPeriod"/>
            </a:pPr>
            <a:r>
              <a:rPr lang="en-US" dirty="0"/>
              <a:t>if </a:t>
            </a:r>
            <a:r>
              <a:rPr lang="en-IN" dirty="0"/>
              <a:t>Ǝ N V (Ǝ N ^ K &lt; N)</a:t>
            </a:r>
          </a:p>
          <a:p>
            <a:pPr marL="342900" indent="-342900">
              <a:buFont typeface="+mj-lt"/>
              <a:buAutoNum type="arabicPeriod"/>
            </a:pPr>
            <a:r>
              <a:rPr lang="en-US" dirty="0" err="1"/>
              <a:t>Ck</a:t>
            </a:r>
            <a:r>
              <a:rPr lang="en-US" dirty="0"/>
              <a:t>              candidate itemsets generated from L</a:t>
            </a:r>
            <a:endParaRPr lang="en-IN" dirty="0"/>
          </a:p>
          <a:p>
            <a:pPr marL="342900" indent="-342900">
              <a:buFont typeface="+mj-lt"/>
              <a:buAutoNum type="arabicPeriod"/>
            </a:pPr>
            <a:endParaRPr lang="en-IN" dirty="0"/>
          </a:p>
          <a:p>
            <a:pPr marL="342900" indent="-342900">
              <a:buFont typeface="+mj-lt"/>
              <a:buAutoNum type="arabicPeriod"/>
            </a:pPr>
            <a:endParaRPr lang="en-IN" dirty="0"/>
          </a:p>
          <a:p>
            <a:pPr marL="342900" indent="-342900">
              <a:buFont typeface="+mj-lt"/>
              <a:buAutoNum type="arabicPeriod"/>
            </a:pPr>
            <a:endParaRPr lang="en-IN" dirty="0"/>
          </a:p>
          <a:p>
            <a:pPr marL="342900" indent="-342900">
              <a:buFont typeface="+mj-lt"/>
              <a:buAutoNum type="arabicPeriod"/>
            </a:pPr>
            <a:endParaRPr lang="en-IN" dirty="0"/>
          </a:p>
          <a:p>
            <a:pPr>
              <a:buFont typeface="Wingdings" panose="05000000000000000000" pitchFamily="2" charset="2"/>
              <a:buChar char="v"/>
            </a:pPr>
            <a:endParaRPr lang="en-IN" dirty="0"/>
          </a:p>
        </p:txBody>
      </p:sp>
      <p:sp>
        <p:nvSpPr>
          <p:cNvPr id="4" name="Footer Placeholder 3"/>
          <p:cNvSpPr>
            <a:spLocks noGrp="1"/>
          </p:cNvSpPr>
          <p:nvPr>
            <p:ph type="ftr" sz="quarter" idx="4294967295"/>
          </p:nvPr>
        </p:nvSpPr>
        <p:spPr>
          <a:xfrm>
            <a:off x="2421365" y="4844649"/>
            <a:ext cx="7072894" cy="273844"/>
          </a:xfrm>
          <a:prstGeom prst="rect">
            <a:avLst/>
          </a:prstGeom>
        </p:spPr>
        <p:txBody>
          <a:bodyPr lIns="68580" tIns="34290" rIns="68580" bIns="34290"/>
          <a:lstStyle/>
          <a:p>
            <a:endParaRPr lang="en-US" dirty="0">
              <a:solidFill>
                <a:srgbClr val="242852">
                  <a:lumMod val="50000"/>
                </a:srgbClr>
              </a:solidFill>
            </a:endParaRPr>
          </a:p>
        </p:txBody>
      </p:sp>
      <p:sp>
        <p:nvSpPr>
          <p:cNvPr id="7" name="Title 1"/>
          <p:cNvSpPr>
            <a:spLocks noGrp="1"/>
          </p:cNvSpPr>
          <p:nvPr>
            <p:ph type="title"/>
          </p:nvPr>
        </p:nvSpPr>
        <p:spPr/>
        <p:txBody>
          <a:bodyPr/>
          <a:lstStyle/>
          <a:p>
            <a:r>
              <a:rPr lang="en-IN" dirty="0"/>
              <a:t>Apriori Algorithm							cont.</a:t>
            </a:r>
          </a:p>
        </p:txBody>
      </p:sp>
      <p:cxnSp>
        <p:nvCxnSpPr>
          <p:cNvPr id="9" name="Straight Arrow Connector 8"/>
          <p:cNvCxnSpPr>
            <a:cxnSpLocks/>
          </p:cNvCxnSpPr>
          <p:nvPr/>
        </p:nvCxnSpPr>
        <p:spPr>
          <a:xfrm flipH="1">
            <a:off x="847492" y="3239091"/>
            <a:ext cx="2367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cxnSpLocks/>
          </p:cNvCxnSpPr>
          <p:nvPr/>
        </p:nvCxnSpPr>
        <p:spPr>
          <a:xfrm flipH="1">
            <a:off x="920192" y="3511648"/>
            <a:ext cx="2367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cxnSpLocks/>
          </p:cNvCxnSpPr>
          <p:nvPr/>
        </p:nvCxnSpPr>
        <p:spPr>
          <a:xfrm flipH="1">
            <a:off x="1009508" y="4290647"/>
            <a:ext cx="2367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783100" y="3967096"/>
            <a:ext cx="112168" cy="13715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1943996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Apriori Algorithm</a:t>
            </a:r>
          </a:p>
        </p:txBody>
      </p:sp>
      <p:sp>
        <p:nvSpPr>
          <p:cNvPr id="3" name="Content Placeholder 2"/>
          <p:cNvSpPr>
            <a:spLocks noGrp="1"/>
          </p:cNvSpPr>
          <p:nvPr>
            <p:ph idx="1"/>
          </p:nvPr>
        </p:nvSpPr>
        <p:spPr>
          <a:xfrm>
            <a:off x="116844" y="1085851"/>
            <a:ext cx="10539787" cy="3640895"/>
          </a:xfrm>
        </p:spPr>
        <p:txBody>
          <a:bodyPr/>
          <a:lstStyle/>
          <a:p>
            <a:pPr marL="342900" indent="-342900">
              <a:buFont typeface="+mj-lt"/>
              <a:buAutoNum type="arabicPeriod" startAt="7"/>
            </a:pPr>
            <a:r>
              <a:rPr lang="en-US" dirty="0"/>
              <a:t>For each transaction t in database D do</a:t>
            </a:r>
          </a:p>
          <a:p>
            <a:pPr marL="342900" indent="-342900">
              <a:buFont typeface="+mj-lt"/>
              <a:buAutoNum type="arabicPeriod" startAt="7"/>
            </a:pPr>
            <a:r>
              <a:rPr lang="en-US" dirty="0"/>
              <a:t>Increment the counts of</a:t>
            </a:r>
            <a:r>
              <a:rPr lang="en-IN" dirty="0"/>
              <a:t> C</a:t>
            </a:r>
            <a:r>
              <a:rPr lang="en-IN" baseline="-25000" dirty="0"/>
              <a:t>K </a:t>
            </a:r>
            <a:r>
              <a:rPr lang="en-US" dirty="0"/>
              <a:t>contained in t</a:t>
            </a:r>
          </a:p>
          <a:p>
            <a:pPr marL="342900" indent="-342900">
              <a:buFont typeface="+mj-lt"/>
              <a:buAutoNum type="arabicPeriod" startAt="7"/>
            </a:pPr>
            <a:r>
              <a:rPr lang="en-IN" dirty="0"/>
              <a:t>L</a:t>
            </a:r>
            <a:r>
              <a:rPr lang="en-IN" baseline="-25000" dirty="0"/>
              <a:t>K</a:t>
            </a:r>
            <a:r>
              <a:rPr lang="en-US" dirty="0"/>
              <a:t>            candidates in </a:t>
            </a:r>
            <a:r>
              <a:rPr lang="en-IN" dirty="0"/>
              <a:t>C</a:t>
            </a:r>
            <a:r>
              <a:rPr lang="en-IN" baseline="-25000" dirty="0"/>
              <a:t>K</a:t>
            </a:r>
            <a:r>
              <a:rPr lang="en-US" dirty="0"/>
              <a:t> that satisfy minimum support </a:t>
            </a:r>
          </a:p>
          <a:p>
            <a:pPr marL="342900" indent="-342900">
              <a:buFont typeface="+mj-lt"/>
              <a:buAutoNum type="arabicPeriod" startAt="7"/>
            </a:pPr>
            <a:r>
              <a:rPr lang="en-US" dirty="0"/>
              <a:t>K              k+1</a:t>
            </a:r>
          </a:p>
          <a:p>
            <a:pPr marL="342900" indent="-342900">
              <a:buFont typeface="+mj-lt"/>
              <a:buAutoNum type="arabicPeriod" startAt="7"/>
            </a:pPr>
            <a:r>
              <a:rPr lang="en-US" dirty="0"/>
              <a:t>Return </a:t>
            </a:r>
            <a:r>
              <a:rPr lang="en-IN" dirty="0" err="1"/>
              <a:t>U</a:t>
            </a:r>
            <a:r>
              <a:rPr lang="en-IN" baseline="-25000" dirty="0" err="1"/>
              <a:t>k</a:t>
            </a:r>
            <a:r>
              <a:rPr lang="en-IN" dirty="0" err="1"/>
              <a:t>L</a:t>
            </a:r>
            <a:r>
              <a:rPr lang="en-IN" baseline="-25000" dirty="0" err="1"/>
              <a:t>k</a:t>
            </a:r>
            <a:endParaRPr lang="en-IN" dirty="0"/>
          </a:p>
          <a:p>
            <a:pPr>
              <a:buFont typeface="Wingdings" panose="05000000000000000000" pitchFamily="2" charset="2"/>
              <a:buChar char="v"/>
            </a:pPr>
            <a:r>
              <a:rPr lang="en-US" dirty="0"/>
              <a:t> The first step is to identify frequent itemsets that meet the predefined minimum support threshold </a:t>
            </a:r>
            <a:r>
              <a:rPr lang="en-IN" dirty="0"/>
              <a:t>δ. These itemsets are 1-itemsets denoted as L</a:t>
            </a:r>
            <a:r>
              <a:rPr lang="en-IN" baseline="-25000" dirty="0"/>
              <a:t>1</a:t>
            </a:r>
            <a:r>
              <a:rPr lang="en-IN" dirty="0"/>
              <a:t>, as each 1-itemset contains only one item.</a:t>
            </a:r>
            <a:r>
              <a:rPr lang="en-US" dirty="0"/>
              <a:t> </a:t>
            </a:r>
          </a:p>
          <a:p>
            <a:pPr>
              <a:buFont typeface="Wingdings" panose="05000000000000000000" pitchFamily="2" charset="2"/>
              <a:buChar char="v"/>
            </a:pPr>
            <a:r>
              <a:rPr lang="en-US" dirty="0"/>
              <a:t> Next, the algorithm grows the itemsets by joining </a:t>
            </a:r>
            <a:r>
              <a:rPr lang="en-IN" dirty="0"/>
              <a:t>L</a:t>
            </a:r>
            <a:r>
              <a:rPr lang="en-IN" baseline="-25000" dirty="0"/>
              <a:t>1</a:t>
            </a:r>
            <a:r>
              <a:rPr lang="en-US" dirty="0"/>
              <a:t> onto itself to form new, grown 2-itemsets denoted as L and determines the support in each 2 itemsets in </a:t>
            </a:r>
            <a:r>
              <a:rPr lang="en-IN" dirty="0"/>
              <a:t>L</a:t>
            </a:r>
            <a:r>
              <a:rPr lang="en-IN" baseline="-25000" dirty="0"/>
              <a:t>2</a:t>
            </a:r>
            <a:r>
              <a:rPr lang="en-US" dirty="0"/>
              <a:t>. Those itemsets that do not meet minimum support threshold </a:t>
            </a:r>
            <a:r>
              <a:rPr lang="en-IN" dirty="0"/>
              <a:t>δ are pruned away.</a:t>
            </a:r>
          </a:p>
          <a:p>
            <a:pPr>
              <a:buFont typeface="Wingdings" panose="05000000000000000000" pitchFamily="2" charset="2"/>
              <a:buChar char="v"/>
            </a:pPr>
            <a:r>
              <a:rPr lang="en-US" dirty="0"/>
              <a:t> </a:t>
            </a:r>
            <a:r>
              <a:rPr lang="en-IN" dirty="0"/>
              <a:t>Once completed, the output of algorithm is the collection all the frequent k-itemsets.</a:t>
            </a:r>
          </a:p>
          <a:p>
            <a:pPr marL="0" indent="0">
              <a:buNone/>
            </a:pPr>
            <a:endParaRPr lang="en-IN" dirty="0"/>
          </a:p>
        </p:txBody>
      </p:sp>
      <p:sp>
        <p:nvSpPr>
          <p:cNvPr id="4" name="Footer Placeholder 3"/>
          <p:cNvSpPr>
            <a:spLocks noGrp="1"/>
          </p:cNvSpPr>
          <p:nvPr>
            <p:ph type="ftr" sz="quarter" idx="4294967295"/>
          </p:nvPr>
        </p:nvSpPr>
        <p:spPr>
          <a:xfrm>
            <a:off x="2421365" y="4844649"/>
            <a:ext cx="7072894" cy="273844"/>
          </a:xfrm>
          <a:prstGeom prst="rect">
            <a:avLst/>
          </a:prstGeom>
        </p:spPr>
        <p:txBody>
          <a:bodyPr lIns="68580" tIns="34290" rIns="68580" bIns="34290"/>
          <a:lstStyle/>
          <a:p>
            <a:endParaRPr lang="en-US" dirty="0">
              <a:solidFill>
                <a:srgbClr val="242852">
                  <a:lumMod val="50000"/>
                </a:srgbClr>
              </a:solidFill>
            </a:endParaRPr>
          </a:p>
        </p:txBody>
      </p:sp>
      <p:cxnSp>
        <p:nvCxnSpPr>
          <p:cNvPr id="5" name="Straight Arrow Connector 4"/>
          <p:cNvCxnSpPr>
            <a:cxnSpLocks/>
          </p:cNvCxnSpPr>
          <p:nvPr/>
        </p:nvCxnSpPr>
        <p:spPr>
          <a:xfrm flipH="1">
            <a:off x="847492" y="1909694"/>
            <a:ext cx="2367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a:cxnSpLocks/>
          </p:cNvCxnSpPr>
          <p:nvPr/>
        </p:nvCxnSpPr>
        <p:spPr>
          <a:xfrm flipH="1">
            <a:off x="847492" y="2226217"/>
            <a:ext cx="2367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3859984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US" dirty="0"/>
          </a:p>
        </p:txBody>
      </p:sp>
      <p:graphicFrame>
        <p:nvGraphicFramePr>
          <p:cNvPr id="6" name="Content Placeholder 5"/>
          <p:cNvGraphicFramePr>
            <a:graphicFrameLocks noGrp="1"/>
          </p:cNvGraphicFramePr>
          <p:nvPr>
            <p:ph idx="1"/>
          </p:nvPr>
        </p:nvGraphicFramePr>
        <p:xfrm>
          <a:off x="223520" y="1056639"/>
          <a:ext cx="4084320" cy="3726816"/>
        </p:xfrm>
        <a:graphic>
          <a:graphicData uri="http://schemas.openxmlformats.org/drawingml/2006/table">
            <a:tbl>
              <a:tblPr firstRow="1" bandRow="1">
                <a:tableStyleId>{1E5458E1-0376-4910-A6E8-49B6F46B1678}</a:tableStyleId>
              </a:tblPr>
              <a:tblGrid>
                <a:gridCol w="478648"/>
                <a:gridCol w="717972"/>
                <a:gridCol w="930706"/>
                <a:gridCol w="890194"/>
                <a:gridCol w="1066800"/>
              </a:tblGrid>
              <a:tr h="310568">
                <a:tc>
                  <a:txBody>
                    <a:bodyPr/>
                    <a:lstStyle/>
                    <a:p>
                      <a:r>
                        <a:rPr lang="en-IN" dirty="0" smtClean="0"/>
                        <a:t>1</a:t>
                      </a:r>
                      <a:endParaRPr lang="en-US" dirty="0"/>
                    </a:p>
                  </a:txBody>
                  <a:tcPr/>
                </a:tc>
                <a:tc>
                  <a:txBody>
                    <a:bodyPr/>
                    <a:lstStyle/>
                    <a:p>
                      <a:r>
                        <a:rPr lang="en-IN" dirty="0" smtClean="0"/>
                        <a:t>Milk </a:t>
                      </a:r>
                      <a:endParaRPr lang="en-US" dirty="0"/>
                    </a:p>
                  </a:txBody>
                  <a:tcPr/>
                </a:tc>
                <a:tc>
                  <a:txBody>
                    <a:bodyPr/>
                    <a:lstStyle/>
                    <a:p>
                      <a:r>
                        <a:rPr lang="en-IN" dirty="0" smtClean="0"/>
                        <a:t>Egg</a:t>
                      </a:r>
                      <a:endParaRPr lang="en-US" dirty="0"/>
                    </a:p>
                  </a:txBody>
                  <a:tcPr/>
                </a:tc>
                <a:tc>
                  <a:txBody>
                    <a:bodyPr/>
                    <a:lstStyle/>
                    <a:p>
                      <a:r>
                        <a:rPr lang="en-IN" dirty="0" smtClean="0"/>
                        <a:t>Bread</a:t>
                      </a:r>
                      <a:endParaRPr lang="en-US" dirty="0"/>
                    </a:p>
                  </a:txBody>
                  <a:tcPr/>
                </a:tc>
                <a:tc>
                  <a:txBody>
                    <a:bodyPr/>
                    <a:lstStyle/>
                    <a:p>
                      <a:endParaRPr lang="en-US"/>
                    </a:p>
                  </a:txBody>
                  <a:tcPr/>
                </a:tc>
              </a:tr>
              <a:tr h="310568">
                <a:tc>
                  <a:txBody>
                    <a:bodyPr/>
                    <a:lstStyle/>
                    <a:p>
                      <a:r>
                        <a:rPr lang="en-IN" dirty="0" smtClean="0"/>
                        <a:t>2</a:t>
                      </a:r>
                      <a:endParaRPr lang="en-US" dirty="0"/>
                    </a:p>
                  </a:txBody>
                  <a:tcPr/>
                </a:tc>
                <a:tc>
                  <a:txBody>
                    <a:bodyPr/>
                    <a:lstStyle/>
                    <a:p>
                      <a:r>
                        <a:rPr lang="en-IN" dirty="0" smtClean="0"/>
                        <a:t>Milk</a:t>
                      </a:r>
                      <a:endParaRPr lang="en-US" dirty="0"/>
                    </a:p>
                  </a:txBody>
                  <a:tcPr/>
                </a:tc>
                <a:tc>
                  <a:txBody>
                    <a:bodyPr/>
                    <a:lstStyle/>
                    <a:p>
                      <a:r>
                        <a:rPr lang="en-IN" dirty="0" smtClean="0"/>
                        <a:t>Butter</a:t>
                      </a:r>
                      <a:endParaRPr lang="en-US" dirty="0"/>
                    </a:p>
                  </a:txBody>
                  <a:tcPr/>
                </a:tc>
                <a:tc>
                  <a:txBody>
                    <a:bodyPr/>
                    <a:lstStyle/>
                    <a:p>
                      <a:r>
                        <a:rPr lang="en-IN" dirty="0" smtClean="0"/>
                        <a:t>Egg</a:t>
                      </a:r>
                      <a:endParaRPr lang="en-US" dirty="0"/>
                    </a:p>
                  </a:txBody>
                  <a:tcP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IN" dirty="0" smtClean="0"/>
                        <a:t>Ketchup</a:t>
                      </a:r>
                      <a:endParaRPr lang="en-US" dirty="0" smtClean="0"/>
                    </a:p>
                  </a:txBody>
                  <a:tcPr/>
                </a:tc>
              </a:tr>
              <a:tr h="310568">
                <a:tc>
                  <a:txBody>
                    <a:bodyPr/>
                    <a:lstStyle/>
                    <a:p>
                      <a:r>
                        <a:rPr lang="en-IN" dirty="0" smtClean="0"/>
                        <a:t>3</a:t>
                      </a:r>
                      <a:endParaRPr lang="en-US" dirty="0"/>
                    </a:p>
                  </a:txBody>
                  <a:tcPr/>
                </a:tc>
                <a:tc>
                  <a:txBody>
                    <a:bodyPr/>
                    <a:lstStyle/>
                    <a:p>
                      <a:r>
                        <a:rPr lang="en-IN" dirty="0" smtClean="0"/>
                        <a:t>Bread</a:t>
                      </a:r>
                      <a:endParaRPr lang="en-US" dirty="0"/>
                    </a:p>
                  </a:txBody>
                  <a:tcPr/>
                </a:tc>
                <a:tc>
                  <a:txBody>
                    <a:bodyPr/>
                    <a:lstStyle/>
                    <a:p>
                      <a:r>
                        <a:rPr lang="en-IN" dirty="0" smtClean="0"/>
                        <a:t>Butter</a:t>
                      </a:r>
                      <a:endParaRPr lang="en-US" dirty="0"/>
                    </a:p>
                  </a:txBody>
                  <a:tcPr/>
                </a:tc>
                <a:tc>
                  <a:txBody>
                    <a:bodyPr/>
                    <a:lstStyle/>
                    <a:p>
                      <a:r>
                        <a:rPr lang="en-IN" dirty="0" smtClean="0"/>
                        <a:t>Ketchup</a:t>
                      </a:r>
                      <a:endParaRPr lang="en-US" dirty="0"/>
                    </a:p>
                  </a:txBody>
                  <a:tcPr/>
                </a:tc>
                <a:tc>
                  <a:txBody>
                    <a:bodyPr/>
                    <a:lstStyle/>
                    <a:p>
                      <a:endParaRPr lang="en-US" dirty="0"/>
                    </a:p>
                  </a:txBody>
                  <a:tcPr/>
                </a:tc>
              </a:tr>
              <a:tr h="310568">
                <a:tc>
                  <a:txBody>
                    <a:bodyPr/>
                    <a:lstStyle/>
                    <a:p>
                      <a:r>
                        <a:rPr lang="en-IN" dirty="0" smtClean="0"/>
                        <a:t>4</a:t>
                      </a:r>
                      <a:endParaRPr lang="en-US" dirty="0"/>
                    </a:p>
                  </a:txBody>
                  <a:tcPr/>
                </a:tc>
                <a:tc>
                  <a:txBody>
                    <a:bodyPr/>
                    <a:lstStyle/>
                    <a:p>
                      <a:r>
                        <a:rPr lang="en-IN" dirty="0" smtClean="0"/>
                        <a:t>Milk </a:t>
                      </a:r>
                      <a:endParaRPr lang="en-US" dirty="0"/>
                    </a:p>
                  </a:txBody>
                  <a:tcPr/>
                </a:tc>
                <a:tc>
                  <a:txBody>
                    <a:bodyPr/>
                    <a:lstStyle/>
                    <a:p>
                      <a:r>
                        <a:rPr lang="en-IN" dirty="0" smtClean="0"/>
                        <a:t>Bread</a:t>
                      </a:r>
                      <a:endParaRPr lang="en-US" dirty="0"/>
                    </a:p>
                  </a:txBody>
                  <a:tcPr/>
                </a:tc>
                <a:tc>
                  <a:txBody>
                    <a:bodyPr/>
                    <a:lstStyle/>
                    <a:p>
                      <a:r>
                        <a:rPr lang="en-IN" dirty="0" smtClean="0"/>
                        <a:t>Butter</a:t>
                      </a:r>
                      <a:endParaRPr lang="en-US" dirty="0"/>
                    </a:p>
                  </a:txBody>
                  <a:tcPr/>
                </a:tc>
                <a:tc>
                  <a:txBody>
                    <a:bodyPr/>
                    <a:lstStyle/>
                    <a:p>
                      <a:endParaRPr lang="en-US"/>
                    </a:p>
                  </a:txBody>
                  <a:tcPr/>
                </a:tc>
              </a:tr>
              <a:tr h="310568">
                <a:tc>
                  <a:txBody>
                    <a:bodyPr/>
                    <a:lstStyle/>
                    <a:p>
                      <a:r>
                        <a:rPr lang="en-IN" dirty="0" smtClean="0"/>
                        <a:t>5</a:t>
                      </a:r>
                      <a:endParaRPr lang="en-US" dirty="0"/>
                    </a:p>
                  </a:txBody>
                  <a:tcPr/>
                </a:tc>
                <a:tc>
                  <a:txBody>
                    <a:bodyPr/>
                    <a:lstStyle/>
                    <a:p>
                      <a:r>
                        <a:rPr lang="en-IN" dirty="0" smtClean="0"/>
                        <a:t>Bread</a:t>
                      </a:r>
                      <a:endParaRPr lang="en-US" dirty="0"/>
                    </a:p>
                  </a:txBody>
                  <a:tcPr/>
                </a:tc>
                <a:tc>
                  <a:txBody>
                    <a:bodyPr/>
                    <a:lstStyle/>
                    <a:p>
                      <a:r>
                        <a:rPr lang="en-IN" dirty="0" smtClean="0"/>
                        <a:t>Butter</a:t>
                      </a:r>
                      <a:endParaRPr lang="en-US" dirty="0"/>
                    </a:p>
                  </a:txBody>
                  <a:tcPr/>
                </a:tc>
                <a:tc>
                  <a:txBody>
                    <a:bodyPr/>
                    <a:lstStyle/>
                    <a:p>
                      <a:r>
                        <a:rPr lang="en-IN" dirty="0" smtClean="0"/>
                        <a:t>Cookies</a:t>
                      </a:r>
                      <a:endParaRPr lang="en-US" dirty="0"/>
                    </a:p>
                  </a:txBody>
                  <a:tcPr/>
                </a:tc>
                <a:tc>
                  <a:txBody>
                    <a:bodyPr/>
                    <a:lstStyle/>
                    <a:p>
                      <a:endParaRPr lang="en-US"/>
                    </a:p>
                  </a:txBody>
                  <a:tcPr/>
                </a:tc>
              </a:tr>
              <a:tr h="310568">
                <a:tc>
                  <a:txBody>
                    <a:bodyPr/>
                    <a:lstStyle/>
                    <a:p>
                      <a:r>
                        <a:rPr lang="en-IN" dirty="0" smtClean="0"/>
                        <a:t>6</a:t>
                      </a:r>
                      <a:endParaRPr lang="en-US" dirty="0"/>
                    </a:p>
                  </a:txBody>
                  <a:tcPr/>
                </a:tc>
                <a:tc>
                  <a:txBody>
                    <a:bodyPr/>
                    <a:lstStyle/>
                    <a:p>
                      <a:r>
                        <a:rPr lang="en-IN" dirty="0" smtClean="0"/>
                        <a:t>Milk</a:t>
                      </a:r>
                      <a:endParaRPr lang="en-US" dirty="0"/>
                    </a:p>
                  </a:txBody>
                  <a:tcPr/>
                </a:tc>
                <a:tc>
                  <a:txBody>
                    <a:bodyPr/>
                    <a:lstStyle/>
                    <a:p>
                      <a:r>
                        <a:rPr lang="en-IN" dirty="0" smtClean="0"/>
                        <a:t>Bread</a:t>
                      </a:r>
                      <a:endParaRPr lang="en-US" dirty="0"/>
                    </a:p>
                  </a:txBody>
                  <a:tcPr/>
                </a:tc>
                <a:tc>
                  <a:txBody>
                    <a:bodyPr/>
                    <a:lstStyle/>
                    <a:p>
                      <a:r>
                        <a:rPr lang="en-IN" dirty="0" smtClean="0"/>
                        <a:t>Butter</a:t>
                      </a:r>
                      <a:endParaRPr lang="en-US" dirty="0"/>
                    </a:p>
                  </a:txBody>
                  <a:tcPr/>
                </a:tc>
                <a:tc>
                  <a:txBody>
                    <a:bodyPr/>
                    <a:lstStyle/>
                    <a:p>
                      <a:r>
                        <a:rPr lang="en-IN" dirty="0" smtClean="0"/>
                        <a:t>Cookies</a:t>
                      </a:r>
                      <a:endParaRPr lang="en-US" dirty="0"/>
                    </a:p>
                  </a:txBody>
                  <a:tcPr/>
                </a:tc>
              </a:tr>
              <a:tr h="310568">
                <a:tc>
                  <a:txBody>
                    <a:bodyPr/>
                    <a:lstStyle/>
                    <a:p>
                      <a:r>
                        <a:rPr lang="en-IN" dirty="0" smtClean="0"/>
                        <a:t>7</a:t>
                      </a:r>
                      <a:endParaRPr lang="en-US" dirty="0"/>
                    </a:p>
                  </a:txBody>
                  <a:tcPr/>
                </a:tc>
                <a:tc>
                  <a:txBody>
                    <a:bodyPr/>
                    <a:lstStyle/>
                    <a:p>
                      <a:r>
                        <a:rPr lang="en-IN" dirty="0" smtClean="0"/>
                        <a:t>Milk</a:t>
                      </a:r>
                      <a:endParaRPr lang="en-US" dirty="0"/>
                    </a:p>
                  </a:txBody>
                  <a:tcPr/>
                </a:tc>
                <a:tc>
                  <a:txBody>
                    <a:bodyPr/>
                    <a:lstStyle/>
                    <a:p>
                      <a:r>
                        <a:rPr lang="en-IN" dirty="0" smtClean="0"/>
                        <a:t>Cookies</a:t>
                      </a:r>
                      <a:endParaRPr lang="en-US" dirty="0"/>
                    </a:p>
                  </a:txBody>
                  <a:tcPr/>
                </a:tc>
                <a:tc>
                  <a:txBody>
                    <a:bodyPr/>
                    <a:lstStyle/>
                    <a:p>
                      <a:endParaRPr lang="en-US" dirty="0"/>
                    </a:p>
                  </a:txBody>
                  <a:tcPr/>
                </a:tc>
                <a:tc>
                  <a:txBody>
                    <a:bodyPr/>
                    <a:lstStyle/>
                    <a:p>
                      <a:endParaRPr lang="en-US"/>
                    </a:p>
                  </a:txBody>
                  <a:tcPr/>
                </a:tc>
              </a:tr>
              <a:tr h="310568">
                <a:tc>
                  <a:txBody>
                    <a:bodyPr/>
                    <a:lstStyle/>
                    <a:p>
                      <a:r>
                        <a:rPr lang="en-IN" dirty="0" smtClean="0"/>
                        <a:t>8</a:t>
                      </a:r>
                      <a:endParaRPr lang="en-US" dirty="0"/>
                    </a:p>
                  </a:txBody>
                  <a:tcPr/>
                </a:tc>
                <a:tc>
                  <a:txBody>
                    <a:bodyPr/>
                    <a:lstStyle/>
                    <a:p>
                      <a:r>
                        <a:rPr lang="en-IN" dirty="0" smtClean="0"/>
                        <a:t>Milk</a:t>
                      </a:r>
                      <a:endParaRPr lang="en-US" dirty="0"/>
                    </a:p>
                  </a:txBody>
                  <a:tcPr/>
                </a:tc>
                <a:tc>
                  <a:txBody>
                    <a:bodyPr/>
                    <a:lstStyle/>
                    <a:p>
                      <a:r>
                        <a:rPr lang="en-IN" dirty="0" smtClean="0"/>
                        <a:t>Bread</a:t>
                      </a:r>
                      <a:endParaRPr lang="en-US" dirty="0"/>
                    </a:p>
                  </a:txBody>
                  <a:tcPr/>
                </a:tc>
                <a:tc>
                  <a:txBody>
                    <a:bodyPr/>
                    <a:lstStyle/>
                    <a:p>
                      <a:r>
                        <a:rPr lang="en-IN" dirty="0" smtClean="0"/>
                        <a:t>Butter</a:t>
                      </a:r>
                      <a:endParaRPr lang="en-US" dirty="0"/>
                    </a:p>
                  </a:txBody>
                  <a:tcPr/>
                </a:tc>
                <a:tc>
                  <a:txBody>
                    <a:bodyPr/>
                    <a:lstStyle/>
                    <a:p>
                      <a:endParaRPr lang="en-US"/>
                    </a:p>
                  </a:txBody>
                  <a:tcPr/>
                </a:tc>
              </a:tr>
              <a:tr h="310568">
                <a:tc>
                  <a:txBody>
                    <a:bodyPr/>
                    <a:lstStyle/>
                    <a:p>
                      <a:r>
                        <a:rPr lang="en-IN" dirty="0" smtClean="0"/>
                        <a:t>9</a:t>
                      </a:r>
                      <a:endParaRPr lang="en-US" dirty="0"/>
                    </a:p>
                  </a:txBody>
                  <a:tcPr/>
                </a:tc>
                <a:tc>
                  <a:txBody>
                    <a:bodyPr/>
                    <a:lstStyle/>
                    <a:p>
                      <a:r>
                        <a:rPr lang="en-IN" dirty="0" smtClean="0"/>
                        <a:t>Bread</a:t>
                      </a:r>
                      <a:endParaRPr lang="en-US" dirty="0"/>
                    </a:p>
                  </a:txBody>
                  <a:tcPr/>
                </a:tc>
                <a:tc>
                  <a:txBody>
                    <a:bodyPr/>
                    <a:lstStyle/>
                    <a:p>
                      <a:r>
                        <a:rPr lang="en-IN" dirty="0" smtClean="0"/>
                        <a:t>Butter</a:t>
                      </a:r>
                      <a:endParaRPr lang="en-US" dirty="0"/>
                    </a:p>
                  </a:txBody>
                  <a:tcPr/>
                </a:tc>
                <a:tc>
                  <a:txBody>
                    <a:bodyPr/>
                    <a:lstStyle/>
                    <a:p>
                      <a:r>
                        <a:rPr lang="en-IN" dirty="0" smtClean="0"/>
                        <a:t>Egg</a:t>
                      </a:r>
                      <a:endParaRPr lang="en-US" dirty="0"/>
                    </a:p>
                  </a:txBody>
                  <a:tcPr/>
                </a:tc>
                <a:tc>
                  <a:txBody>
                    <a:bodyPr/>
                    <a:lstStyle/>
                    <a:p>
                      <a:r>
                        <a:rPr lang="en-IN" dirty="0" smtClean="0"/>
                        <a:t>Cookies</a:t>
                      </a:r>
                      <a:endParaRPr lang="en-US" dirty="0"/>
                    </a:p>
                  </a:txBody>
                  <a:tcPr/>
                </a:tc>
              </a:tr>
              <a:tr h="310568">
                <a:tc>
                  <a:txBody>
                    <a:bodyPr/>
                    <a:lstStyle/>
                    <a:p>
                      <a:r>
                        <a:rPr lang="en-IN" dirty="0" smtClean="0"/>
                        <a:t>10</a:t>
                      </a:r>
                      <a:endParaRPr lang="en-US" dirty="0"/>
                    </a:p>
                  </a:txBody>
                  <a:tcPr/>
                </a:tc>
                <a:tc>
                  <a:txBody>
                    <a:bodyPr/>
                    <a:lstStyle/>
                    <a:p>
                      <a:r>
                        <a:rPr lang="en-IN" dirty="0" smtClean="0"/>
                        <a:t>Milk</a:t>
                      </a:r>
                      <a:endParaRPr lang="en-US" dirty="0"/>
                    </a:p>
                  </a:txBody>
                  <a:tcPr/>
                </a:tc>
                <a:tc>
                  <a:txBody>
                    <a:bodyPr/>
                    <a:lstStyle/>
                    <a:p>
                      <a:r>
                        <a:rPr lang="en-IN" dirty="0" smtClean="0"/>
                        <a:t>Butter</a:t>
                      </a:r>
                      <a:endParaRPr lang="en-US" dirty="0"/>
                    </a:p>
                  </a:txBody>
                  <a:tcPr/>
                </a:tc>
                <a:tc>
                  <a:txBody>
                    <a:bodyPr/>
                    <a:lstStyle/>
                    <a:p>
                      <a:r>
                        <a:rPr lang="en-IN" dirty="0" smtClean="0"/>
                        <a:t>Bread</a:t>
                      </a:r>
                      <a:endParaRPr lang="en-US" dirty="0"/>
                    </a:p>
                  </a:txBody>
                  <a:tcPr/>
                </a:tc>
                <a:tc>
                  <a:txBody>
                    <a:bodyPr/>
                    <a:lstStyle/>
                    <a:p>
                      <a:endParaRPr lang="en-US"/>
                    </a:p>
                  </a:txBody>
                  <a:tcPr/>
                </a:tc>
              </a:tr>
              <a:tr h="310568">
                <a:tc>
                  <a:txBody>
                    <a:bodyPr/>
                    <a:lstStyle/>
                    <a:p>
                      <a:r>
                        <a:rPr lang="en-IN" dirty="0" smtClean="0"/>
                        <a:t>11</a:t>
                      </a:r>
                      <a:endParaRPr lang="en-US" dirty="0"/>
                    </a:p>
                  </a:txBody>
                  <a:tcPr/>
                </a:tc>
                <a:tc>
                  <a:txBody>
                    <a:bodyPr/>
                    <a:lstStyle/>
                    <a:p>
                      <a:r>
                        <a:rPr lang="en-IN" dirty="0" smtClean="0"/>
                        <a:t>Milk</a:t>
                      </a:r>
                      <a:endParaRPr lang="en-US" dirty="0"/>
                    </a:p>
                  </a:txBody>
                  <a:tcPr/>
                </a:tc>
                <a:tc>
                  <a:txBody>
                    <a:bodyPr/>
                    <a:lstStyle/>
                    <a:p>
                      <a:r>
                        <a:rPr lang="en-IN" dirty="0" smtClean="0"/>
                        <a:t>Bread</a:t>
                      </a:r>
                      <a:endParaRPr lang="en-US" dirty="0"/>
                    </a:p>
                  </a:txBody>
                  <a:tcPr/>
                </a:tc>
                <a:tc>
                  <a:txBody>
                    <a:bodyPr/>
                    <a:lstStyle/>
                    <a:p>
                      <a:r>
                        <a:rPr lang="en-IN" dirty="0" smtClean="0"/>
                        <a:t>Butter</a:t>
                      </a:r>
                      <a:endParaRPr lang="en-US" dirty="0"/>
                    </a:p>
                  </a:txBody>
                  <a:tcPr/>
                </a:tc>
                <a:tc>
                  <a:txBody>
                    <a:bodyPr/>
                    <a:lstStyle/>
                    <a:p>
                      <a:endParaRPr lang="en-US"/>
                    </a:p>
                  </a:txBody>
                  <a:tcPr/>
                </a:tc>
              </a:tr>
              <a:tr h="310568">
                <a:tc>
                  <a:txBody>
                    <a:bodyPr/>
                    <a:lstStyle/>
                    <a:p>
                      <a:r>
                        <a:rPr lang="en-IN" dirty="0" smtClean="0"/>
                        <a:t>12</a:t>
                      </a:r>
                      <a:endParaRPr lang="en-US" dirty="0"/>
                    </a:p>
                  </a:txBody>
                  <a:tcPr/>
                </a:tc>
                <a:tc>
                  <a:txBody>
                    <a:bodyPr/>
                    <a:lstStyle/>
                    <a:p>
                      <a:r>
                        <a:rPr lang="en-IN" dirty="0" smtClean="0"/>
                        <a:t>milk</a:t>
                      </a:r>
                      <a:endParaRPr lang="en-US" dirty="0"/>
                    </a:p>
                  </a:txBody>
                  <a:tcPr/>
                </a:tc>
                <a:tc>
                  <a:txBody>
                    <a:bodyPr/>
                    <a:lstStyle/>
                    <a:p>
                      <a:r>
                        <a:rPr lang="en-IN" dirty="0" smtClean="0"/>
                        <a:t>Bread </a:t>
                      </a:r>
                      <a:endParaRPr lang="en-US" dirty="0"/>
                    </a:p>
                  </a:txBody>
                  <a:tcPr/>
                </a:tc>
                <a:tc>
                  <a:txBody>
                    <a:bodyPr/>
                    <a:lstStyle/>
                    <a:p>
                      <a:r>
                        <a:rPr lang="en-IN" dirty="0" smtClean="0"/>
                        <a:t>Cookies</a:t>
                      </a:r>
                      <a:endParaRPr lang="en-US" dirty="0"/>
                    </a:p>
                  </a:txBody>
                  <a:tcPr/>
                </a:tc>
                <a:tc>
                  <a:txBody>
                    <a:bodyPr/>
                    <a:lstStyle/>
                    <a:p>
                      <a:r>
                        <a:rPr lang="en-IN" dirty="0" smtClean="0"/>
                        <a:t>Ketchup</a:t>
                      </a:r>
                      <a:endParaRPr lang="en-US" dirty="0"/>
                    </a:p>
                  </a:txBody>
                  <a:tcPr/>
                </a:tc>
              </a:tr>
            </a:tbl>
          </a:graphicData>
        </a:graphic>
      </p:graphicFrame>
      <p:sp>
        <p:nvSpPr>
          <p:cNvPr id="4" name="Date Placeholder 3"/>
          <p:cNvSpPr>
            <a:spLocks noGrp="1"/>
          </p:cNvSpPr>
          <p:nvPr>
            <p:ph type="dt" sz="half" idx="10"/>
          </p:nvPr>
        </p:nvSpPr>
        <p:spPr/>
        <p:txBody>
          <a:bodyPr/>
          <a:lstStyle/>
          <a:p>
            <a:fld id="{136C72BE-1EB1-4D3D-82B3-E7DC2624987E}" type="datetime1">
              <a:rPr lang="en-US" smtClean="0"/>
              <a:pPr/>
              <a:t>9/12/2022</a:t>
            </a:fld>
            <a:endParaRPr lang="en-US"/>
          </a:p>
        </p:txBody>
      </p:sp>
      <p:sp>
        <p:nvSpPr>
          <p:cNvPr id="5" name="Slide Number Placeholder 4"/>
          <p:cNvSpPr>
            <a:spLocks noGrp="1"/>
          </p:cNvSpPr>
          <p:nvPr>
            <p:ph type="sldNum" sz="quarter" idx="4"/>
          </p:nvPr>
        </p:nvSpPr>
        <p:spPr/>
        <p:txBody>
          <a:bodyPr/>
          <a:lstStyle/>
          <a:p>
            <a:r>
              <a:rPr lang="en-US" smtClean="0"/>
              <a:t>Slide no. </a:t>
            </a:r>
            <a:fld id="{7240F3D1-AE27-48C7-9FC9-EF8542F23A88}" type="slidenum">
              <a:rPr lang="en-US" smtClean="0"/>
              <a:pPr/>
              <a:t>12</a:t>
            </a:fld>
            <a:endParaRPr lang="en-US" dirty="0"/>
          </a:p>
        </p:txBody>
      </p:sp>
      <p:sp>
        <p:nvSpPr>
          <p:cNvPr id="7" name="TextBox 6"/>
          <p:cNvSpPr txBox="1"/>
          <p:nvPr/>
        </p:nvSpPr>
        <p:spPr>
          <a:xfrm>
            <a:off x="4739148" y="1091381"/>
            <a:ext cx="5211097" cy="3970318"/>
          </a:xfrm>
          <a:prstGeom prst="rect">
            <a:avLst/>
          </a:prstGeom>
          <a:noFill/>
        </p:spPr>
        <p:txBody>
          <a:bodyPr wrap="square" rtlCol="0">
            <a:spAutoFit/>
          </a:bodyPr>
          <a:lstStyle/>
          <a:p>
            <a:r>
              <a:rPr lang="en-IN" dirty="0" smtClean="0"/>
              <a:t>Rule: </a:t>
            </a:r>
          </a:p>
          <a:p>
            <a:endParaRPr lang="en-IN" dirty="0" smtClean="0"/>
          </a:p>
          <a:p>
            <a:r>
              <a:rPr lang="en-IN" dirty="0" smtClean="0"/>
              <a:t>X=&gt;y   </a:t>
            </a:r>
          </a:p>
          <a:p>
            <a:endParaRPr lang="en-IN" dirty="0" smtClean="0"/>
          </a:p>
          <a:p>
            <a:r>
              <a:rPr lang="en-IN" dirty="0" smtClean="0"/>
              <a:t>If </a:t>
            </a:r>
          </a:p>
          <a:p>
            <a:endParaRPr lang="en-IN" dirty="0" smtClean="0"/>
          </a:p>
          <a:p>
            <a:r>
              <a:rPr lang="en-IN" dirty="0" smtClean="0"/>
              <a:t>Support =Freq(X,Y)/N</a:t>
            </a:r>
          </a:p>
          <a:p>
            <a:endParaRPr lang="en-IN" dirty="0" smtClean="0"/>
          </a:p>
          <a:p>
            <a:r>
              <a:rPr lang="en-IN" dirty="0" smtClean="0"/>
              <a:t>Confidence =  freq(X,Y)/freq(X)</a:t>
            </a:r>
          </a:p>
          <a:p>
            <a:endParaRPr lang="en-IN" dirty="0" smtClean="0"/>
          </a:p>
          <a:p>
            <a:endParaRPr lang="en-IN" dirty="0" smtClean="0"/>
          </a:p>
          <a:p>
            <a:r>
              <a:rPr lang="en-IN" altLang="en-US" b="1" dirty="0" smtClean="0"/>
              <a:t>Support level will be set at 33%  and confident level will be at 50%</a:t>
            </a:r>
            <a:endParaRPr lang="en-US" altLang="en-US" b="1" dirty="0" smtClean="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6" name="Content Placeholder 5"/>
          <p:cNvGraphicFramePr>
            <a:graphicFrameLocks noGrp="1"/>
          </p:cNvGraphicFramePr>
          <p:nvPr>
            <p:ph idx="1"/>
          </p:nvPr>
        </p:nvGraphicFramePr>
        <p:xfrm>
          <a:off x="182880" y="1046479"/>
          <a:ext cx="3848345" cy="2807772"/>
        </p:xfrm>
        <a:graphic>
          <a:graphicData uri="http://schemas.openxmlformats.org/drawingml/2006/table">
            <a:tbl>
              <a:tblPr firstRow="1" bandRow="1">
                <a:tableStyleId>{1E5458E1-0376-4910-A6E8-49B6F46B1678}</a:tableStyleId>
              </a:tblPr>
              <a:tblGrid>
                <a:gridCol w="769669"/>
                <a:gridCol w="769669"/>
                <a:gridCol w="769669"/>
                <a:gridCol w="769669"/>
                <a:gridCol w="769669"/>
              </a:tblGrid>
              <a:tr h="233981">
                <a:tc>
                  <a:txBody>
                    <a:bodyPr/>
                    <a:lstStyle/>
                    <a:p>
                      <a:pPr algn="l" rtl="0" fontAlgn="t"/>
                      <a:r>
                        <a:rPr lang="en-US" sz="1350" b="0" i="0" u="none" strike="noStrike" dirty="0">
                          <a:solidFill>
                            <a:srgbClr val="000000"/>
                          </a:solidFill>
                          <a:latin typeface="Gill Sans MT"/>
                        </a:rPr>
                        <a:t>1</a:t>
                      </a:r>
                    </a:p>
                  </a:txBody>
                  <a:tcPr marL="9525" marR="9525" marT="9525" marB="0"/>
                </a:tc>
                <a:tc>
                  <a:txBody>
                    <a:bodyPr/>
                    <a:lstStyle/>
                    <a:p>
                      <a:pPr algn="l" rtl="0" fontAlgn="t"/>
                      <a:r>
                        <a:rPr lang="en-US" sz="1350" b="0" i="0" u="none" strike="noStrike">
                          <a:solidFill>
                            <a:srgbClr val="000000"/>
                          </a:solidFill>
                          <a:latin typeface="Gill Sans MT"/>
                        </a:rPr>
                        <a:t>Milk  </a:t>
                      </a:r>
                    </a:p>
                  </a:txBody>
                  <a:tcPr marL="9525" marR="9525" marT="9525" marB="0"/>
                </a:tc>
                <a:tc>
                  <a:txBody>
                    <a:bodyPr/>
                    <a:lstStyle/>
                    <a:p>
                      <a:pPr algn="l" rtl="0" fontAlgn="t"/>
                      <a:r>
                        <a:rPr lang="en-US" sz="1350" b="0" i="0" u="none" strike="noStrike">
                          <a:solidFill>
                            <a:srgbClr val="000000"/>
                          </a:solidFill>
                          <a:latin typeface="Gill Sans MT"/>
                        </a:rPr>
                        <a:t>Egg </a:t>
                      </a:r>
                    </a:p>
                  </a:txBody>
                  <a:tcPr marL="9525" marR="9525" marT="9525" marB="0"/>
                </a:tc>
                <a:tc>
                  <a:txBody>
                    <a:bodyPr/>
                    <a:lstStyle/>
                    <a:p>
                      <a:pPr algn="l" rtl="0" fontAlgn="t"/>
                      <a:r>
                        <a:rPr lang="en-US" sz="1350" b="0" i="0" u="none" strike="noStrike">
                          <a:solidFill>
                            <a:srgbClr val="000000"/>
                          </a:solidFill>
                          <a:latin typeface="Gill Sans MT"/>
                        </a:rPr>
                        <a:t>Bread </a:t>
                      </a:r>
                    </a:p>
                  </a:txBody>
                  <a:tcPr marL="9525" marR="9525" marT="9525" marB="0"/>
                </a:tc>
                <a:tc>
                  <a:txBody>
                    <a:bodyPr/>
                    <a:lstStyle/>
                    <a:p>
                      <a:pPr algn="l" fontAlgn="t"/>
                      <a:r>
                        <a:rPr lang="en-US" sz="1350" b="0" i="0" u="none" strike="noStrike">
                          <a:solidFill>
                            <a:srgbClr val="000000"/>
                          </a:solidFill>
                          <a:latin typeface="Gill Sans MT"/>
                        </a:rPr>
                        <a:t> </a:t>
                      </a:r>
                    </a:p>
                  </a:txBody>
                  <a:tcPr marL="9525" marR="9525" marT="9525" marB="0"/>
                </a:tc>
              </a:tr>
              <a:tr h="233981">
                <a:tc>
                  <a:txBody>
                    <a:bodyPr/>
                    <a:lstStyle/>
                    <a:p>
                      <a:pPr algn="l" rtl="0" fontAlgn="t"/>
                      <a:r>
                        <a:rPr lang="en-US" sz="1350" b="0" i="0" u="none" strike="noStrike">
                          <a:solidFill>
                            <a:srgbClr val="000000"/>
                          </a:solidFill>
                          <a:latin typeface="Gill Sans MT"/>
                        </a:rPr>
                        <a:t>2</a:t>
                      </a:r>
                    </a:p>
                  </a:txBody>
                  <a:tcPr marL="9525" marR="9525" marT="9525" marB="0"/>
                </a:tc>
                <a:tc>
                  <a:txBody>
                    <a:bodyPr/>
                    <a:lstStyle/>
                    <a:p>
                      <a:pPr algn="l" rtl="0" fontAlgn="t"/>
                      <a:r>
                        <a:rPr lang="en-US" sz="1350" b="0" i="0" u="none" strike="noStrike">
                          <a:solidFill>
                            <a:srgbClr val="000000"/>
                          </a:solidFill>
                          <a:latin typeface="Gill Sans MT"/>
                        </a:rPr>
                        <a:t>Milk </a:t>
                      </a:r>
                    </a:p>
                  </a:txBody>
                  <a:tcPr marL="9525" marR="9525" marT="9525" marB="0"/>
                </a:tc>
                <a:tc>
                  <a:txBody>
                    <a:bodyPr/>
                    <a:lstStyle/>
                    <a:p>
                      <a:pPr algn="l" rtl="0" fontAlgn="t"/>
                      <a:r>
                        <a:rPr lang="en-US" sz="1350" b="0" i="0" u="none" strike="noStrike">
                          <a:solidFill>
                            <a:srgbClr val="000000"/>
                          </a:solidFill>
                          <a:latin typeface="Gill Sans MT"/>
                        </a:rPr>
                        <a:t>Butter </a:t>
                      </a:r>
                    </a:p>
                  </a:txBody>
                  <a:tcPr marL="9525" marR="9525" marT="9525" marB="0"/>
                </a:tc>
                <a:tc>
                  <a:txBody>
                    <a:bodyPr/>
                    <a:lstStyle/>
                    <a:p>
                      <a:pPr algn="l" rtl="0" fontAlgn="t"/>
                      <a:r>
                        <a:rPr lang="en-US" sz="1350" b="0" i="0" u="none" strike="noStrike">
                          <a:solidFill>
                            <a:srgbClr val="000000"/>
                          </a:solidFill>
                          <a:latin typeface="Gill Sans MT"/>
                        </a:rPr>
                        <a:t>Egg </a:t>
                      </a:r>
                    </a:p>
                  </a:txBody>
                  <a:tcPr marL="9525" marR="9525" marT="9525" marB="0"/>
                </a:tc>
                <a:tc>
                  <a:txBody>
                    <a:bodyPr/>
                    <a:lstStyle/>
                    <a:p>
                      <a:pPr algn="l" rtl="0" fontAlgn="t"/>
                      <a:r>
                        <a:rPr lang="en-US" sz="1350" b="0" i="0" u="none" strike="noStrike">
                          <a:solidFill>
                            <a:srgbClr val="000000"/>
                          </a:solidFill>
                          <a:latin typeface="Gill Sans MT"/>
                        </a:rPr>
                        <a:t>Ketchup </a:t>
                      </a:r>
                    </a:p>
                  </a:txBody>
                  <a:tcPr marL="9525" marR="9525" marT="9525" marB="0"/>
                </a:tc>
              </a:tr>
              <a:tr h="233981">
                <a:tc>
                  <a:txBody>
                    <a:bodyPr/>
                    <a:lstStyle/>
                    <a:p>
                      <a:pPr algn="l" rtl="0" fontAlgn="t"/>
                      <a:r>
                        <a:rPr lang="en-US" sz="1350" b="0" i="0" u="none" strike="noStrike">
                          <a:solidFill>
                            <a:srgbClr val="000000"/>
                          </a:solidFill>
                          <a:latin typeface="Gill Sans MT"/>
                        </a:rPr>
                        <a:t>3</a:t>
                      </a:r>
                    </a:p>
                  </a:txBody>
                  <a:tcPr marL="9525" marR="9525" marT="9525" marB="0"/>
                </a:tc>
                <a:tc>
                  <a:txBody>
                    <a:bodyPr/>
                    <a:lstStyle/>
                    <a:p>
                      <a:pPr algn="l" rtl="0" fontAlgn="t"/>
                      <a:r>
                        <a:rPr lang="en-US" sz="1350" b="0" i="0" u="none" strike="noStrike">
                          <a:solidFill>
                            <a:srgbClr val="000000"/>
                          </a:solidFill>
                          <a:latin typeface="Gill Sans MT"/>
                        </a:rPr>
                        <a:t>Bread </a:t>
                      </a:r>
                    </a:p>
                  </a:txBody>
                  <a:tcPr marL="9525" marR="9525" marT="9525" marB="0"/>
                </a:tc>
                <a:tc>
                  <a:txBody>
                    <a:bodyPr/>
                    <a:lstStyle/>
                    <a:p>
                      <a:pPr algn="l" rtl="0" fontAlgn="t"/>
                      <a:r>
                        <a:rPr lang="en-US" sz="1350" b="0" i="0" u="none" strike="noStrike">
                          <a:solidFill>
                            <a:srgbClr val="000000"/>
                          </a:solidFill>
                          <a:latin typeface="Gill Sans MT"/>
                        </a:rPr>
                        <a:t>Butter </a:t>
                      </a:r>
                    </a:p>
                  </a:txBody>
                  <a:tcPr marL="9525" marR="9525" marT="9525" marB="0"/>
                </a:tc>
                <a:tc>
                  <a:txBody>
                    <a:bodyPr/>
                    <a:lstStyle/>
                    <a:p>
                      <a:pPr algn="l" rtl="0" fontAlgn="t"/>
                      <a:r>
                        <a:rPr lang="en-US" sz="1350" b="0" i="0" u="none" strike="noStrike">
                          <a:solidFill>
                            <a:srgbClr val="000000"/>
                          </a:solidFill>
                          <a:latin typeface="Gill Sans MT"/>
                        </a:rPr>
                        <a:t>Ketchup </a:t>
                      </a:r>
                    </a:p>
                  </a:txBody>
                  <a:tcPr marL="9525" marR="9525" marT="9525" marB="0"/>
                </a:tc>
                <a:tc>
                  <a:txBody>
                    <a:bodyPr/>
                    <a:lstStyle/>
                    <a:p>
                      <a:pPr algn="l" fontAlgn="t"/>
                      <a:r>
                        <a:rPr lang="en-US" sz="1350" b="0" i="0" u="none" strike="noStrike">
                          <a:solidFill>
                            <a:srgbClr val="000000"/>
                          </a:solidFill>
                          <a:latin typeface="Gill Sans MT"/>
                        </a:rPr>
                        <a:t> </a:t>
                      </a:r>
                    </a:p>
                  </a:txBody>
                  <a:tcPr marL="9525" marR="9525" marT="9525" marB="0"/>
                </a:tc>
              </a:tr>
              <a:tr h="233981">
                <a:tc>
                  <a:txBody>
                    <a:bodyPr/>
                    <a:lstStyle/>
                    <a:p>
                      <a:pPr algn="l" rtl="0" fontAlgn="t"/>
                      <a:r>
                        <a:rPr lang="en-US" sz="1350" b="0" i="0" u="none" strike="noStrike">
                          <a:solidFill>
                            <a:srgbClr val="000000"/>
                          </a:solidFill>
                          <a:latin typeface="Gill Sans MT"/>
                        </a:rPr>
                        <a:t>4</a:t>
                      </a:r>
                    </a:p>
                  </a:txBody>
                  <a:tcPr marL="9525" marR="9525" marT="9525" marB="0"/>
                </a:tc>
                <a:tc>
                  <a:txBody>
                    <a:bodyPr/>
                    <a:lstStyle/>
                    <a:p>
                      <a:pPr algn="l" rtl="0" fontAlgn="t"/>
                      <a:r>
                        <a:rPr lang="en-US" sz="1350" b="0" i="0" u="none" strike="noStrike">
                          <a:solidFill>
                            <a:srgbClr val="000000"/>
                          </a:solidFill>
                          <a:latin typeface="Gill Sans MT"/>
                        </a:rPr>
                        <a:t>Milk  </a:t>
                      </a:r>
                    </a:p>
                  </a:txBody>
                  <a:tcPr marL="9525" marR="9525" marT="9525" marB="0"/>
                </a:tc>
                <a:tc>
                  <a:txBody>
                    <a:bodyPr/>
                    <a:lstStyle/>
                    <a:p>
                      <a:pPr algn="l" rtl="0" fontAlgn="t"/>
                      <a:r>
                        <a:rPr lang="en-US" sz="1350" b="0" i="0" u="none" strike="noStrike">
                          <a:solidFill>
                            <a:srgbClr val="000000"/>
                          </a:solidFill>
                          <a:latin typeface="Gill Sans MT"/>
                        </a:rPr>
                        <a:t>Bread </a:t>
                      </a:r>
                    </a:p>
                  </a:txBody>
                  <a:tcPr marL="9525" marR="9525" marT="9525" marB="0"/>
                </a:tc>
                <a:tc>
                  <a:txBody>
                    <a:bodyPr/>
                    <a:lstStyle/>
                    <a:p>
                      <a:pPr algn="l" rtl="0" fontAlgn="t"/>
                      <a:r>
                        <a:rPr lang="en-US" sz="1350" b="0" i="0" u="none" strike="noStrike">
                          <a:solidFill>
                            <a:srgbClr val="000000"/>
                          </a:solidFill>
                          <a:latin typeface="Gill Sans MT"/>
                        </a:rPr>
                        <a:t>Butter </a:t>
                      </a:r>
                    </a:p>
                  </a:txBody>
                  <a:tcPr marL="9525" marR="9525" marT="9525" marB="0"/>
                </a:tc>
                <a:tc>
                  <a:txBody>
                    <a:bodyPr/>
                    <a:lstStyle/>
                    <a:p>
                      <a:pPr algn="l" fontAlgn="t"/>
                      <a:r>
                        <a:rPr lang="en-US" sz="1350" b="0" i="0" u="none" strike="noStrike">
                          <a:solidFill>
                            <a:srgbClr val="000000"/>
                          </a:solidFill>
                          <a:latin typeface="Gill Sans MT"/>
                        </a:rPr>
                        <a:t> </a:t>
                      </a:r>
                    </a:p>
                  </a:txBody>
                  <a:tcPr marL="9525" marR="9525" marT="9525" marB="0"/>
                </a:tc>
              </a:tr>
              <a:tr h="233981">
                <a:tc>
                  <a:txBody>
                    <a:bodyPr/>
                    <a:lstStyle/>
                    <a:p>
                      <a:pPr algn="l" rtl="0" fontAlgn="t"/>
                      <a:r>
                        <a:rPr lang="en-US" sz="1350" b="0" i="0" u="none" strike="noStrike">
                          <a:solidFill>
                            <a:srgbClr val="000000"/>
                          </a:solidFill>
                          <a:latin typeface="Gill Sans MT"/>
                        </a:rPr>
                        <a:t>5</a:t>
                      </a:r>
                    </a:p>
                  </a:txBody>
                  <a:tcPr marL="9525" marR="9525" marT="9525" marB="0"/>
                </a:tc>
                <a:tc>
                  <a:txBody>
                    <a:bodyPr/>
                    <a:lstStyle/>
                    <a:p>
                      <a:pPr algn="l" rtl="0" fontAlgn="t"/>
                      <a:r>
                        <a:rPr lang="en-US" sz="1350" b="0" i="0" u="none" strike="noStrike">
                          <a:solidFill>
                            <a:srgbClr val="000000"/>
                          </a:solidFill>
                          <a:latin typeface="Gill Sans MT"/>
                        </a:rPr>
                        <a:t>Bread </a:t>
                      </a:r>
                    </a:p>
                  </a:txBody>
                  <a:tcPr marL="9525" marR="9525" marT="9525" marB="0"/>
                </a:tc>
                <a:tc>
                  <a:txBody>
                    <a:bodyPr/>
                    <a:lstStyle/>
                    <a:p>
                      <a:pPr algn="l" rtl="0" fontAlgn="t"/>
                      <a:r>
                        <a:rPr lang="en-US" sz="1350" b="0" i="0" u="none" strike="noStrike">
                          <a:solidFill>
                            <a:srgbClr val="000000"/>
                          </a:solidFill>
                          <a:latin typeface="Gill Sans MT"/>
                        </a:rPr>
                        <a:t>Butter </a:t>
                      </a:r>
                    </a:p>
                  </a:txBody>
                  <a:tcPr marL="9525" marR="9525" marT="9525" marB="0"/>
                </a:tc>
                <a:tc>
                  <a:txBody>
                    <a:bodyPr/>
                    <a:lstStyle/>
                    <a:p>
                      <a:pPr algn="l" rtl="0" fontAlgn="t"/>
                      <a:r>
                        <a:rPr lang="en-US" sz="1350" b="0" i="0" u="none" strike="noStrike">
                          <a:solidFill>
                            <a:srgbClr val="000000"/>
                          </a:solidFill>
                          <a:latin typeface="Gill Sans MT"/>
                        </a:rPr>
                        <a:t>Cookies </a:t>
                      </a:r>
                    </a:p>
                  </a:txBody>
                  <a:tcPr marL="9525" marR="9525" marT="9525" marB="0"/>
                </a:tc>
                <a:tc>
                  <a:txBody>
                    <a:bodyPr/>
                    <a:lstStyle/>
                    <a:p>
                      <a:pPr algn="l" fontAlgn="t"/>
                      <a:r>
                        <a:rPr lang="en-US" sz="1350" b="0" i="0" u="none" strike="noStrike">
                          <a:solidFill>
                            <a:srgbClr val="000000"/>
                          </a:solidFill>
                          <a:latin typeface="Gill Sans MT"/>
                        </a:rPr>
                        <a:t> </a:t>
                      </a:r>
                    </a:p>
                  </a:txBody>
                  <a:tcPr marL="9525" marR="9525" marT="9525" marB="0"/>
                </a:tc>
              </a:tr>
              <a:tr h="233981">
                <a:tc>
                  <a:txBody>
                    <a:bodyPr/>
                    <a:lstStyle/>
                    <a:p>
                      <a:pPr algn="l" rtl="0" fontAlgn="t"/>
                      <a:r>
                        <a:rPr lang="en-US" sz="1350" b="0" i="0" u="none" strike="noStrike">
                          <a:solidFill>
                            <a:srgbClr val="000000"/>
                          </a:solidFill>
                          <a:latin typeface="Gill Sans MT"/>
                        </a:rPr>
                        <a:t>6</a:t>
                      </a:r>
                    </a:p>
                  </a:txBody>
                  <a:tcPr marL="9525" marR="9525" marT="9525" marB="0"/>
                </a:tc>
                <a:tc>
                  <a:txBody>
                    <a:bodyPr/>
                    <a:lstStyle/>
                    <a:p>
                      <a:pPr algn="l" rtl="0" fontAlgn="t"/>
                      <a:r>
                        <a:rPr lang="en-US" sz="1350" b="0" i="0" u="none" strike="noStrike">
                          <a:solidFill>
                            <a:srgbClr val="000000"/>
                          </a:solidFill>
                          <a:latin typeface="Gill Sans MT"/>
                        </a:rPr>
                        <a:t>Milk </a:t>
                      </a:r>
                    </a:p>
                  </a:txBody>
                  <a:tcPr marL="9525" marR="9525" marT="9525" marB="0"/>
                </a:tc>
                <a:tc>
                  <a:txBody>
                    <a:bodyPr/>
                    <a:lstStyle/>
                    <a:p>
                      <a:pPr algn="l" rtl="0" fontAlgn="t"/>
                      <a:r>
                        <a:rPr lang="en-US" sz="1350" b="0" i="0" u="none" strike="noStrike">
                          <a:solidFill>
                            <a:srgbClr val="000000"/>
                          </a:solidFill>
                          <a:latin typeface="Gill Sans MT"/>
                        </a:rPr>
                        <a:t>Bread </a:t>
                      </a:r>
                    </a:p>
                  </a:txBody>
                  <a:tcPr marL="9525" marR="9525" marT="9525" marB="0"/>
                </a:tc>
                <a:tc>
                  <a:txBody>
                    <a:bodyPr/>
                    <a:lstStyle/>
                    <a:p>
                      <a:pPr algn="l" rtl="0" fontAlgn="t"/>
                      <a:r>
                        <a:rPr lang="en-US" sz="1350" b="0" i="0" u="none" strike="noStrike">
                          <a:solidFill>
                            <a:srgbClr val="000000"/>
                          </a:solidFill>
                          <a:latin typeface="Gill Sans MT"/>
                        </a:rPr>
                        <a:t>Butter </a:t>
                      </a:r>
                    </a:p>
                  </a:txBody>
                  <a:tcPr marL="9525" marR="9525" marT="9525" marB="0"/>
                </a:tc>
                <a:tc>
                  <a:txBody>
                    <a:bodyPr/>
                    <a:lstStyle/>
                    <a:p>
                      <a:pPr algn="l" rtl="0" fontAlgn="t"/>
                      <a:r>
                        <a:rPr lang="en-US" sz="1350" b="0" i="0" u="none" strike="noStrike">
                          <a:solidFill>
                            <a:srgbClr val="000000"/>
                          </a:solidFill>
                          <a:latin typeface="Gill Sans MT"/>
                        </a:rPr>
                        <a:t>Cookies </a:t>
                      </a:r>
                    </a:p>
                  </a:txBody>
                  <a:tcPr marL="9525" marR="9525" marT="9525" marB="0"/>
                </a:tc>
              </a:tr>
              <a:tr h="233981">
                <a:tc>
                  <a:txBody>
                    <a:bodyPr/>
                    <a:lstStyle/>
                    <a:p>
                      <a:pPr algn="l" rtl="0" fontAlgn="t"/>
                      <a:r>
                        <a:rPr lang="en-US" sz="1350" b="0" i="0" u="none" strike="noStrike">
                          <a:solidFill>
                            <a:srgbClr val="000000"/>
                          </a:solidFill>
                          <a:latin typeface="Gill Sans MT"/>
                        </a:rPr>
                        <a:t>7</a:t>
                      </a:r>
                    </a:p>
                  </a:txBody>
                  <a:tcPr marL="9525" marR="9525" marT="9525" marB="0"/>
                </a:tc>
                <a:tc>
                  <a:txBody>
                    <a:bodyPr/>
                    <a:lstStyle/>
                    <a:p>
                      <a:pPr algn="l" rtl="0" fontAlgn="t"/>
                      <a:r>
                        <a:rPr lang="en-US" sz="1350" b="0" i="0" u="none" strike="noStrike">
                          <a:solidFill>
                            <a:srgbClr val="000000"/>
                          </a:solidFill>
                          <a:latin typeface="Gill Sans MT"/>
                        </a:rPr>
                        <a:t>Milk </a:t>
                      </a:r>
                    </a:p>
                  </a:txBody>
                  <a:tcPr marL="9525" marR="9525" marT="9525" marB="0"/>
                </a:tc>
                <a:tc>
                  <a:txBody>
                    <a:bodyPr/>
                    <a:lstStyle/>
                    <a:p>
                      <a:pPr algn="l" rtl="0" fontAlgn="t"/>
                      <a:r>
                        <a:rPr lang="en-US" sz="1350" b="0" i="0" u="none" strike="noStrike">
                          <a:solidFill>
                            <a:srgbClr val="000000"/>
                          </a:solidFill>
                          <a:latin typeface="Gill Sans MT"/>
                        </a:rPr>
                        <a:t>Cookies </a:t>
                      </a:r>
                    </a:p>
                  </a:txBody>
                  <a:tcPr marL="9525" marR="9525" marT="9525" marB="0"/>
                </a:tc>
                <a:tc>
                  <a:txBody>
                    <a:bodyPr/>
                    <a:lstStyle/>
                    <a:p>
                      <a:pPr algn="l" fontAlgn="t"/>
                      <a:r>
                        <a:rPr lang="en-US" sz="1350" b="0" i="0" u="none" strike="noStrike">
                          <a:solidFill>
                            <a:srgbClr val="000000"/>
                          </a:solidFill>
                          <a:latin typeface="Gill Sans MT"/>
                        </a:rPr>
                        <a:t> </a:t>
                      </a:r>
                    </a:p>
                  </a:txBody>
                  <a:tcPr marL="9525" marR="9525" marT="9525" marB="0"/>
                </a:tc>
                <a:tc>
                  <a:txBody>
                    <a:bodyPr/>
                    <a:lstStyle/>
                    <a:p>
                      <a:pPr algn="l" fontAlgn="t"/>
                      <a:r>
                        <a:rPr lang="en-US" sz="1350" b="0" i="0" u="none" strike="noStrike">
                          <a:solidFill>
                            <a:srgbClr val="000000"/>
                          </a:solidFill>
                          <a:latin typeface="Gill Sans MT"/>
                        </a:rPr>
                        <a:t> </a:t>
                      </a:r>
                    </a:p>
                  </a:txBody>
                  <a:tcPr marL="9525" marR="9525" marT="9525" marB="0"/>
                </a:tc>
              </a:tr>
              <a:tr h="233981">
                <a:tc>
                  <a:txBody>
                    <a:bodyPr/>
                    <a:lstStyle/>
                    <a:p>
                      <a:pPr algn="l" rtl="0" fontAlgn="t"/>
                      <a:r>
                        <a:rPr lang="en-US" sz="1350" b="0" i="0" u="none" strike="noStrike">
                          <a:solidFill>
                            <a:srgbClr val="000000"/>
                          </a:solidFill>
                          <a:latin typeface="Gill Sans MT"/>
                        </a:rPr>
                        <a:t>8</a:t>
                      </a:r>
                    </a:p>
                  </a:txBody>
                  <a:tcPr marL="9525" marR="9525" marT="9525" marB="0"/>
                </a:tc>
                <a:tc>
                  <a:txBody>
                    <a:bodyPr/>
                    <a:lstStyle/>
                    <a:p>
                      <a:pPr algn="l" rtl="0" fontAlgn="t"/>
                      <a:r>
                        <a:rPr lang="en-US" sz="1350" b="0" i="0" u="none" strike="noStrike">
                          <a:solidFill>
                            <a:srgbClr val="000000"/>
                          </a:solidFill>
                          <a:latin typeface="Gill Sans MT"/>
                        </a:rPr>
                        <a:t>Milk </a:t>
                      </a:r>
                    </a:p>
                  </a:txBody>
                  <a:tcPr marL="9525" marR="9525" marT="9525" marB="0"/>
                </a:tc>
                <a:tc>
                  <a:txBody>
                    <a:bodyPr/>
                    <a:lstStyle/>
                    <a:p>
                      <a:pPr algn="l" rtl="0" fontAlgn="t"/>
                      <a:r>
                        <a:rPr lang="en-US" sz="1350" b="0" i="0" u="none" strike="noStrike" dirty="0">
                          <a:solidFill>
                            <a:srgbClr val="000000"/>
                          </a:solidFill>
                          <a:latin typeface="Gill Sans MT"/>
                        </a:rPr>
                        <a:t>Bread </a:t>
                      </a:r>
                    </a:p>
                  </a:txBody>
                  <a:tcPr marL="9525" marR="9525" marT="9525" marB="0"/>
                </a:tc>
                <a:tc>
                  <a:txBody>
                    <a:bodyPr/>
                    <a:lstStyle/>
                    <a:p>
                      <a:pPr algn="l" rtl="0" fontAlgn="t"/>
                      <a:r>
                        <a:rPr lang="en-US" sz="1350" b="0" i="0" u="none" strike="noStrike">
                          <a:solidFill>
                            <a:srgbClr val="000000"/>
                          </a:solidFill>
                          <a:latin typeface="Gill Sans MT"/>
                        </a:rPr>
                        <a:t>Butter </a:t>
                      </a:r>
                    </a:p>
                  </a:txBody>
                  <a:tcPr marL="9525" marR="9525" marT="9525" marB="0"/>
                </a:tc>
                <a:tc>
                  <a:txBody>
                    <a:bodyPr/>
                    <a:lstStyle/>
                    <a:p>
                      <a:pPr algn="l" fontAlgn="t"/>
                      <a:r>
                        <a:rPr lang="en-US" sz="1350" b="0" i="0" u="none" strike="noStrike">
                          <a:solidFill>
                            <a:srgbClr val="000000"/>
                          </a:solidFill>
                          <a:latin typeface="Gill Sans MT"/>
                        </a:rPr>
                        <a:t> </a:t>
                      </a:r>
                    </a:p>
                  </a:txBody>
                  <a:tcPr marL="9525" marR="9525" marT="9525" marB="0"/>
                </a:tc>
              </a:tr>
              <a:tr h="233981">
                <a:tc>
                  <a:txBody>
                    <a:bodyPr/>
                    <a:lstStyle/>
                    <a:p>
                      <a:pPr algn="l" rtl="0" fontAlgn="t"/>
                      <a:r>
                        <a:rPr lang="en-US" sz="1350" b="0" i="0" u="none" strike="noStrike">
                          <a:solidFill>
                            <a:srgbClr val="000000"/>
                          </a:solidFill>
                          <a:latin typeface="Gill Sans MT"/>
                        </a:rPr>
                        <a:t>9</a:t>
                      </a:r>
                    </a:p>
                  </a:txBody>
                  <a:tcPr marL="9525" marR="9525" marT="9525" marB="0"/>
                </a:tc>
                <a:tc>
                  <a:txBody>
                    <a:bodyPr/>
                    <a:lstStyle/>
                    <a:p>
                      <a:pPr algn="l" rtl="0" fontAlgn="t"/>
                      <a:r>
                        <a:rPr lang="en-US" sz="1350" b="0" i="0" u="none" strike="noStrike">
                          <a:solidFill>
                            <a:srgbClr val="000000"/>
                          </a:solidFill>
                          <a:latin typeface="Gill Sans MT"/>
                        </a:rPr>
                        <a:t>Bread </a:t>
                      </a:r>
                    </a:p>
                  </a:txBody>
                  <a:tcPr marL="9525" marR="9525" marT="9525" marB="0"/>
                </a:tc>
                <a:tc>
                  <a:txBody>
                    <a:bodyPr/>
                    <a:lstStyle/>
                    <a:p>
                      <a:pPr algn="l" rtl="0" fontAlgn="t"/>
                      <a:r>
                        <a:rPr lang="en-US" sz="1350" b="0" i="0" u="none" strike="noStrike">
                          <a:solidFill>
                            <a:srgbClr val="000000"/>
                          </a:solidFill>
                          <a:latin typeface="Gill Sans MT"/>
                        </a:rPr>
                        <a:t>Butter </a:t>
                      </a:r>
                    </a:p>
                  </a:txBody>
                  <a:tcPr marL="9525" marR="9525" marT="9525" marB="0"/>
                </a:tc>
                <a:tc>
                  <a:txBody>
                    <a:bodyPr/>
                    <a:lstStyle/>
                    <a:p>
                      <a:pPr algn="l" rtl="0" fontAlgn="t"/>
                      <a:r>
                        <a:rPr lang="en-US" sz="1350" b="0" i="0" u="none" strike="noStrike">
                          <a:solidFill>
                            <a:srgbClr val="000000"/>
                          </a:solidFill>
                          <a:latin typeface="Gill Sans MT"/>
                        </a:rPr>
                        <a:t>Egg </a:t>
                      </a:r>
                    </a:p>
                  </a:txBody>
                  <a:tcPr marL="9525" marR="9525" marT="9525" marB="0"/>
                </a:tc>
                <a:tc>
                  <a:txBody>
                    <a:bodyPr/>
                    <a:lstStyle/>
                    <a:p>
                      <a:pPr algn="l" rtl="0" fontAlgn="t"/>
                      <a:r>
                        <a:rPr lang="en-US" sz="1350" b="0" i="0" u="none" strike="noStrike">
                          <a:solidFill>
                            <a:srgbClr val="000000"/>
                          </a:solidFill>
                          <a:latin typeface="Gill Sans MT"/>
                        </a:rPr>
                        <a:t>Cookies </a:t>
                      </a:r>
                    </a:p>
                  </a:txBody>
                  <a:tcPr marL="9525" marR="9525" marT="9525" marB="0"/>
                </a:tc>
              </a:tr>
              <a:tr h="233981">
                <a:tc>
                  <a:txBody>
                    <a:bodyPr/>
                    <a:lstStyle/>
                    <a:p>
                      <a:pPr algn="l" rtl="0" fontAlgn="t"/>
                      <a:r>
                        <a:rPr lang="en-US" sz="1350" b="0" i="0" u="none" strike="noStrike">
                          <a:solidFill>
                            <a:srgbClr val="000000"/>
                          </a:solidFill>
                          <a:latin typeface="Gill Sans MT"/>
                        </a:rPr>
                        <a:t>10</a:t>
                      </a:r>
                    </a:p>
                  </a:txBody>
                  <a:tcPr marL="9525" marR="9525" marT="9525" marB="0"/>
                </a:tc>
                <a:tc>
                  <a:txBody>
                    <a:bodyPr/>
                    <a:lstStyle/>
                    <a:p>
                      <a:pPr algn="l" rtl="0" fontAlgn="t"/>
                      <a:r>
                        <a:rPr lang="en-US" sz="1350" b="0" i="0" u="none" strike="noStrike">
                          <a:solidFill>
                            <a:srgbClr val="000000"/>
                          </a:solidFill>
                          <a:latin typeface="Gill Sans MT"/>
                        </a:rPr>
                        <a:t>Milk </a:t>
                      </a:r>
                    </a:p>
                  </a:txBody>
                  <a:tcPr marL="9525" marR="9525" marT="9525" marB="0"/>
                </a:tc>
                <a:tc>
                  <a:txBody>
                    <a:bodyPr/>
                    <a:lstStyle/>
                    <a:p>
                      <a:pPr algn="l" rtl="0" fontAlgn="t"/>
                      <a:r>
                        <a:rPr lang="en-US" sz="1350" b="0" i="0" u="none" strike="noStrike">
                          <a:solidFill>
                            <a:srgbClr val="000000"/>
                          </a:solidFill>
                          <a:latin typeface="Gill Sans MT"/>
                        </a:rPr>
                        <a:t>Butter </a:t>
                      </a:r>
                    </a:p>
                  </a:txBody>
                  <a:tcPr marL="9525" marR="9525" marT="9525" marB="0"/>
                </a:tc>
                <a:tc>
                  <a:txBody>
                    <a:bodyPr/>
                    <a:lstStyle/>
                    <a:p>
                      <a:pPr algn="l" rtl="0" fontAlgn="t"/>
                      <a:r>
                        <a:rPr lang="en-US" sz="1350" b="0" i="0" u="none" strike="noStrike">
                          <a:solidFill>
                            <a:srgbClr val="000000"/>
                          </a:solidFill>
                          <a:latin typeface="Gill Sans MT"/>
                        </a:rPr>
                        <a:t>Bread </a:t>
                      </a:r>
                    </a:p>
                  </a:txBody>
                  <a:tcPr marL="9525" marR="9525" marT="9525" marB="0"/>
                </a:tc>
                <a:tc>
                  <a:txBody>
                    <a:bodyPr/>
                    <a:lstStyle/>
                    <a:p>
                      <a:pPr algn="l" fontAlgn="t"/>
                      <a:r>
                        <a:rPr lang="en-US" sz="1350" b="0" i="0" u="none" strike="noStrike">
                          <a:solidFill>
                            <a:srgbClr val="000000"/>
                          </a:solidFill>
                          <a:latin typeface="Gill Sans MT"/>
                        </a:rPr>
                        <a:t> </a:t>
                      </a:r>
                    </a:p>
                  </a:txBody>
                  <a:tcPr marL="9525" marR="9525" marT="9525" marB="0"/>
                </a:tc>
              </a:tr>
              <a:tr h="233981">
                <a:tc>
                  <a:txBody>
                    <a:bodyPr/>
                    <a:lstStyle/>
                    <a:p>
                      <a:pPr algn="l" rtl="0" fontAlgn="t"/>
                      <a:r>
                        <a:rPr lang="en-US" sz="1350" b="0" i="0" u="none" strike="noStrike">
                          <a:solidFill>
                            <a:srgbClr val="000000"/>
                          </a:solidFill>
                          <a:latin typeface="Gill Sans MT"/>
                        </a:rPr>
                        <a:t>11</a:t>
                      </a:r>
                    </a:p>
                  </a:txBody>
                  <a:tcPr marL="9525" marR="9525" marT="9525" marB="0"/>
                </a:tc>
                <a:tc>
                  <a:txBody>
                    <a:bodyPr/>
                    <a:lstStyle/>
                    <a:p>
                      <a:pPr algn="l" rtl="0" fontAlgn="t"/>
                      <a:r>
                        <a:rPr lang="en-US" sz="1350" b="0" i="0" u="none" strike="noStrike">
                          <a:solidFill>
                            <a:srgbClr val="000000"/>
                          </a:solidFill>
                          <a:latin typeface="Gill Sans MT"/>
                        </a:rPr>
                        <a:t>Milk </a:t>
                      </a:r>
                    </a:p>
                  </a:txBody>
                  <a:tcPr marL="9525" marR="9525" marT="9525" marB="0"/>
                </a:tc>
                <a:tc>
                  <a:txBody>
                    <a:bodyPr/>
                    <a:lstStyle/>
                    <a:p>
                      <a:pPr algn="l" rtl="0" fontAlgn="t"/>
                      <a:r>
                        <a:rPr lang="en-US" sz="1350" b="0" i="0" u="none" strike="noStrike">
                          <a:solidFill>
                            <a:srgbClr val="000000"/>
                          </a:solidFill>
                          <a:latin typeface="Gill Sans MT"/>
                        </a:rPr>
                        <a:t>Bread </a:t>
                      </a:r>
                    </a:p>
                  </a:txBody>
                  <a:tcPr marL="9525" marR="9525" marT="9525" marB="0"/>
                </a:tc>
                <a:tc>
                  <a:txBody>
                    <a:bodyPr/>
                    <a:lstStyle/>
                    <a:p>
                      <a:pPr algn="l" rtl="0" fontAlgn="t"/>
                      <a:r>
                        <a:rPr lang="en-US" sz="1350" b="0" i="0" u="none" strike="noStrike">
                          <a:solidFill>
                            <a:srgbClr val="000000"/>
                          </a:solidFill>
                          <a:latin typeface="Gill Sans MT"/>
                        </a:rPr>
                        <a:t>Butter </a:t>
                      </a:r>
                    </a:p>
                  </a:txBody>
                  <a:tcPr marL="9525" marR="9525" marT="9525" marB="0"/>
                </a:tc>
                <a:tc>
                  <a:txBody>
                    <a:bodyPr/>
                    <a:lstStyle/>
                    <a:p>
                      <a:pPr algn="l" fontAlgn="t"/>
                      <a:r>
                        <a:rPr lang="en-US" sz="1350" b="0" i="0" u="none" strike="noStrike">
                          <a:solidFill>
                            <a:srgbClr val="000000"/>
                          </a:solidFill>
                          <a:latin typeface="Gill Sans MT"/>
                        </a:rPr>
                        <a:t> </a:t>
                      </a:r>
                    </a:p>
                  </a:txBody>
                  <a:tcPr marL="9525" marR="9525" marT="9525" marB="0"/>
                </a:tc>
              </a:tr>
              <a:tr h="233981">
                <a:tc>
                  <a:txBody>
                    <a:bodyPr/>
                    <a:lstStyle/>
                    <a:p>
                      <a:pPr algn="l" rtl="0" fontAlgn="t"/>
                      <a:r>
                        <a:rPr lang="en-US" sz="1350" b="0" i="0" u="none" strike="noStrike">
                          <a:solidFill>
                            <a:srgbClr val="000000"/>
                          </a:solidFill>
                          <a:latin typeface="Gill Sans MT"/>
                        </a:rPr>
                        <a:t>12</a:t>
                      </a:r>
                    </a:p>
                  </a:txBody>
                  <a:tcPr marL="9525" marR="9525" marT="9525" marB="0"/>
                </a:tc>
                <a:tc>
                  <a:txBody>
                    <a:bodyPr/>
                    <a:lstStyle/>
                    <a:p>
                      <a:pPr algn="l" rtl="0" fontAlgn="t"/>
                      <a:r>
                        <a:rPr lang="en-US" sz="1350" b="0" i="0" u="none" strike="noStrike">
                          <a:solidFill>
                            <a:srgbClr val="000000"/>
                          </a:solidFill>
                          <a:latin typeface="Gill Sans MT"/>
                        </a:rPr>
                        <a:t>milk </a:t>
                      </a:r>
                    </a:p>
                  </a:txBody>
                  <a:tcPr marL="9525" marR="9525" marT="9525" marB="0"/>
                </a:tc>
                <a:tc>
                  <a:txBody>
                    <a:bodyPr/>
                    <a:lstStyle/>
                    <a:p>
                      <a:pPr algn="l" rtl="0" fontAlgn="t"/>
                      <a:r>
                        <a:rPr lang="en-US" sz="1350" b="0" i="0" u="none" strike="noStrike">
                          <a:solidFill>
                            <a:srgbClr val="000000"/>
                          </a:solidFill>
                          <a:latin typeface="Gill Sans MT"/>
                        </a:rPr>
                        <a:t>Bread  </a:t>
                      </a:r>
                    </a:p>
                  </a:txBody>
                  <a:tcPr marL="9525" marR="9525" marT="9525" marB="0"/>
                </a:tc>
                <a:tc>
                  <a:txBody>
                    <a:bodyPr/>
                    <a:lstStyle/>
                    <a:p>
                      <a:pPr algn="l" rtl="0" fontAlgn="t"/>
                      <a:r>
                        <a:rPr lang="en-US" sz="1350" b="0" i="0" u="none" strike="noStrike">
                          <a:solidFill>
                            <a:srgbClr val="000000"/>
                          </a:solidFill>
                          <a:latin typeface="Gill Sans MT"/>
                        </a:rPr>
                        <a:t>Cookies </a:t>
                      </a:r>
                    </a:p>
                  </a:txBody>
                  <a:tcPr marL="9525" marR="9525" marT="9525" marB="0"/>
                </a:tc>
                <a:tc>
                  <a:txBody>
                    <a:bodyPr/>
                    <a:lstStyle/>
                    <a:p>
                      <a:pPr algn="l" rtl="0" fontAlgn="t"/>
                      <a:r>
                        <a:rPr lang="en-US" sz="1350" b="0" i="0" u="none" strike="noStrike" dirty="0">
                          <a:solidFill>
                            <a:srgbClr val="000000"/>
                          </a:solidFill>
                          <a:latin typeface="Gill Sans MT"/>
                        </a:rPr>
                        <a:t>Ketchup </a:t>
                      </a:r>
                    </a:p>
                  </a:txBody>
                  <a:tcPr marL="9525" marR="9525" marT="9525" marB="0"/>
                </a:tc>
              </a:tr>
            </a:tbl>
          </a:graphicData>
        </a:graphic>
      </p:graphicFrame>
      <p:sp>
        <p:nvSpPr>
          <p:cNvPr id="4" name="Date Placeholder 3"/>
          <p:cNvSpPr>
            <a:spLocks noGrp="1"/>
          </p:cNvSpPr>
          <p:nvPr>
            <p:ph type="dt" sz="half" idx="10"/>
          </p:nvPr>
        </p:nvSpPr>
        <p:spPr/>
        <p:txBody>
          <a:bodyPr/>
          <a:lstStyle/>
          <a:p>
            <a:fld id="{136C72BE-1EB1-4D3D-82B3-E7DC2624987E}" type="datetime1">
              <a:rPr lang="en-US" smtClean="0"/>
              <a:pPr/>
              <a:t>9/12/2022</a:t>
            </a:fld>
            <a:endParaRPr lang="en-US"/>
          </a:p>
        </p:txBody>
      </p:sp>
      <p:sp>
        <p:nvSpPr>
          <p:cNvPr id="5" name="Slide Number Placeholder 4"/>
          <p:cNvSpPr>
            <a:spLocks noGrp="1"/>
          </p:cNvSpPr>
          <p:nvPr>
            <p:ph type="sldNum" sz="quarter" idx="4"/>
          </p:nvPr>
        </p:nvSpPr>
        <p:spPr/>
        <p:txBody>
          <a:bodyPr/>
          <a:lstStyle/>
          <a:p>
            <a:r>
              <a:rPr lang="en-US" smtClean="0"/>
              <a:t>Slide no. </a:t>
            </a:r>
            <a:fld id="{7240F3D1-AE27-48C7-9FC9-EF8542F23A88}" type="slidenum">
              <a:rPr lang="en-US" smtClean="0"/>
              <a:pPr/>
              <a:t>13</a:t>
            </a:fld>
            <a:endParaRPr lang="en-US" dirty="0"/>
          </a:p>
        </p:txBody>
      </p:sp>
      <p:graphicFrame>
        <p:nvGraphicFramePr>
          <p:cNvPr id="8" name="Table 7"/>
          <p:cNvGraphicFramePr>
            <a:graphicFrameLocks noGrp="1"/>
          </p:cNvGraphicFramePr>
          <p:nvPr/>
        </p:nvGraphicFramePr>
        <p:xfrm>
          <a:off x="4353067" y="1051520"/>
          <a:ext cx="2480352" cy="2080260"/>
        </p:xfrm>
        <a:graphic>
          <a:graphicData uri="http://schemas.openxmlformats.org/drawingml/2006/table">
            <a:tbl>
              <a:tblPr firstRow="1" bandRow="1">
                <a:tableStyleId>{1E5458E1-0376-4910-A6E8-49B6F46B1678}</a:tableStyleId>
              </a:tblPr>
              <a:tblGrid>
                <a:gridCol w="1240176"/>
                <a:gridCol w="1240176"/>
              </a:tblGrid>
              <a:tr h="295044">
                <a:tc>
                  <a:txBody>
                    <a:bodyPr/>
                    <a:lstStyle/>
                    <a:p>
                      <a:r>
                        <a:rPr lang="en-IN" dirty="0" smtClean="0"/>
                        <a:t>1</a:t>
                      </a:r>
                      <a:r>
                        <a:rPr lang="en-IN" baseline="30000" dirty="0" smtClean="0"/>
                        <a:t>st</a:t>
                      </a:r>
                      <a:r>
                        <a:rPr lang="en-IN" dirty="0" smtClean="0"/>
                        <a:t> item set </a:t>
                      </a:r>
                      <a:endParaRPr lang="en-US" dirty="0"/>
                    </a:p>
                  </a:txBody>
                  <a:tcPr/>
                </a:tc>
                <a:tc>
                  <a:txBody>
                    <a:bodyPr/>
                    <a:lstStyle/>
                    <a:p>
                      <a:r>
                        <a:rPr lang="en-IN" dirty="0" smtClean="0"/>
                        <a:t>Frequency</a:t>
                      </a:r>
                      <a:endParaRPr lang="en-US" dirty="0"/>
                    </a:p>
                  </a:txBody>
                  <a:tcPr/>
                </a:tc>
              </a:tr>
              <a:tr h="295044">
                <a:tc>
                  <a:txBody>
                    <a:bodyPr/>
                    <a:lstStyle/>
                    <a:p>
                      <a:r>
                        <a:rPr lang="en-IN" dirty="0" smtClean="0"/>
                        <a:t>Milk</a:t>
                      </a:r>
                      <a:endParaRPr lang="en-US" dirty="0"/>
                    </a:p>
                  </a:txBody>
                  <a:tcPr/>
                </a:tc>
                <a:tc>
                  <a:txBody>
                    <a:bodyPr/>
                    <a:lstStyle/>
                    <a:p>
                      <a:r>
                        <a:rPr lang="en-IN" dirty="0" smtClean="0"/>
                        <a:t>9</a:t>
                      </a:r>
                      <a:endParaRPr lang="en-US" dirty="0"/>
                    </a:p>
                  </a:txBody>
                  <a:tcPr/>
                </a:tc>
              </a:tr>
              <a:tr h="295044">
                <a:tc>
                  <a:txBody>
                    <a:bodyPr/>
                    <a:lstStyle/>
                    <a:p>
                      <a:r>
                        <a:rPr lang="en-IN" dirty="0" smtClean="0"/>
                        <a:t>Bread</a:t>
                      </a:r>
                      <a:endParaRPr lang="en-US" dirty="0"/>
                    </a:p>
                  </a:txBody>
                  <a:tcPr/>
                </a:tc>
                <a:tc>
                  <a:txBody>
                    <a:bodyPr/>
                    <a:lstStyle/>
                    <a:p>
                      <a:r>
                        <a:rPr lang="en-IN" dirty="0" smtClean="0"/>
                        <a:t>10</a:t>
                      </a:r>
                      <a:endParaRPr lang="en-US" dirty="0"/>
                    </a:p>
                  </a:txBody>
                  <a:tcPr/>
                </a:tc>
              </a:tr>
              <a:tr h="295044">
                <a:tc>
                  <a:txBody>
                    <a:bodyPr/>
                    <a:lstStyle/>
                    <a:p>
                      <a:r>
                        <a:rPr lang="en-IN" dirty="0" smtClean="0"/>
                        <a:t>Butter </a:t>
                      </a:r>
                      <a:endParaRPr lang="en-US" dirty="0"/>
                    </a:p>
                  </a:txBody>
                  <a:tcPr/>
                </a:tc>
                <a:tc>
                  <a:txBody>
                    <a:bodyPr/>
                    <a:lstStyle/>
                    <a:p>
                      <a:r>
                        <a:rPr lang="en-IN" dirty="0" smtClean="0"/>
                        <a:t>10</a:t>
                      </a:r>
                      <a:endParaRPr lang="en-US" dirty="0"/>
                    </a:p>
                  </a:txBody>
                  <a:tcPr/>
                </a:tc>
              </a:tr>
              <a:tr h="295044">
                <a:tc>
                  <a:txBody>
                    <a:bodyPr/>
                    <a:lstStyle/>
                    <a:p>
                      <a:r>
                        <a:rPr lang="en-IN" dirty="0" smtClean="0"/>
                        <a:t>Egg </a:t>
                      </a:r>
                      <a:endParaRPr lang="en-US" dirty="0"/>
                    </a:p>
                  </a:txBody>
                  <a:tcPr/>
                </a:tc>
                <a:tc>
                  <a:txBody>
                    <a:bodyPr/>
                    <a:lstStyle/>
                    <a:p>
                      <a:r>
                        <a:rPr lang="en-IN" dirty="0" smtClean="0"/>
                        <a:t>3</a:t>
                      </a:r>
                      <a:endParaRPr lang="en-US" dirty="0"/>
                    </a:p>
                  </a:txBody>
                  <a:tcPr/>
                </a:tc>
              </a:tr>
              <a:tr h="295044">
                <a:tc>
                  <a:txBody>
                    <a:bodyPr/>
                    <a:lstStyle/>
                    <a:p>
                      <a:r>
                        <a:rPr lang="en-IN" dirty="0" smtClean="0"/>
                        <a:t>Ketchup</a:t>
                      </a:r>
                      <a:endParaRPr lang="en-US" dirty="0"/>
                    </a:p>
                  </a:txBody>
                  <a:tcPr/>
                </a:tc>
                <a:tc>
                  <a:txBody>
                    <a:bodyPr/>
                    <a:lstStyle/>
                    <a:p>
                      <a:r>
                        <a:rPr lang="en-IN" dirty="0" smtClean="0"/>
                        <a:t>3</a:t>
                      </a:r>
                      <a:endParaRPr lang="en-US" dirty="0"/>
                    </a:p>
                  </a:txBody>
                  <a:tcPr/>
                </a:tc>
              </a:tr>
              <a:tr h="295044">
                <a:tc>
                  <a:txBody>
                    <a:bodyPr/>
                    <a:lstStyle/>
                    <a:p>
                      <a:r>
                        <a:rPr lang="en-IN" dirty="0" smtClean="0"/>
                        <a:t>Cookies</a:t>
                      </a:r>
                      <a:endParaRPr lang="en-US" dirty="0"/>
                    </a:p>
                  </a:txBody>
                  <a:tcPr/>
                </a:tc>
                <a:tc>
                  <a:txBody>
                    <a:bodyPr/>
                    <a:lstStyle/>
                    <a:p>
                      <a:r>
                        <a:rPr lang="en-IN" dirty="0" smtClean="0"/>
                        <a:t>5</a:t>
                      </a:r>
                      <a:endParaRPr lang="en-US" dirty="0"/>
                    </a:p>
                  </a:txBody>
                  <a:tcPr/>
                </a:tc>
              </a:tr>
            </a:tbl>
          </a:graphicData>
        </a:graphic>
      </p:graphicFrame>
      <p:sp>
        <p:nvSpPr>
          <p:cNvPr id="9" name="TextBox 8"/>
          <p:cNvSpPr txBox="1"/>
          <p:nvPr/>
        </p:nvSpPr>
        <p:spPr>
          <a:xfrm>
            <a:off x="4237703" y="3274142"/>
            <a:ext cx="6389658" cy="1754326"/>
          </a:xfrm>
          <a:prstGeom prst="rect">
            <a:avLst/>
          </a:prstGeom>
          <a:noFill/>
        </p:spPr>
        <p:txBody>
          <a:bodyPr wrap="square" rtlCol="0">
            <a:spAutoFit/>
          </a:bodyPr>
          <a:lstStyle/>
          <a:p>
            <a:r>
              <a:rPr lang="en-IN" dirty="0" smtClean="0"/>
              <a:t>Frequent 1 item set: </a:t>
            </a:r>
          </a:p>
          <a:p>
            <a:r>
              <a:rPr lang="en-IN" dirty="0" smtClean="0"/>
              <a:t>This is the item set which supports the minimum support level</a:t>
            </a:r>
          </a:p>
          <a:p>
            <a:r>
              <a:rPr lang="en-IN" dirty="0" smtClean="0"/>
              <a:t>Minimum support we required  30%</a:t>
            </a:r>
          </a:p>
          <a:p>
            <a:r>
              <a:rPr lang="en-IN" dirty="0" smtClean="0"/>
              <a:t>For egg and ketchup 3/12 = 0.25</a:t>
            </a:r>
          </a:p>
          <a:p>
            <a:r>
              <a:rPr lang="en-IN" dirty="0" smtClean="0"/>
              <a:t>For Cookies 5/12 = 0.41</a:t>
            </a:r>
          </a:p>
          <a:p>
            <a:endParaRPr lang="en-US" dirty="0"/>
          </a:p>
        </p:txBody>
      </p:sp>
      <p:graphicFrame>
        <p:nvGraphicFramePr>
          <p:cNvPr id="10" name="Table 9"/>
          <p:cNvGraphicFramePr>
            <a:graphicFrameLocks noGrp="1"/>
          </p:cNvGraphicFramePr>
          <p:nvPr/>
        </p:nvGraphicFramePr>
        <p:xfrm>
          <a:off x="7050651" y="1060860"/>
          <a:ext cx="3332214" cy="1485900"/>
        </p:xfrm>
        <a:graphic>
          <a:graphicData uri="http://schemas.openxmlformats.org/drawingml/2006/table">
            <a:tbl>
              <a:tblPr firstRow="1" bandRow="1">
                <a:tableStyleId>{1E5458E1-0376-4910-A6E8-49B6F46B1678}</a:tableStyleId>
              </a:tblPr>
              <a:tblGrid>
                <a:gridCol w="1666107"/>
                <a:gridCol w="1666107"/>
              </a:tblGrid>
              <a:tr h="285176">
                <a:tc>
                  <a:txBody>
                    <a:bodyPr/>
                    <a:lstStyle/>
                    <a:p>
                      <a:r>
                        <a:rPr lang="en-IN" dirty="0" smtClean="0"/>
                        <a:t>Frequency 1 item set</a:t>
                      </a:r>
                      <a:endParaRPr lang="en-US" dirty="0"/>
                    </a:p>
                  </a:txBody>
                  <a:tcPr/>
                </a:tc>
                <a:tc>
                  <a:txBody>
                    <a:bodyPr/>
                    <a:lstStyle/>
                    <a:p>
                      <a:r>
                        <a:rPr lang="en-IN" dirty="0" smtClean="0"/>
                        <a:t>Frequency</a:t>
                      </a:r>
                      <a:endParaRPr lang="en-US" dirty="0"/>
                    </a:p>
                  </a:txBody>
                  <a:tcPr/>
                </a:tc>
              </a:tr>
              <a:tr h="285176">
                <a:tc>
                  <a:txBody>
                    <a:bodyPr/>
                    <a:lstStyle/>
                    <a:p>
                      <a:r>
                        <a:rPr lang="en-IN" dirty="0" smtClean="0"/>
                        <a:t>Milk</a:t>
                      </a:r>
                      <a:endParaRPr lang="en-US" dirty="0"/>
                    </a:p>
                  </a:txBody>
                  <a:tcPr/>
                </a:tc>
                <a:tc>
                  <a:txBody>
                    <a:bodyPr/>
                    <a:lstStyle/>
                    <a:p>
                      <a:r>
                        <a:rPr lang="en-IN" dirty="0" smtClean="0"/>
                        <a:t>9</a:t>
                      </a:r>
                      <a:endParaRPr lang="en-US" dirty="0"/>
                    </a:p>
                  </a:txBody>
                  <a:tcPr/>
                </a:tc>
              </a:tr>
              <a:tr h="285176">
                <a:tc>
                  <a:txBody>
                    <a:bodyPr/>
                    <a:lstStyle/>
                    <a:p>
                      <a:r>
                        <a:rPr lang="en-IN" dirty="0" smtClean="0"/>
                        <a:t>Bread</a:t>
                      </a:r>
                      <a:endParaRPr lang="en-US" dirty="0"/>
                    </a:p>
                  </a:txBody>
                  <a:tcPr/>
                </a:tc>
                <a:tc>
                  <a:txBody>
                    <a:bodyPr/>
                    <a:lstStyle/>
                    <a:p>
                      <a:r>
                        <a:rPr lang="en-IN" dirty="0" smtClean="0"/>
                        <a:t>10</a:t>
                      </a:r>
                      <a:endParaRPr lang="en-US" dirty="0"/>
                    </a:p>
                  </a:txBody>
                  <a:tcPr/>
                </a:tc>
              </a:tr>
              <a:tr h="285176">
                <a:tc>
                  <a:txBody>
                    <a:bodyPr/>
                    <a:lstStyle/>
                    <a:p>
                      <a:r>
                        <a:rPr lang="en-IN" dirty="0" smtClean="0"/>
                        <a:t>Butter</a:t>
                      </a:r>
                      <a:endParaRPr lang="en-US" dirty="0"/>
                    </a:p>
                  </a:txBody>
                  <a:tcPr/>
                </a:tc>
                <a:tc>
                  <a:txBody>
                    <a:bodyPr/>
                    <a:lstStyle/>
                    <a:p>
                      <a:r>
                        <a:rPr lang="en-IN" dirty="0" smtClean="0"/>
                        <a:t>10</a:t>
                      </a:r>
                      <a:endParaRPr lang="en-US" dirty="0"/>
                    </a:p>
                  </a:txBody>
                  <a:tcPr/>
                </a:tc>
              </a:tr>
              <a:tr h="285176">
                <a:tc>
                  <a:txBody>
                    <a:bodyPr/>
                    <a:lstStyle/>
                    <a:p>
                      <a:r>
                        <a:rPr lang="en-IN" dirty="0" smtClean="0"/>
                        <a:t>Cookies</a:t>
                      </a:r>
                      <a:endParaRPr lang="en-US" dirty="0"/>
                    </a:p>
                  </a:txBody>
                  <a:tcPr/>
                </a:tc>
                <a:tc>
                  <a:txBody>
                    <a:bodyPr/>
                    <a:lstStyle/>
                    <a:p>
                      <a:r>
                        <a:rPr lang="en-IN" dirty="0" smtClean="0"/>
                        <a:t>5</a:t>
                      </a:r>
                      <a:endParaRPr lang="en-US" dirty="0"/>
                    </a:p>
                  </a:txBody>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2 item set</a:t>
            </a:r>
            <a:endParaRPr lang="en-US" dirty="0"/>
          </a:p>
        </p:txBody>
      </p:sp>
      <p:graphicFrame>
        <p:nvGraphicFramePr>
          <p:cNvPr id="7" name="Content Placeholder 6"/>
          <p:cNvGraphicFramePr>
            <a:graphicFrameLocks noGrp="1"/>
          </p:cNvGraphicFramePr>
          <p:nvPr>
            <p:ph idx="1"/>
          </p:nvPr>
        </p:nvGraphicFramePr>
        <p:xfrm>
          <a:off x="223520" y="1148079"/>
          <a:ext cx="3200400" cy="2461893"/>
        </p:xfrm>
        <a:graphic>
          <a:graphicData uri="http://schemas.openxmlformats.org/drawingml/2006/table">
            <a:tbl>
              <a:tblPr firstRow="1" bandRow="1">
                <a:tableStyleId>{1E5458E1-0376-4910-A6E8-49B6F46B1678}</a:tableStyleId>
              </a:tblPr>
              <a:tblGrid>
                <a:gridCol w="1600200"/>
                <a:gridCol w="1600200"/>
              </a:tblGrid>
              <a:tr h="351699">
                <a:tc>
                  <a:txBody>
                    <a:bodyPr/>
                    <a:lstStyle/>
                    <a:p>
                      <a:r>
                        <a:rPr lang="en-IN" dirty="0" smtClean="0"/>
                        <a:t>2</a:t>
                      </a:r>
                      <a:r>
                        <a:rPr lang="en-IN" baseline="30000" dirty="0" smtClean="0"/>
                        <a:t>nd</a:t>
                      </a:r>
                      <a:r>
                        <a:rPr lang="en-IN" dirty="0" smtClean="0"/>
                        <a:t>  item</a:t>
                      </a:r>
                      <a:r>
                        <a:rPr lang="en-IN" baseline="0" dirty="0" smtClean="0"/>
                        <a:t> set</a:t>
                      </a:r>
                      <a:endParaRPr lang="en-US" dirty="0"/>
                    </a:p>
                  </a:txBody>
                  <a:tcPr/>
                </a:tc>
                <a:tc>
                  <a:txBody>
                    <a:bodyPr/>
                    <a:lstStyle/>
                    <a:p>
                      <a:r>
                        <a:rPr lang="en-IN" dirty="0" smtClean="0"/>
                        <a:t>Frequency </a:t>
                      </a:r>
                      <a:endParaRPr lang="en-US" dirty="0"/>
                    </a:p>
                  </a:txBody>
                  <a:tcPr/>
                </a:tc>
              </a:tr>
              <a:tr h="351699">
                <a:tc>
                  <a:txBody>
                    <a:bodyPr/>
                    <a:lstStyle/>
                    <a:p>
                      <a:r>
                        <a:rPr lang="en-IN" dirty="0" smtClean="0"/>
                        <a:t>Milk,  bread </a:t>
                      </a:r>
                      <a:endParaRPr lang="en-US" dirty="0"/>
                    </a:p>
                  </a:txBody>
                  <a:tcPr/>
                </a:tc>
                <a:tc>
                  <a:txBody>
                    <a:bodyPr/>
                    <a:lstStyle/>
                    <a:p>
                      <a:r>
                        <a:rPr lang="en-IN" dirty="0" smtClean="0"/>
                        <a:t>7</a:t>
                      </a:r>
                      <a:endParaRPr lang="en-US" dirty="0"/>
                    </a:p>
                  </a:txBody>
                  <a:tcPr/>
                </a:tc>
              </a:tr>
              <a:tr h="351699">
                <a:tc>
                  <a:txBody>
                    <a:bodyPr/>
                    <a:lstStyle/>
                    <a:p>
                      <a:r>
                        <a:rPr lang="en-IN" dirty="0" smtClean="0"/>
                        <a:t>Milk, butter</a:t>
                      </a:r>
                      <a:endParaRPr lang="en-US" dirty="0"/>
                    </a:p>
                  </a:txBody>
                  <a:tcPr/>
                </a:tc>
                <a:tc>
                  <a:txBody>
                    <a:bodyPr/>
                    <a:lstStyle/>
                    <a:p>
                      <a:r>
                        <a:rPr lang="en-IN" dirty="0" smtClean="0"/>
                        <a:t>7</a:t>
                      </a:r>
                      <a:endParaRPr lang="en-US" dirty="0"/>
                    </a:p>
                  </a:txBody>
                  <a:tcPr/>
                </a:tc>
              </a:tr>
              <a:tr h="351699">
                <a:tc>
                  <a:txBody>
                    <a:bodyPr/>
                    <a:lstStyle/>
                    <a:p>
                      <a:r>
                        <a:rPr lang="en-IN" dirty="0" smtClean="0"/>
                        <a:t>Milk , Cookies</a:t>
                      </a:r>
                      <a:endParaRPr lang="en-US" dirty="0"/>
                    </a:p>
                  </a:txBody>
                  <a:tcPr/>
                </a:tc>
                <a:tc>
                  <a:txBody>
                    <a:bodyPr/>
                    <a:lstStyle/>
                    <a:p>
                      <a:r>
                        <a:rPr lang="en-IN" dirty="0" smtClean="0"/>
                        <a:t>3</a:t>
                      </a:r>
                      <a:endParaRPr lang="en-US" dirty="0"/>
                    </a:p>
                  </a:txBody>
                  <a:tcPr/>
                </a:tc>
              </a:tr>
              <a:tr h="351699">
                <a:tc>
                  <a:txBody>
                    <a:bodyPr/>
                    <a:lstStyle/>
                    <a:p>
                      <a:r>
                        <a:rPr lang="en-IN" dirty="0" smtClean="0"/>
                        <a:t>Bread,</a:t>
                      </a:r>
                      <a:r>
                        <a:rPr lang="en-IN" baseline="0" dirty="0" smtClean="0"/>
                        <a:t> butter</a:t>
                      </a:r>
                      <a:endParaRPr lang="en-US" dirty="0"/>
                    </a:p>
                  </a:txBody>
                  <a:tcPr/>
                </a:tc>
                <a:tc>
                  <a:txBody>
                    <a:bodyPr/>
                    <a:lstStyle/>
                    <a:p>
                      <a:r>
                        <a:rPr lang="en-IN" dirty="0" smtClean="0"/>
                        <a:t>9</a:t>
                      </a:r>
                      <a:endParaRPr lang="en-US" dirty="0"/>
                    </a:p>
                  </a:txBody>
                  <a:tcPr/>
                </a:tc>
              </a:tr>
              <a:tr h="351699">
                <a:tc>
                  <a:txBody>
                    <a:bodyPr/>
                    <a:lstStyle/>
                    <a:p>
                      <a:r>
                        <a:rPr lang="en-IN" dirty="0" smtClean="0"/>
                        <a:t>Butter , Cookies</a:t>
                      </a:r>
                      <a:endParaRPr lang="en-US" dirty="0"/>
                    </a:p>
                  </a:txBody>
                  <a:tcPr/>
                </a:tc>
                <a:tc>
                  <a:txBody>
                    <a:bodyPr/>
                    <a:lstStyle/>
                    <a:p>
                      <a:r>
                        <a:rPr lang="en-IN" dirty="0" smtClean="0"/>
                        <a:t>3</a:t>
                      </a:r>
                      <a:endParaRPr lang="en-US" dirty="0"/>
                    </a:p>
                  </a:txBody>
                  <a:tcPr/>
                </a:tc>
              </a:tr>
              <a:tr h="351699">
                <a:tc>
                  <a:txBody>
                    <a:bodyPr/>
                    <a:lstStyle/>
                    <a:p>
                      <a:r>
                        <a:rPr lang="en-IN" dirty="0" smtClean="0"/>
                        <a:t>Bread Cookies</a:t>
                      </a:r>
                      <a:endParaRPr lang="en-US" dirty="0"/>
                    </a:p>
                  </a:txBody>
                  <a:tcPr/>
                </a:tc>
                <a:tc>
                  <a:txBody>
                    <a:bodyPr/>
                    <a:lstStyle/>
                    <a:p>
                      <a:r>
                        <a:rPr lang="en-IN" dirty="0" smtClean="0"/>
                        <a:t>4</a:t>
                      </a:r>
                      <a:endParaRPr lang="en-US" dirty="0"/>
                    </a:p>
                  </a:txBody>
                  <a:tcPr/>
                </a:tc>
              </a:tr>
            </a:tbl>
          </a:graphicData>
        </a:graphic>
      </p:graphicFrame>
      <p:sp>
        <p:nvSpPr>
          <p:cNvPr id="4" name="Date Placeholder 3"/>
          <p:cNvSpPr>
            <a:spLocks noGrp="1"/>
          </p:cNvSpPr>
          <p:nvPr>
            <p:ph type="dt" sz="half" idx="10"/>
          </p:nvPr>
        </p:nvSpPr>
        <p:spPr/>
        <p:txBody>
          <a:bodyPr/>
          <a:lstStyle/>
          <a:p>
            <a:fld id="{136C72BE-1EB1-4D3D-82B3-E7DC2624987E}" type="datetime1">
              <a:rPr lang="en-US" smtClean="0"/>
              <a:pPr/>
              <a:t>9/12/2022</a:t>
            </a:fld>
            <a:endParaRPr lang="en-US"/>
          </a:p>
        </p:txBody>
      </p:sp>
      <p:sp>
        <p:nvSpPr>
          <p:cNvPr id="5" name="Slide Number Placeholder 4"/>
          <p:cNvSpPr>
            <a:spLocks noGrp="1"/>
          </p:cNvSpPr>
          <p:nvPr>
            <p:ph type="sldNum" sz="quarter" idx="4"/>
          </p:nvPr>
        </p:nvSpPr>
        <p:spPr/>
        <p:txBody>
          <a:bodyPr/>
          <a:lstStyle/>
          <a:p>
            <a:r>
              <a:rPr lang="en-US" smtClean="0"/>
              <a:t>Slide no. </a:t>
            </a:r>
            <a:fld id="{7240F3D1-AE27-48C7-9FC9-EF8542F23A88}" type="slidenum">
              <a:rPr lang="en-US" smtClean="0"/>
              <a:pPr/>
              <a:t>14</a:t>
            </a:fld>
            <a:endParaRPr lang="en-US" dirty="0"/>
          </a:p>
        </p:txBody>
      </p:sp>
      <p:graphicFrame>
        <p:nvGraphicFramePr>
          <p:cNvPr id="8" name="Table 7"/>
          <p:cNvGraphicFramePr>
            <a:graphicFrameLocks noGrp="1"/>
          </p:cNvGraphicFramePr>
          <p:nvPr/>
        </p:nvGraphicFramePr>
        <p:xfrm>
          <a:off x="3905250" y="1148080"/>
          <a:ext cx="6315710" cy="1954530"/>
        </p:xfrm>
        <a:graphic>
          <a:graphicData uri="http://schemas.openxmlformats.org/drawingml/2006/table">
            <a:tbl>
              <a:tblPr firstRow="1" bandRow="1">
                <a:tableStyleId>{1E5458E1-0376-4910-A6E8-49B6F46B1678}</a:tableStyleId>
              </a:tblPr>
              <a:tblGrid>
                <a:gridCol w="3157855"/>
                <a:gridCol w="3157855"/>
              </a:tblGrid>
              <a:tr h="390906">
                <a:tc>
                  <a:txBody>
                    <a:bodyPr/>
                    <a:lstStyle/>
                    <a:p>
                      <a:r>
                        <a:rPr lang="en-IN" dirty="0" smtClean="0"/>
                        <a:t>Frequency 2 item</a:t>
                      </a:r>
                      <a:r>
                        <a:rPr lang="en-IN" baseline="0" dirty="0" smtClean="0"/>
                        <a:t> sets</a:t>
                      </a:r>
                      <a:endParaRPr lang="en-US" dirty="0"/>
                    </a:p>
                  </a:txBody>
                  <a:tcPr/>
                </a:tc>
                <a:tc>
                  <a:txBody>
                    <a:bodyPr/>
                    <a:lstStyle/>
                    <a:p>
                      <a:r>
                        <a:rPr lang="en-IN" dirty="0" smtClean="0"/>
                        <a:t>Frequency</a:t>
                      </a:r>
                      <a:endParaRPr lang="en-US" dirty="0"/>
                    </a:p>
                  </a:txBody>
                  <a:tcPr/>
                </a:tc>
              </a:tr>
              <a:tr h="390906">
                <a:tc>
                  <a:txBody>
                    <a:bodyPr/>
                    <a:lstStyle/>
                    <a:p>
                      <a:r>
                        <a:rPr lang="en-IN" dirty="0" smtClean="0"/>
                        <a:t>Milk ,bread</a:t>
                      </a:r>
                      <a:endParaRPr lang="en-US" dirty="0"/>
                    </a:p>
                  </a:txBody>
                  <a:tcPr/>
                </a:tc>
                <a:tc>
                  <a:txBody>
                    <a:bodyPr/>
                    <a:lstStyle/>
                    <a:p>
                      <a:r>
                        <a:rPr lang="en-IN" dirty="0" smtClean="0"/>
                        <a:t>7</a:t>
                      </a:r>
                      <a:endParaRPr lang="en-US" dirty="0"/>
                    </a:p>
                  </a:txBody>
                  <a:tcPr/>
                </a:tc>
              </a:tr>
              <a:tr h="390906">
                <a:tc>
                  <a:txBody>
                    <a:bodyPr/>
                    <a:lstStyle/>
                    <a:p>
                      <a:r>
                        <a:rPr lang="en-IN" dirty="0" smtClean="0"/>
                        <a:t>Milk , butter</a:t>
                      </a:r>
                      <a:endParaRPr lang="en-US" dirty="0"/>
                    </a:p>
                  </a:txBody>
                  <a:tcPr/>
                </a:tc>
                <a:tc>
                  <a:txBody>
                    <a:bodyPr/>
                    <a:lstStyle/>
                    <a:p>
                      <a:r>
                        <a:rPr lang="en-IN" dirty="0" smtClean="0"/>
                        <a:t>7</a:t>
                      </a:r>
                      <a:endParaRPr lang="en-US" dirty="0"/>
                    </a:p>
                  </a:txBody>
                  <a:tcPr/>
                </a:tc>
              </a:tr>
              <a:tr h="390906">
                <a:tc>
                  <a:txBody>
                    <a:bodyPr/>
                    <a:lstStyle/>
                    <a:p>
                      <a:r>
                        <a:rPr lang="en-IN" dirty="0" smtClean="0"/>
                        <a:t>Bread, butter</a:t>
                      </a:r>
                      <a:endParaRPr lang="en-US" dirty="0"/>
                    </a:p>
                  </a:txBody>
                  <a:tcPr/>
                </a:tc>
                <a:tc>
                  <a:txBody>
                    <a:bodyPr/>
                    <a:lstStyle/>
                    <a:p>
                      <a:r>
                        <a:rPr lang="en-IN" dirty="0" smtClean="0"/>
                        <a:t>9</a:t>
                      </a:r>
                      <a:endParaRPr lang="en-US" dirty="0"/>
                    </a:p>
                  </a:txBody>
                  <a:tcPr/>
                </a:tc>
              </a:tr>
              <a:tr h="390906">
                <a:tc>
                  <a:txBody>
                    <a:bodyPr/>
                    <a:lstStyle/>
                    <a:p>
                      <a:r>
                        <a:rPr lang="en-IN" dirty="0" smtClean="0"/>
                        <a:t>Bread , cookies</a:t>
                      </a:r>
                      <a:endParaRPr lang="en-US" dirty="0"/>
                    </a:p>
                  </a:txBody>
                  <a:tcPr/>
                </a:tc>
                <a:tc>
                  <a:txBody>
                    <a:bodyPr/>
                    <a:lstStyle/>
                    <a:p>
                      <a:r>
                        <a:rPr lang="en-IN" dirty="0" smtClean="0"/>
                        <a:t>4</a:t>
                      </a:r>
                      <a:endParaRPr lang="en-US" dirty="0"/>
                    </a:p>
                  </a:txBody>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3 item set</a:t>
            </a:r>
            <a:endParaRPr lang="en-US" dirty="0"/>
          </a:p>
        </p:txBody>
      </p:sp>
      <p:graphicFrame>
        <p:nvGraphicFramePr>
          <p:cNvPr id="6" name="Content Placeholder 5"/>
          <p:cNvGraphicFramePr>
            <a:graphicFrameLocks noGrp="1"/>
          </p:cNvGraphicFramePr>
          <p:nvPr>
            <p:ph idx="1"/>
          </p:nvPr>
        </p:nvGraphicFramePr>
        <p:xfrm>
          <a:off x="233680" y="1808479"/>
          <a:ext cx="4094480" cy="1699895"/>
        </p:xfrm>
        <a:graphic>
          <a:graphicData uri="http://schemas.openxmlformats.org/drawingml/2006/table">
            <a:tbl>
              <a:tblPr firstRow="1" bandRow="1">
                <a:tableStyleId>{1E5458E1-0376-4910-A6E8-49B6F46B1678}</a:tableStyleId>
              </a:tblPr>
              <a:tblGrid>
                <a:gridCol w="2047240"/>
                <a:gridCol w="2047240"/>
              </a:tblGrid>
              <a:tr h="339979">
                <a:tc>
                  <a:txBody>
                    <a:bodyPr/>
                    <a:lstStyle/>
                    <a:p>
                      <a:r>
                        <a:rPr lang="en-IN" dirty="0" smtClean="0"/>
                        <a:t>3 item set</a:t>
                      </a:r>
                      <a:endParaRPr lang="en-US" dirty="0"/>
                    </a:p>
                  </a:txBody>
                  <a:tcPr/>
                </a:tc>
                <a:tc>
                  <a:txBody>
                    <a:bodyPr/>
                    <a:lstStyle/>
                    <a:p>
                      <a:r>
                        <a:rPr lang="en-IN" dirty="0" smtClean="0"/>
                        <a:t>Frequency</a:t>
                      </a:r>
                      <a:endParaRPr lang="en-US" dirty="0"/>
                    </a:p>
                  </a:txBody>
                  <a:tcPr/>
                </a:tc>
              </a:tr>
              <a:tr h="339979">
                <a:tc>
                  <a:txBody>
                    <a:bodyPr/>
                    <a:lstStyle/>
                    <a:p>
                      <a:r>
                        <a:rPr lang="en-IN" dirty="0" smtClean="0"/>
                        <a:t>Milk, bread, butter</a:t>
                      </a:r>
                      <a:endParaRPr lang="en-US" dirty="0"/>
                    </a:p>
                  </a:txBody>
                  <a:tcPr/>
                </a:tc>
                <a:tc>
                  <a:txBody>
                    <a:bodyPr/>
                    <a:lstStyle/>
                    <a:p>
                      <a:r>
                        <a:rPr lang="en-IN" dirty="0" smtClean="0"/>
                        <a:t>6</a:t>
                      </a:r>
                      <a:endParaRPr lang="en-US" dirty="0"/>
                    </a:p>
                  </a:txBody>
                  <a:tcPr/>
                </a:tc>
              </a:tr>
              <a:tr h="339979">
                <a:tc>
                  <a:txBody>
                    <a:bodyPr/>
                    <a:lstStyle/>
                    <a:p>
                      <a:r>
                        <a:rPr lang="en-IN" dirty="0" smtClean="0"/>
                        <a:t>Milk, bread, cookies</a:t>
                      </a:r>
                      <a:endParaRPr lang="en-US" dirty="0"/>
                    </a:p>
                  </a:txBody>
                  <a:tcPr/>
                </a:tc>
                <a:tc>
                  <a:txBody>
                    <a:bodyPr/>
                    <a:lstStyle/>
                    <a:p>
                      <a:r>
                        <a:rPr lang="en-IN" dirty="0" smtClean="0"/>
                        <a:t>1</a:t>
                      </a:r>
                      <a:endParaRPr lang="en-US" dirty="0"/>
                    </a:p>
                  </a:txBody>
                  <a:tcPr/>
                </a:tc>
              </a:tr>
              <a:tr h="339979">
                <a:tc>
                  <a:txBody>
                    <a:bodyPr/>
                    <a:lstStyle/>
                    <a:p>
                      <a:r>
                        <a:rPr lang="en-IN" dirty="0" smtClean="0"/>
                        <a:t>Bread, butter, Cookies</a:t>
                      </a:r>
                      <a:endParaRPr lang="en-US" dirty="0"/>
                    </a:p>
                  </a:txBody>
                  <a:tcPr/>
                </a:tc>
                <a:tc>
                  <a:txBody>
                    <a:bodyPr/>
                    <a:lstStyle/>
                    <a:p>
                      <a:r>
                        <a:rPr lang="en-IN" dirty="0" smtClean="0"/>
                        <a:t>3</a:t>
                      </a:r>
                      <a:endParaRPr lang="en-US" dirty="0"/>
                    </a:p>
                  </a:txBody>
                  <a:tcPr/>
                </a:tc>
              </a:tr>
              <a:tr h="339979">
                <a:tc>
                  <a:txBody>
                    <a:bodyPr/>
                    <a:lstStyle/>
                    <a:p>
                      <a:r>
                        <a:rPr lang="en-IN" dirty="0" smtClean="0"/>
                        <a:t>Milk , butter, Cookies</a:t>
                      </a:r>
                      <a:endParaRPr lang="en-US" dirty="0"/>
                    </a:p>
                  </a:txBody>
                  <a:tcPr/>
                </a:tc>
                <a:tc>
                  <a:txBody>
                    <a:bodyPr/>
                    <a:lstStyle/>
                    <a:p>
                      <a:r>
                        <a:rPr lang="en-IN" dirty="0" smtClean="0"/>
                        <a:t>2</a:t>
                      </a:r>
                      <a:endParaRPr lang="en-US" dirty="0"/>
                    </a:p>
                  </a:txBody>
                  <a:tcPr/>
                </a:tc>
              </a:tr>
            </a:tbl>
          </a:graphicData>
        </a:graphic>
      </p:graphicFrame>
      <p:sp>
        <p:nvSpPr>
          <p:cNvPr id="4" name="Date Placeholder 3"/>
          <p:cNvSpPr>
            <a:spLocks noGrp="1"/>
          </p:cNvSpPr>
          <p:nvPr>
            <p:ph type="dt" sz="half" idx="10"/>
          </p:nvPr>
        </p:nvSpPr>
        <p:spPr/>
        <p:txBody>
          <a:bodyPr/>
          <a:lstStyle/>
          <a:p>
            <a:fld id="{136C72BE-1EB1-4D3D-82B3-E7DC2624987E}" type="datetime1">
              <a:rPr lang="en-US" smtClean="0"/>
              <a:pPr/>
              <a:t>9/12/2022</a:t>
            </a:fld>
            <a:endParaRPr lang="en-US"/>
          </a:p>
        </p:txBody>
      </p:sp>
      <p:sp>
        <p:nvSpPr>
          <p:cNvPr id="5" name="Slide Number Placeholder 4"/>
          <p:cNvSpPr>
            <a:spLocks noGrp="1"/>
          </p:cNvSpPr>
          <p:nvPr>
            <p:ph type="sldNum" sz="quarter" idx="4"/>
          </p:nvPr>
        </p:nvSpPr>
        <p:spPr/>
        <p:txBody>
          <a:bodyPr/>
          <a:lstStyle/>
          <a:p>
            <a:r>
              <a:rPr lang="en-US" smtClean="0"/>
              <a:t>Slide no. </a:t>
            </a:r>
            <a:fld id="{7240F3D1-AE27-48C7-9FC9-EF8542F23A88}" type="slidenum">
              <a:rPr lang="en-US" smtClean="0"/>
              <a:pPr/>
              <a:t>15</a:t>
            </a:fld>
            <a:endParaRPr lang="en-US" dirty="0"/>
          </a:p>
        </p:txBody>
      </p:sp>
      <p:sp>
        <p:nvSpPr>
          <p:cNvPr id="7" name="TextBox 6"/>
          <p:cNvSpPr txBox="1"/>
          <p:nvPr/>
        </p:nvSpPr>
        <p:spPr>
          <a:xfrm>
            <a:off x="213360" y="1097280"/>
            <a:ext cx="2944268" cy="369332"/>
          </a:xfrm>
          <a:prstGeom prst="rect">
            <a:avLst/>
          </a:prstGeom>
          <a:noFill/>
        </p:spPr>
        <p:txBody>
          <a:bodyPr wrap="none" rtlCol="0">
            <a:spAutoFit/>
          </a:bodyPr>
          <a:lstStyle/>
          <a:p>
            <a:r>
              <a:rPr lang="en-IN" dirty="0" smtClean="0"/>
              <a:t>Milk,  Bread,  Butter,  Cookies</a:t>
            </a:r>
            <a:endParaRPr lang="en-US" dirty="0"/>
          </a:p>
        </p:txBody>
      </p:sp>
      <p:graphicFrame>
        <p:nvGraphicFramePr>
          <p:cNvPr id="8" name="Table 7"/>
          <p:cNvGraphicFramePr>
            <a:graphicFrameLocks noGrp="1"/>
          </p:cNvGraphicFramePr>
          <p:nvPr/>
        </p:nvGraphicFramePr>
        <p:xfrm>
          <a:off x="4850130" y="1788160"/>
          <a:ext cx="5401310" cy="1329690"/>
        </p:xfrm>
        <a:graphic>
          <a:graphicData uri="http://schemas.openxmlformats.org/drawingml/2006/table">
            <a:tbl>
              <a:tblPr firstRow="1" bandRow="1">
                <a:tableStyleId>{1E5458E1-0376-4910-A6E8-49B6F46B1678}</a:tableStyleId>
              </a:tblPr>
              <a:tblGrid>
                <a:gridCol w="2700655"/>
                <a:gridCol w="2700655"/>
              </a:tblGrid>
              <a:tr h="664845">
                <a:tc>
                  <a:txBody>
                    <a:bodyPr/>
                    <a:lstStyle/>
                    <a:p>
                      <a:r>
                        <a:rPr lang="en-IN" dirty="0" smtClean="0"/>
                        <a:t>Frequent 3 item sets</a:t>
                      </a:r>
                      <a:endParaRPr lang="en-US" dirty="0"/>
                    </a:p>
                  </a:txBody>
                  <a:tcPr/>
                </a:tc>
                <a:tc>
                  <a:txBody>
                    <a:bodyPr/>
                    <a:lstStyle/>
                    <a:p>
                      <a:r>
                        <a:rPr lang="en-IN" dirty="0" smtClean="0"/>
                        <a:t>Frequency </a:t>
                      </a:r>
                      <a:endParaRPr lang="en-US" dirty="0"/>
                    </a:p>
                  </a:txBody>
                  <a:tcPr/>
                </a:tc>
              </a:tr>
              <a:tr h="664845">
                <a:tc>
                  <a:txBody>
                    <a:bodyPr/>
                    <a:lstStyle/>
                    <a:p>
                      <a:r>
                        <a:rPr lang="en-IN" dirty="0" smtClean="0"/>
                        <a:t>Milk, bread, butter</a:t>
                      </a:r>
                      <a:endParaRPr lang="en-US" dirty="0"/>
                    </a:p>
                  </a:txBody>
                  <a:tcPr/>
                </a:tc>
                <a:tc>
                  <a:txBody>
                    <a:bodyPr/>
                    <a:lstStyle/>
                    <a:p>
                      <a:r>
                        <a:rPr lang="en-IN" dirty="0" smtClean="0"/>
                        <a:t>6</a:t>
                      </a:r>
                      <a:endParaRPr lang="en-US" dirty="0"/>
                    </a:p>
                  </a:txBody>
                  <a:tcPr/>
                </a:tc>
              </a:tr>
            </a:tbl>
          </a:graphicData>
        </a:graphic>
      </p:graphicFrame>
      <p:sp>
        <p:nvSpPr>
          <p:cNvPr id="9" name="TextBox 8"/>
          <p:cNvSpPr txBox="1"/>
          <p:nvPr/>
        </p:nvSpPr>
        <p:spPr>
          <a:xfrm>
            <a:off x="396240" y="3962400"/>
            <a:ext cx="8132611" cy="369332"/>
          </a:xfrm>
          <a:prstGeom prst="rect">
            <a:avLst/>
          </a:prstGeom>
          <a:noFill/>
        </p:spPr>
        <p:txBody>
          <a:bodyPr wrap="none" rtlCol="0">
            <a:spAutoFit/>
          </a:bodyPr>
          <a:lstStyle/>
          <a:p>
            <a:r>
              <a:rPr lang="en-IN" dirty="0" smtClean="0"/>
              <a:t>We can not form the 4 item set as we are having only single occurrence of 3 item set </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Association rule Mining</a:t>
            </a:r>
            <a:endParaRPr lang="en-US" dirty="0"/>
          </a:p>
        </p:txBody>
      </p:sp>
      <p:sp>
        <p:nvSpPr>
          <p:cNvPr id="3" name="Content Placeholder 2"/>
          <p:cNvSpPr>
            <a:spLocks noGrp="1"/>
          </p:cNvSpPr>
          <p:nvPr>
            <p:ph idx="1"/>
          </p:nvPr>
        </p:nvSpPr>
        <p:spPr/>
        <p:txBody>
          <a:bodyPr>
            <a:normAutofit/>
          </a:bodyPr>
          <a:lstStyle/>
          <a:p>
            <a:r>
              <a:rPr lang="en-IN" sz="2000" dirty="0" smtClean="0"/>
              <a:t>Frequent 3 item set = I =&gt; {Milk, Bread, Butter}</a:t>
            </a:r>
          </a:p>
          <a:p>
            <a:r>
              <a:rPr lang="en-IN" sz="2000" dirty="0" smtClean="0"/>
              <a:t>Non-Empty subsets are:</a:t>
            </a:r>
            <a:endParaRPr lang="en-US" sz="2000" dirty="0" smtClean="0"/>
          </a:p>
          <a:p>
            <a:pPr lvl="1"/>
            <a:r>
              <a:rPr lang="en-IN" sz="1850" dirty="0" smtClean="0"/>
              <a:t>{{Milk},{Bread},{Butter},{Milk, Bread},{Milk, butter}, {Bread, Butter}}	</a:t>
            </a:r>
          </a:p>
          <a:p>
            <a:r>
              <a:rPr lang="en-IN" sz="2000" dirty="0" smtClean="0"/>
              <a:t>How to form association rule:</a:t>
            </a:r>
          </a:p>
          <a:p>
            <a:pPr lvl="1"/>
            <a:r>
              <a:rPr lang="en-IN" sz="1850" dirty="0" smtClean="0"/>
              <a:t>For every non-empty subset S of I , the association rule is</a:t>
            </a:r>
          </a:p>
          <a:p>
            <a:pPr lvl="1"/>
            <a:r>
              <a:rPr lang="en-IN" sz="1850" dirty="0" smtClean="0"/>
              <a:t>S -&gt; (I-S)</a:t>
            </a:r>
          </a:p>
          <a:p>
            <a:pPr lvl="1"/>
            <a:r>
              <a:rPr lang="en-IN" sz="1850" dirty="0" smtClean="0"/>
              <a:t>{Milk} -&gt; {{{Milk},{Bread},{Butter}} - {Milk}} -&gt; {{Bread},{Butter}}</a:t>
            </a:r>
          </a:p>
          <a:p>
            <a:pPr lvl="1"/>
            <a:r>
              <a:rPr lang="en-IN" sz="1850" dirty="0" smtClean="0"/>
              <a:t>If support (I)/support(S)  &gt;= min confidence</a:t>
            </a:r>
          </a:p>
          <a:p>
            <a:r>
              <a:rPr lang="en-IN" sz="2000" dirty="0" smtClean="0"/>
              <a:t>  </a:t>
            </a:r>
          </a:p>
        </p:txBody>
      </p:sp>
      <p:sp>
        <p:nvSpPr>
          <p:cNvPr id="4" name="Date Placeholder 3"/>
          <p:cNvSpPr>
            <a:spLocks noGrp="1"/>
          </p:cNvSpPr>
          <p:nvPr>
            <p:ph type="dt" sz="half" idx="10"/>
          </p:nvPr>
        </p:nvSpPr>
        <p:spPr/>
        <p:txBody>
          <a:bodyPr/>
          <a:lstStyle/>
          <a:p>
            <a:fld id="{136C72BE-1EB1-4D3D-82B3-E7DC2624987E}" type="datetime1">
              <a:rPr lang="en-US" smtClean="0"/>
              <a:pPr/>
              <a:t>9/12/2022</a:t>
            </a:fld>
            <a:endParaRPr lang="en-US"/>
          </a:p>
        </p:txBody>
      </p:sp>
      <p:sp>
        <p:nvSpPr>
          <p:cNvPr id="5" name="Slide Number Placeholder 4"/>
          <p:cNvSpPr>
            <a:spLocks noGrp="1"/>
          </p:cNvSpPr>
          <p:nvPr>
            <p:ph type="sldNum" sz="quarter" idx="4"/>
          </p:nvPr>
        </p:nvSpPr>
        <p:spPr/>
        <p:txBody>
          <a:bodyPr/>
          <a:lstStyle/>
          <a:p>
            <a:r>
              <a:rPr lang="en-US" smtClean="0"/>
              <a:t>Slide no. </a:t>
            </a:r>
            <a:fld id="{7240F3D1-AE27-48C7-9FC9-EF8542F23A88}" type="slidenum">
              <a:rPr lang="en-US" smtClean="0"/>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Association rule Mining – Subset Creation</a:t>
            </a:r>
            <a:endParaRPr lang="en-US" dirty="0"/>
          </a:p>
        </p:txBody>
      </p:sp>
      <p:sp>
        <p:nvSpPr>
          <p:cNvPr id="3" name="Content Placeholder 2"/>
          <p:cNvSpPr>
            <a:spLocks noGrp="1"/>
          </p:cNvSpPr>
          <p:nvPr>
            <p:ph idx="1"/>
          </p:nvPr>
        </p:nvSpPr>
        <p:spPr/>
        <p:txBody>
          <a:bodyPr>
            <a:normAutofit fontScale="92500" lnSpcReduction="20000"/>
          </a:bodyPr>
          <a:lstStyle/>
          <a:p>
            <a:r>
              <a:rPr lang="en-IN" sz="2000" dirty="0" smtClean="0"/>
              <a:t>Non empty subsets are</a:t>
            </a:r>
          </a:p>
          <a:p>
            <a:pPr lvl="1"/>
            <a:r>
              <a:rPr lang="en-IN" sz="1850" dirty="0" smtClean="0"/>
              <a:t>{{Milk},{Bread},{Butter},{Milk, Bread},{Milk, butter}, {Bread, Butter}}</a:t>
            </a:r>
          </a:p>
          <a:p>
            <a:pPr lvl="1"/>
            <a:r>
              <a:rPr lang="en-IN" sz="1850" dirty="0" err="1" smtClean="0"/>
              <a:t>Min_support</a:t>
            </a:r>
            <a:r>
              <a:rPr lang="en-IN" sz="1850" dirty="0" smtClean="0"/>
              <a:t> = 30% and  </a:t>
            </a:r>
            <a:r>
              <a:rPr lang="en-IN" sz="1850" dirty="0" err="1" smtClean="0"/>
              <a:t>min_confidence</a:t>
            </a:r>
            <a:r>
              <a:rPr lang="en-IN" sz="1850" dirty="0" smtClean="0"/>
              <a:t> = 60%</a:t>
            </a:r>
          </a:p>
          <a:p>
            <a:r>
              <a:rPr lang="en-IN" sz="2000" dirty="0" smtClean="0"/>
              <a:t>Rule1: {Milk} -&gt; {Bread, Butter} {S = 50%, C = 66.67%}</a:t>
            </a:r>
          </a:p>
          <a:p>
            <a:pPr lvl="1"/>
            <a:r>
              <a:rPr lang="en-IN" sz="1850" dirty="0" smtClean="0"/>
              <a:t>Support:  6/12 =50%</a:t>
            </a:r>
          </a:p>
          <a:p>
            <a:pPr lvl="1"/>
            <a:r>
              <a:rPr lang="en-IN" sz="1850" dirty="0" smtClean="0"/>
              <a:t>Confidence : support(milk, bread, butter) / support(milk) = (6/12) / (9/12) = 6/9  =66. 67% &gt; 60%</a:t>
            </a:r>
          </a:p>
          <a:p>
            <a:r>
              <a:rPr lang="en-IN" sz="2000" dirty="0" smtClean="0"/>
              <a:t>Rule2: {Bread} -&gt; {Milk, Butter} {S = 50%, C = 66.67%}</a:t>
            </a:r>
          </a:p>
          <a:p>
            <a:pPr lvl="1"/>
            <a:r>
              <a:rPr lang="en-IN" sz="1850" dirty="0" smtClean="0"/>
              <a:t>Support:  6/12 =50%</a:t>
            </a:r>
          </a:p>
          <a:p>
            <a:pPr lvl="1"/>
            <a:r>
              <a:rPr lang="en-IN" sz="1850" dirty="0" smtClean="0"/>
              <a:t>Confidence : support(milk, bread, butter) / support(bread) = (6/12) / (10/12) = 6/10  =69% &gt; 60%</a:t>
            </a:r>
          </a:p>
          <a:p>
            <a:r>
              <a:rPr lang="en-IN" sz="2000" dirty="0" smtClean="0"/>
              <a:t>Rule3: {Butter} -&gt; {Milk, Bread} {S = 50%, C = 66.67%}</a:t>
            </a:r>
          </a:p>
          <a:p>
            <a:pPr lvl="1"/>
            <a:r>
              <a:rPr lang="en-IN" sz="1850" dirty="0" smtClean="0"/>
              <a:t>Support:  6/12 =50%</a:t>
            </a:r>
          </a:p>
          <a:p>
            <a:pPr lvl="1"/>
            <a:r>
              <a:rPr lang="en-IN" sz="1850" dirty="0" smtClean="0"/>
              <a:t>Confidence : support(milk, bread, butter) / support(butter) = (6/12) / (10/12) = 6/10  =69% &gt; 60%</a:t>
            </a:r>
          </a:p>
          <a:p>
            <a:endParaRPr lang="en-US" sz="2000" dirty="0" smtClean="0"/>
          </a:p>
          <a:p>
            <a:endParaRPr lang="en-US" sz="2000" dirty="0"/>
          </a:p>
        </p:txBody>
      </p:sp>
      <p:sp>
        <p:nvSpPr>
          <p:cNvPr id="4" name="Date Placeholder 3"/>
          <p:cNvSpPr>
            <a:spLocks noGrp="1"/>
          </p:cNvSpPr>
          <p:nvPr>
            <p:ph type="dt" sz="half" idx="10"/>
          </p:nvPr>
        </p:nvSpPr>
        <p:spPr/>
        <p:txBody>
          <a:bodyPr/>
          <a:lstStyle/>
          <a:p>
            <a:fld id="{136C72BE-1EB1-4D3D-82B3-E7DC2624987E}" type="datetime1">
              <a:rPr lang="en-US" smtClean="0"/>
              <a:pPr/>
              <a:t>9/12/2022</a:t>
            </a:fld>
            <a:endParaRPr lang="en-US"/>
          </a:p>
        </p:txBody>
      </p:sp>
      <p:sp>
        <p:nvSpPr>
          <p:cNvPr id="5" name="Slide Number Placeholder 4"/>
          <p:cNvSpPr>
            <a:spLocks noGrp="1"/>
          </p:cNvSpPr>
          <p:nvPr>
            <p:ph type="sldNum" sz="quarter" idx="4"/>
          </p:nvPr>
        </p:nvSpPr>
        <p:spPr/>
        <p:txBody>
          <a:bodyPr/>
          <a:lstStyle/>
          <a:p>
            <a:r>
              <a:rPr lang="en-US" smtClean="0"/>
              <a:t>Slide no. </a:t>
            </a:r>
            <a:fld id="{7240F3D1-AE27-48C7-9FC9-EF8542F23A88}" type="slidenum">
              <a:rPr lang="en-US" smtClean="0"/>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Association rule Mining – Subset Creation</a:t>
            </a:r>
            <a:endParaRPr lang="en-US" dirty="0"/>
          </a:p>
        </p:txBody>
      </p:sp>
      <p:sp>
        <p:nvSpPr>
          <p:cNvPr id="3" name="Content Placeholder 2"/>
          <p:cNvSpPr>
            <a:spLocks noGrp="1"/>
          </p:cNvSpPr>
          <p:nvPr>
            <p:ph idx="1"/>
          </p:nvPr>
        </p:nvSpPr>
        <p:spPr/>
        <p:txBody>
          <a:bodyPr/>
          <a:lstStyle/>
          <a:p>
            <a:r>
              <a:rPr lang="en-IN" sz="2000" dirty="0" smtClean="0"/>
              <a:t>Rule4: {Milk, Bread}  -&gt; {Butter}{S = 50%, C = 66.67%}</a:t>
            </a:r>
          </a:p>
          <a:p>
            <a:pPr lvl="1"/>
            <a:r>
              <a:rPr lang="en-IN" sz="1850" dirty="0" smtClean="0"/>
              <a:t>Support:  6/12 =50%</a:t>
            </a:r>
          </a:p>
          <a:p>
            <a:pPr lvl="1"/>
            <a:r>
              <a:rPr lang="en-IN" sz="1850" dirty="0" smtClean="0"/>
              <a:t>Confidence : support(milk, bread, butter) / support(</a:t>
            </a:r>
            <a:r>
              <a:rPr lang="en-IN" sz="1800" dirty="0" smtClean="0"/>
              <a:t>Milk, Bread</a:t>
            </a:r>
            <a:r>
              <a:rPr lang="en-IN" sz="1850" dirty="0" smtClean="0"/>
              <a:t>) = (6/12) / (7/12) = 6/7  = 85% &gt; 60%</a:t>
            </a:r>
          </a:p>
          <a:p>
            <a:r>
              <a:rPr lang="en-IN" sz="2000" dirty="0" smtClean="0"/>
              <a:t>Rule5: {Milk, Butter} -&gt; {Bread} {S = 50%, C = 66.67%}</a:t>
            </a:r>
          </a:p>
          <a:p>
            <a:pPr lvl="1"/>
            <a:r>
              <a:rPr lang="en-IN" sz="1850" dirty="0" smtClean="0"/>
              <a:t>Support:  6/12 =50%</a:t>
            </a:r>
          </a:p>
          <a:p>
            <a:pPr lvl="1"/>
            <a:r>
              <a:rPr lang="en-IN" sz="1850" dirty="0" smtClean="0"/>
              <a:t>Confidence : support(milk, bread, butter) / support(</a:t>
            </a:r>
            <a:r>
              <a:rPr lang="en-IN" sz="1800" dirty="0" smtClean="0"/>
              <a:t>Milk, </a:t>
            </a:r>
            <a:r>
              <a:rPr lang="en-IN" sz="1850" dirty="0" smtClean="0"/>
              <a:t>butter) = (6/12) / (7/12) = 6/7  = 85% &gt; 60%</a:t>
            </a:r>
          </a:p>
          <a:p>
            <a:r>
              <a:rPr lang="en-IN" sz="2000" dirty="0" smtClean="0"/>
              <a:t>Rule6: {Bread ,Butter} -&gt; {Milk} {S = 50%, C = 66.67%}</a:t>
            </a:r>
          </a:p>
          <a:p>
            <a:pPr lvl="1"/>
            <a:r>
              <a:rPr lang="en-IN" sz="1850" dirty="0" smtClean="0"/>
              <a:t>Support:  6/12 =50%</a:t>
            </a:r>
          </a:p>
          <a:p>
            <a:pPr lvl="1"/>
            <a:r>
              <a:rPr lang="en-IN" sz="1850" dirty="0" smtClean="0"/>
              <a:t>Confidence : support(milk, bread, butter) / support(</a:t>
            </a:r>
            <a:r>
              <a:rPr lang="en-IN" sz="1800" dirty="0" smtClean="0"/>
              <a:t>Bread ,</a:t>
            </a:r>
            <a:r>
              <a:rPr lang="en-IN" sz="1850" dirty="0" smtClean="0"/>
              <a:t>butter) = (6/12) / (9/12) = 6/9 = 66.67% &gt; 60%</a:t>
            </a:r>
          </a:p>
          <a:p>
            <a:endParaRPr lang="en-US" dirty="0"/>
          </a:p>
        </p:txBody>
      </p:sp>
      <p:sp>
        <p:nvSpPr>
          <p:cNvPr id="4" name="Date Placeholder 3"/>
          <p:cNvSpPr>
            <a:spLocks noGrp="1"/>
          </p:cNvSpPr>
          <p:nvPr>
            <p:ph type="dt" sz="half" idx="10"/>
          </p:nvPr>
        </p:nvSpPr>
        <p:spPr/>
        <p:txBody>
          <a:bodyPr/>
          <a:lstStyle/>
          <a:p>
            <a:fld id="{136C72BE-1EB1-4D3D-82B3-E7DC2624987E}" type="datetime1">
              <a:rPr lang="en-US" smtClean="0"/>
              <a:pPr/>
              <a:t>9/12/2022</a:t>
            </a:fld>
            <a:endParaRPr lang="en-US"/>
          </a:p>
        </p:txBody>
      </p:sp>
      <p:sp>
        <p:nvSpPr>
          <p:cNvPr id="5" name="Slide Number Placeholder 4"/>
          <p:cNvSpPr>
            <a:spLocks noGrp="1"/>
          </p:cNvSpPr>
          <p:nvPr>
            <p:ph type="sldNum" sz="quarter" idx="4"/>
          </p:nvPr>
        </p:nvSpPr>
        <p:spPr/>
        <p:txBody>
          <a:bodyPr/>
          <a:lstStyle/>
          <a:p>
            <a:r>
              <a:rPr lang="en-US" smtClean="0"/>
              <a:t>Slide no. </a:t>
            </a:r>
            <a:fld id="{7240F3D1-AE27-48C7-9FC9-EF8542F23A88}" type="slidenum">
              <a:rPr lang="en-US" smtClean="0"/>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Applications of Association Rules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1800" dirty="0"/>
              <a:t> Broad-scale approaches to better merchandising – what products should be included or excluded from the inventory each month.</a:t>
            </a:r>
          </a:p>
          <a:p>
            <a:pPr>
              <a:buFont typeface="Wingdings" panose="05000000000000000000" pitchFamily="2" charset="2"/>
              <a:buChar char="v"/>
            </a:pPr>
            <a:r>
              <a:rPr lang="en-US" sz="1800" dirty="0"/>
              <a:t> Cross-merchandising between products and high-margin high ticket items.</a:t>
            </a:r>
          </a:p>
          <a:p>
            <a:pPr>
              <a:buFont typeface="Wingdings" panose="05000000000000000000" pitchFamily="2" charset="2"/>
              <a:buChar char="v"/>
            </a:pPr>
            <a:r>
              <a:rPr lang="en-US" sz="1800" dirty="0"/>
              <a:t> Physical or logical placement of product within related categories of products.</a:t>
            </a:r>
          </a:p>
          <a:p>
            <a:pPr>
              <a:buFont typeface="Wingdings" panose="05000000000000000000" pitchFamily="2" charset="2"/>
              <a:buChar char="v"/>
            </a:pPr>
            <a:r>
              <a:rPr lang="en-US" sz="1800" dirty="0"/>
              <a:t> Promotional programs – multiple product purchase incentives managed through a loyalty card program</a:t>
            </a:r>
          </a:p>
          <a:p>
            <a:pPr>
              <a:buFont typeface="Wingdings" panose="05000000000000000000" pitchFamily="2" charset="2"/>
              <a:buChar char="v"/>
            </a:pPr>
            <a:r>
              <a:rPr lang="en-US" sz="1800" dirty="0"/>
              <a:t> </a:t>
            </a:r>
            <a:r>
              <a:rPr lang="en-IN" sz="1800" dirty="0"/>
              <a:t>Apart from market Basket analysis, association rules are also commonly used for recommender systems (Amazon and Netflix) and clickstream (web browsing user clicks) analysis.</a:t>
            </a:r>
            <a:endParaRPr lang="en-US" sz="1800" dirty="0"/>
          </a:p>
        </p:txBody>
      </p:sp>
      <p:sp>
        <p:nvSpPr>
          <p:cNvPr id="4" name="Footer Placeholder 3"/>
          <p:cNvSpPr>
            <a:spLocks noGrp="1"/>
          </p:cNvSpPr>
          <p:nvPr>
            <p:ph type="ftr" sz="quarter" idx="4294967295"/>
          </p:nvPr>
        </p:nvSpPr>
        <p:spPr>
          <a:xfrm>
            <a:off x="2421365" y="4844649"/>
            <a:ext cx="7072894" cy="273844"/>
          </a:xfrm>
          <a:prstGeom prst="rect">
            <a:avLst/>
          </a:prstGeom>
        </p:spPr>
        <p:txBody>
          <a:bodyPr lIns="68580" tIns="34290" rIns="68580" bIns="34290"/>
          <a:lstStyle/>
          <a:p>
            <a:endParaRPr lang="en-US" dirty="0">
              <a:solidFill>
                <a:srgbClr val="242852">
                  <a:lumMod val="50000"/>
                </a:srgbClr>
              </a:solidFill>
            </a:endParaRPr>
          </a:p>
        </p:txBody>
      </p:sp>
    </p:spTree>
    <p:extLst>
      <p:ext uri="{BB962C8B-B14F-4D97-AF65-F5344CB8AC3E}">
        <p14:creationId xmlns="" xmlns:p14="http://schemas.microsoft.com/office/powerpoint/2010/main" val="22894475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Use Case - description</a:t>
            </a:r>
          </a:p>
        </p:txBody>
      </p:sp>
      <p:sp>
        <p:nvSpPr>
          <p:cNvPr id="3" name="Content Placeholder 2"/>
          <p:cNvSpPr>
            <a:spLocks noGrp="1"/>
          </p:cNvSpPr>
          <p:nvPr>
            <p:ph idx="1"/>
          </p:nvPr>
        </p:nvSpPr>
        <p:spPr/>
        <p:txBody>
          <a:bodyPr/>
          <a:lstStyle/>
          <a:p>
            <a:r>
              <a:rPr lang="en-US" dirty="0"/>
              <a:t>Mike is store manager of a Multi brand retail store. He has access to the transactions data stored every time a customer buys something from his stores. He knew by experience that certain products are often bought together but with huge variety of products available, he wanted to perform some statistical test to capture the insightful association available in the transaction records available in his database. </a:t>
            </a:r>
          </a:p>
          <a:p>
            <a:r>
              <a:rPr lang="en-US" dirty="0"/>
              <a:t>He had plans to re-design the store layout so that customers find the associated products next to each other. He wanted to rethink over the offers and promotions to ensure that they make sense to the customers. Finally, this basket analysis will help him proactively recommend “What else” and “What next” to his loyal customers.</a:t>
            </a:r>
          </a:p>
          <a:p>
            <a:r>
              <a:rPr lang="en-US" dirty="0"/>
              <a:t>Mike will perform Market basket analysis and based on the output results, plan his store layout, promotions and recommendations. </a:t>
            </a:r>
          </a:p>
          <a:p>
            <a:endParaRPr lang="en-IN" dirty="0"/>
          </a:p>
        </p:txBody>
      </p:sp>
      <p:sp>
        <p:nvSpPr>
          <p:cNvPr id="4" name="Footer Placeholder 3"/>
          <p:cNvSpPr>
            <a:spLocks noGrp="1"/>
          </p:cNvSpPr>
          <p:nvPr>
            <p:ph type="ftr" sz="quarter" idx="4294967295"/>
          </p:nvPr>
        </p:nvSpPr>
        <p:spPr>
          <a:xfrm>
            <a:off x="2421365" y="4844649"/>
            <a:ext cx="7072894" cy="273844"/>
          </a:xfrm>
          <a:prstGeom prst="rect">
            <a:avLst/>
          </a:prstGeom>
        </p:spPr>
        <p:txBody>
          <a:bodyPr lIns="68580" tIns="34290" rIns="68580" bIns="34290"/>
          <a:lstStyle/>
          <a:p>
            <a:endParaRPr lang="en-US" dirty="0">
              <a:solidFill>
                <a:srgbClr val="242852">
                  <a:lumMod val="50000"/>
                </a:srgbClr>
              </a:solidFill>
            </a:endParaRPr>
          </a:p>
        </p:txBody>
      </p:sp>
    </p:spTree>
    <p:extLst>
      <p:ext uri="{BB962C8B-B14F-4D97-AF65-F5344CB8AC3E}">
        <p14:creationId xmlns="" xmlns:p14="http://schemas.microsoft.com/office/powerpoint/2010/main" val="6297096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Recommendation</a:t>
            </a:r>
            <a:endParaRPr lang="en-US" dirty="0"/>
          </a:p>
        </p:txBody>
      </p:sp>
      <p:sp>
        <p:nvSpPr>
          <p:cNvPr id="3" name="Text Placeholder 2"/>
          <p:cNvSpPr>
            <a:spLocks noGrp="1"/>
          </p:cNvSpPr>
          <p:nvPr>
            <p:ph type="body" idx="1"/>
          </p:nvPr>
        </p:nvSpPr>
        <p:spPr/>
        <p:txBody>
          <a:bodyPr/>
          <a:lstStyle/>
          <a:p>
            <a:endParaRPr lang="en-US"/>
          </a:p>
        </p:txBody>
      </p:sp>
      <p:sp>
        <p:nvSpPr>
          <p:cNvPr id="4" name="Date Placeholder 3"/>
          <p:cNvSpPr>
            <a:spLocks noGrp="1"/>
          </p:cNvSpPr>
          <p:nvPr>
            <p:ph type="dt" sz="half" idx="10"/>
          </p:nvPr>
        </p:nvSpPr>
        <p:spPr/>
        <p:txBody>
          <a:bodyPr/>
          <a:lstStyle/>
          <a:p>
            <a:fld id="{403DAB19-1AC9-42C4-92E0-1D4CE97CC0B3}" type="datetime1">
              <a:rPr lang="en-US" smtClean="0"/>
              <a:pPr/>
              <a:t>9/12/2022</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1D847BE-A75A-469E-9D5F-EC62E31FC1BC}"/>
              </a:ext>
            </a:extLst>
          </p:cNvPr>
          <p:cNvSpPr>
            <a:spLocks noGrp="1"/>
          </p:cNvSpPr>
          <p:nvPr>
            <p:ph type="title"/>
          </p:nvPr>
        </p:nvSpPr>
        <p:spPr/>
        <p:txBody>
          <a:bodyPr/>
          <a:lstStyle/>
          <a:p>
            <a:r>
              <a:rPr lang="en-US" dirty="0" smtClean="0"/>
              <a:t>Types of Recommendation system</a:t>
            </a:r>
            <a:endParaRPr lang="en-US" dirty="0"/>
          </a:p>
        </p:txBody>
      </p:sp>
      <p:sp>
        <p:nvSpPr>
          <p:cNvPr id="3" name="Date Placeholder 2">
            <a:extLst>
              <a:ext uri="{FF2B5EF4-FFF2-40B4-BE49-F238E27FC236}">
                <a16:creationId xmlns:a16="http://schemas.microsoft.com/office/drawing/2014/main" xmlns="" id="{1346D42A-C7F9-4A23-A23F-EB139983A9D3}"/>
              </a:ext>
            </a:extLst>
          </p:cNvPr>
          <p:cNvSpPr>
            <a:spLocks noGrp="1"/>
          </p:cNvSpPr>
          <p:nvPr>
            <p:ph type="dt" sz="half" idx="10"/>
          </p:nvPr>
        </p:nvSpPr>
        <p:spPr/>
        <p:txBody>
          <a:bodyPr/>
          <a:lstStyle/>
          <a:p>
            <a:fld id="{B604B242-A112-40FA-B30F-F44D6727C9BE}" type="datetime1">
              <a:rPr lang="en-US" smtClean="0"/>
              <a:pPr/>
              <a:t>9/12/2022</a:t>
            </a:fld>
            <a:endParaRPr lang="en-US"/>
          </a:p>
        </p:txBody>
      </p:sp>
      <p:sp>
        <p:nvSpPr>
          <p:cNvPr id="4" name="Slide Number Placeholder 3">
            <a:extLst>
              <a:ext uri="{FF2B5EF4-FFF2-40B4-BE49-F238E27FC236}">
                <a16:creationId xmlns:a16="http://schemas.microsoft.com/office/drawing/2014/main" xmlns="" id="{A4DF8A8E-B838-4CAF-A752-90B292884AB8}"/>
              </a:ext>
            </a:extLst>
          </p:cNvPr>
          <p:cNvSpPr>
            <a:spLocks noGrp="1"/>
          </p:cNvSpPr>
          <p:nvPr>
            <p:ph type="sldNum" sz="quarter" idx="4"/>
          </p:nvPr>
        </p:nvSpPr>
        <p:spPr/>
        <p:txBody>
          <a:bodyPr/>
          <a:lstStyle/>
          <a:p>
            <a:r>
              <a:rPr lang="en-US"/>
              <a:t>Slide no. </a:t>
            </a:r>
            <a:fld id="{7240F3D1-AE27-48C7-9FC9-EF8542F23A88}" type="slidenum">
              <a:rPr lang="en-US" smtClean="0"/>
              <a:pPr/>
              <a:t>22</a:t>
            </a:fld>
            <a:endParaRPr lang="en-US" dirty="0"/>
          </a:p>
        </p:txBody>
      </p:sp>
      <p:sp>
        <p:nvSpPr>
          <p:cNvPr id="5" name="Rectangle 4">
            <a:extLst>
              <a:ext uri="{FF2B5EF4-FFF2-40B4-BE49-F238E27FC236}">
                <a16:creationId xmlns:a16="http://schemas.microsoft.com/office/drawing/2014/main" xmlns="" id="{37A4755A-8840-40F2-99CE-3F6D690DF9AD}"/>
              </a:ext>
            </a:extLst>
          </p:cNvPr>
          <p:cNvSpPr/>
          <p:nvPr/>
        </p:nvSpPr>
        <p:spPr>
          <a:xfrm>
            <a:off x="0" y="891540"/>
            <a:ext cx="10801350" cy="1815882"/>
          </a:xfrm>
          <a:prstGeom prst="rect">
            <a:avLst/>
          </a:prstGeom>
        </p:spPr>
        <p:txBody>
          <a:bodyPr wrap="square">
            <a:spAutoFit/>
          </a:bodyPr>
          <a:lstStyle/>
          <a:p>
            <a:r>
              <a:rPr lang="en-US" sz="1600" dirty="0" smtClean="0"/>
              <a:t>Collaborative Filtering</a:t>
            </a:r>
          </a:p>
          <a:p>
            <a:endParaRPr lang="en-US" sz="1600" dirty="0" smtClean="0"/>
          </a:p>
          <a:p>
            <a:r>
              <a:rPr lang="en-US" sz="1600" dirty="0" smtClean="0"/>
              <a:t>Content based filtering</a:t>
            </a:r>
          </a:p>
          <a:p>
            <a:endParaRPr lang="en-US" sz="1600" dirty="0" smtClean="0"/>
          </a:p>
          <a:p>
            <a:r>
              <a:rPr lang="en-US" sz="1600" dirty="0" smtClean="0"/>
              <a:t>Hybrid-Combination of the Collaborative and content based</a:t>
            </a:r>
          </a:p>
          <a:p>
            <a:endParaRPr lang="en-US" sz="1600" dirty="0" smtClean="0"/>
          </a:p>
          <a:p>
            <a:r>
              <a:rPr lang="en-US" sz="1600" dirty="0" smtClean="0"/>
              <a:t>Popularity based:  e.g. most Downloaded, Most watched,  Most bought, </a:t>
            </a:r>
            <a:endParaRPr lang="en-US" sz="1600" dirty="0"/>
          </a:p>
        </p:txBody>
      </p:sp>
    </p:spTree>
    <p:extLst>
      <p:ext uri="{BB962C8B-B14F-4D97-AF65-F5344CB8AC3E}">
        <p14:creationId xmlns:p14="http://schemas.microsoft.com/office/powerpoint/2010/main" xmlns="" val="2344504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B109AE-51E3-477E-8727-C638BEF7B389}"/>
              </a:ext>
            </a:extLst>
          </p:cNvPr>
          <p:cNvSpPr>
            <a:spLocks noGrp="1"/>
          </p:cNvSpPr>
          <p:nvPr>
            <p:ph type="title"/>
          </p:nvPr>
        </p:nvSpPr>
        <p:spPr/>
        <p:txBody>
          <a:bodyPr>
            <a:normAutofit/>
          </a:bodyPr>
          <a:lstStyle/>
          <a:p>
            <a:r>
              <a:rPr lang="en-US" dirty="0" smtClean="0"/>
              <a:t>Content based filtering</a:t>
            </a:r>
            <a:endParaRPr lang="en-US" dirty="0"/>
          </a:p>
        </p:txBody>
      </p:sp>
      <p:sp>
        <p:nvSpPr>
          <p:cNvPr id="3" name="Date Placeholder 2">
            <a:extLst>
              <a:ext uri="{FF2B5EF4-FFF2-40B4-BE49-F238E27FC236}">
                <a16:creationId xmlns:a16="http://schemas.microsoft.com/office/drawing/2014/main" xmlns="" id="{1BD619FA-5FD4-4686-9070-DA55D2111E45}"/>
              </a:ext>
            </a:extLst>
          </p:cNvPr>
          <p:cNvSpPr>
            <a:spLocks noGrp="1"/>
          </p:cNvSpPr>
          <p:nvPr>
            <p:ph type="dt" sz="half" idx="10"/>
          </p:nvPr>
        </p:nvSpPr>
        <p:spPr/>
        <p:txBody>
          <a:bodyPr/>
          <a:lstStyle/>
          <a:p>
            <a:fld id="{B604B242-A112-40FA-B30F-F44D6727C9BE}" type="datetime1">
              <a:rPr lang="en-US" smtClean="0"/>
              <a:pPr/>
              <a:t>9/12/2022</a:t>
            </a:fld>
            <a:endParaRPr lang="en-US"/>
          </a:p>
        </p:txBody>
      </p:sp>
      <p:sp>
        <p:nvSpPr>
          <p:cNvPr id="4" name="Slide Number Placeholder 3">
            <a:extLst>
              <a:ext uri="{FF2B5EF4-FFF2-40B4-BE49-F238E27FC236}">
                <a16:creationId xmlns:a16="http://schemas.microsoft.com/office/drawing/2014/main" xmlns="" id="{4FA45849-674F-4736-B273-D42200B69101}"/>
              </a:ext>
            </a:extLst>
          </p:cNvPr>
          <p:cNvSpPr>
            <a:spLocks noGrp="1"/>
          </p:cNvSpPr>
          <p:nvPr>
            <p:ph type="sldNum" sz="quarter" idx="4"/>
          </p:nvPr>
        </p:nvSpPr>
        <p:spPr/>
        <p:txBody>
          <a:bodyPr/>
          <a:lstStyle/>
          <a:p>
            <a:r>
              <a:rPr lang="en-US"/>
              <a:t>Slide no. </a:t>
            </a:r>
            <a:fld id="{7240F3D1-AE27-48C7-9FC9-EF8542F23A88}" type="slidenum">
              <a:rPr lang="en-US" smtClean="0"/>
              <a:pPr/>
              <a:t>23</a:t>
            </a:fld>
            <a:endParaRPr lang="en-US" dirty="0"/>
          </a:p>
        </p:txBody>
      </p:sp>
      <p:sp>
        <p:nvSpPr>
          <p:cNvPr id="5" name="Rectangle 4">
            <a:extLst>
              <a:ext uri="{FF2B5EF4-FFF2-40B4-BE49-F238E27FC236}">
                <a16:creationId xmlns:a16="http://schemas.microsoft.com/office/drawing/2014/main" xmlns="" id="{37117386-C9DE-4B47-BBBB-F8AA3FF5EFF6}"/>
              </a:ext>
            </a:extLst>
          </p:cNvPr>
          <p:cNvSpPr/>
          <p:nvPr/>
        </p:nvSpPr>
        <p:spPr>
          <a:xfrm>
            <a:off x="177590" y="891541"/>
            <a:ext cx="10446171" cy="4093428"/>
          </a:xfrm>
          <a:prstGeom prst="rect">
            <a:avLst/>
          </a:prstGeom>
        </p:spPr>
        <p:txBody>
          <a:bodyPr wrap="square">
            <a:spAutoFit/>
          </a:bodyPr>
          <a:lstStyle/>
          <a:p>
            <a:pPr marL="285750" indent="-285750">
              <a:buFont typeface="Arial" panose="020B0604020202020204" pitchFamily="34" charset="0"/>
              <a:buChar char="•"/>
            </a:pPr>
            <a:r>
              <a:rPr lang="en-IN" sz="1600" dirty="0" smtClean="0"/>
              <a:t>Machine Learning uses similarities in features to make the decision</a:t>
            </a:r>
          </a:p>
          <a:p>
            <a:pPr marL="285750" indent="-285750">
              <a:buFont typeface="Arial" panose="020B0604020202020204" pitchFamily="34" charset="0"/>
              <a:buChar char="•"/>
            </a:pPr>
            <a:r>
              <a:rPr lang="en-IN" sz="1600" dirty="0" smtClean="0"/>
              <a:t>Algorithms designed to advertise or recommend things to user based on the knowledge about user</a:t>
            </a:r>
            <a:endParaRPr lang="en-US" sz="1600" dirty="0" smtClean="0"/>
          </a:p>
          <a:p>
            <a:pPr marL="285750" indent="-285750">
              <a:buFont typeface="Arial" panose="020B0604020202020204" pitchFamily="34" charset="0"/>
              <a:buChar char="•"/>
            </a:pPr>
            <a:r>
              <a:rPr lang="en-US" sz="1600" dirty="0" smtClean="0"/>
              <a:t>Based on the content and liking of the customer, next recommendation will be given</a:t>
            </a:r>
          </a:p>
          <a:p>
            <a:pPr marL="285750" indent="-285750">
              <a:buFont typeface="Arial" panose="020B0604020202020204" pitchFamily="34" charset="0"/>
              <a:buChar char="•"/>
            </a:pPr>
            <a:r>
              <a:rPr lang="en-IN" sz="1600" dirty="0" smtClean="0"/>
              <a:t>Compare user interest and product features</a:t>
            </a:r>
          </a:p>
          <a:p>
            <a:pPr marL="285750" indent="-285750">
              <a:buFont typeface="Arial" panose="020B0604020202020204" pitchFamily="34" charset="0"/>
              <a:buChar char="•"/>
            </a:pPr>
            <a:r>
              <a:rPr lang="en-IN" sz="1600" dirty="0" smtClean="0"/>
              <a:t>Most overlapping features with user interest are what’s recommended</a:t>
            </a:r>
            <a:endParaRPr lang="en-US" sz="1600" dirty="0" smtClean="0"/>
          </a:p>
          <a:p>
            <a:pPr marL="285750" indent="-285750">
              <a:buFont typeface="Arial" panose="020B0604020202020204" pitchFamily="34" charset="0"/>
              <a:buChar char="•"/>
            </a:pPr>
            <a:r>
              <a:rPr lang="en-US" sz="1600" dirty="0" smtClean="0"/>
              <a:t>E.g. Book, movie genres </a:t>
            </a:r>
          </a:p>
          <a:p>
            <a:pPr marL="285750" indent="-285750">
              <a:buFont typeface="Arial" panose="020B0604020202020204" pitchFamily="34" charset="0"/>
              <a:buChar char="•"/>
            </a:pPr>
            <a:endParaRPr lang="en-US" sz="1600" dirty="0" smtClean="0"/>
          </a:p>
          <a:p>
            <a:pPr marL="285750" indent="-285750"/>
            <a:r>
              <a:rPr lang="en-US" sz="2000" dirty="0" smtClean="0">
                <a:solidFill>
                  <a:srgbClr val="FF0000"/>
                </a:solidFill>
              </a:rPr>
              <a:t>Methodology for content based filtering:</a:t>
            </a:r>
          </a:p>
          <a:p>
            <a:pPr marL="285750" indent="-285750"/>
            <a:r>
              <a:rPr lang="en-US" sz="1600" dirty="0" smtClean="0"/>
              <a:t>There are two methods for content based filtering	</a:t>
            </a:r>
          </a:p>
          <a:p>
            <a:pPr marL="285750" indent="-285750">
              <a:buFont typeface="Arial" pitchFamily="34" charset="0"/>
              <a:buChar char="•"/>
            </a:pPr>
            <a:r>
              <a:rPr lang="en-IN" sz="1600" dirty="0" smtClean="0"/>
              <a:t>User can be given list of features, out of which they can choose whatever they identified the most</a:t>
            </a:r>
          </a:p>
          <a:p>
            <a:pPr marL="285750" indent="-285750">
              <a:buFont typeface="Arial" pitchFamily="34" charset="0"/>
              <a:buChar char="•"/>
            </a:pPr>
            <a:r>
              <a:rPr lang="en-IN" sz="1600" dirty="0" smtClean="0"/>
              <a:t>The algorithm can keep track of products the user has chosen before and add those features to the user data.</a:t>
            </a:r>
            <a:endParaRPr lang="en-US" sz="1600" dirty="0" smtClean="0"/>
          </a:p>
          <a:p>
            <a:pPr marL="285750" indent="-285750">
              <a:buFont typeface="Arial" pitchFamily="34" charset="0"/>
              <a:buChar char="•"/>
            </a:pPr>
            <a:endParaRPr lang="en-IN" sz="1600" dirty="0" smtClean="0"/>
          </a:p>
          <a:p>
            <a:pPr marL="285750" indent="-285750"/>
            <a:r>
              <a:rPr lang="en-IN" sz="1600" dirty="0" smtClean="0"/>
              <a:t>Formula to calculate user interest:</a:t>
            </a:r>
          </a:p>
          <a:p>
            <a:pPr marL="285750" indent="-285750"/>
            <a:r>
              <a:rPr lang="en-IN" sz="1600" dirty="0" smtClean="0"/>
              <a:t>User interest level  = ∑ (pi, </a:t>
            </a:r>
            <a:r>
              <a:rPr lang="en-IN" sz="1600" dirty="0" err="1" smtClean="0"/>
              <a:t>ui</a:t>
            </a:r>
            <a:r>
              <a:rPr lang="en-IN" sz="1600" dirty="0" smtClean="0"/>
              <a:t>)</a:t>
            </a:r>
          </a:p>
          <a:p>
            <a:pPr marL="285750" indent="-285750"/>
            <a:r>
              <a:rPr lang="en-IN" sz="1600" dirty="0" smtClean="0"/>
              <a:t>Pi is the product feature values in column </a:t>
            </a:r>
            <a:r>
              <a:rPr lang="en-IN" sz="1600" dirty="0" err="1" smtClean="0"/>
              <a:t>i</a:t>
            </a:r>
            <a:endParaRPr lang="en-IN" sz="1600" dirty="0" smtClean="0"/>
          </a:p>
          <a:p>
            <a:pPr marL="285750" indent="-285750"/>
            <a:r>
              <a:rPr lang="en-IN" sz="1600" dirty="0" err="1" smtClean="0"/>
              <a:t>Ui</a:t>
            </a:r>
            <a:r>
              <a:rPr lang="en-IN" sz="1600" dirty="0" smtClean="0"/>
              <a:t> is the user interest value in column </a:t>
            </a:r>
            <a:r>
              <a:rPr lang="en-IN" sz="1600" dirty="0" err="1" smtClean="0"/>
              <a:t>i</a:t>
            </a:r>
            <a:endParaRPr lang="en-IN" sz="1600" dirty="0" smtClean="0"/>
          </a:p>
        </p:txBody>
      </p:sp>
    </p:spTree>
    <p:extLst>
      <p:ext uri="{BB962C8B-B14F-4D97-AF65-F5344CB8AC3E}">
        <p14:creationId xmlns:p14="http://schemas.microsoft.com/office/powerpoint/2010/main" xmlns="" val="3685710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B109AE-51E3-477E-8727-C638BEF7B389}"/>
              </a:ext>
            </a:extLst>
          </p:cNvPr>
          <p:cNvSpPr>
            <a:spLocks noGrp="1"/>
          </p:cNvSpPr>
          <p:nvPr>
            <p:ph type="title"/>
          </p:nvPr>
        </p:nvSpPr>
        <p:spPr/>
        <p:txBody>
          <a:bodyPr>
            <a:normAutofit/>
          </a:bodyPr>
          <a:lstStyle/>
          <a:p>
            <a:r>
              <a:rPr lang="en-US" dirty="0" smtClean="0"/>
              <a:t>Problem Statement</a:t>
            </a:r>
            <a:endParaRPr lang="en-US" dirty="0"/>
          </a:p>
        </p:txBody>
      </p:sp>
      <p:sp>
        <p:nvSpPr>
          <p:cNvPr id="3" name="Date Placeholder 2">
            <a:extLst>
              <a:ext uri="{FF2B5EF4-FFF2-40B4-BE49-F238E27FC236}">
                <a16:creationId xmlns:a16="http://schemas.microsoft.com/office/drawing/2014/main" xmlns="" id="{1BD619FA-5FD4-4686-9070-DA55D2111E45}"/>
              </a:ext>
            </a:extLst>
          </p:cNvPr>
          <p:cNvSpPr>
            <a:spLocks noGrp="1"/>
          </p:cNvSpPr>
          <p:nvPr>
            <p:ph type="dt" sz="half" idx="10"/>
          </p:nvPr>
        </p:nvSpPr>
        <p:spPr/>
        <p:txBody>
          <a:bodyPr/>
          <a:lstStyle/>
          <a:p>
            <a:fld id="{B604B242-A112-40FA-B30F-F44D6727C9BE}" type="datetime1">
              <a:rPr lang="en-US" smtClean="0"/>
              <a:pPr/>
              <a:t>9/12/2022</a:t>
            </a:fld>
            <a:endParaRPr lang="en-US"/>
          </a:p>
        </p:txBody>
      </p:sp>
      <p:sp>
        <p:nvSpPr>
          <p:cNvPr id="4" name="Slide Number Placeholder 3">
            <a:extLst>
              <a:ext uri="{FF2B5EF4-FFF2-40B4-BE49-F238E27FC236}">
                <a16:creationId xmlns:a16="http://schemas.microsoft.com/office/drawing/2014/main" xmlns="" id="{4FA45849-674F-4736-B273-D42200B69101}"/>
              </a:ext>
            </a:extLst>
          </p:cNvPr>
          <p:cNvSpPr>
            <a:spLocks noGrp="1"/>
          </p:cNvSpPr>
          <p:nvPr>
            <p:ph type="sldNum" sz="quarter" idx="4"/>
          </p:nvPr>
        </p:nvSpPr>
        <p:spPr/>
        <p:txBody>
          <a:bodyPr/>
          <a:lstStyle/>
          <a:p>
            <a:r>
              <a:rPr lang="en-US"/>
              <a:t>Slide no. </a:t>
            </a:r>
            <a:fld id="{7240F3D1-AE27-48C7-9FC9-EF8542F23A88}" type="slidenum">
              <a:rPr lang="en-US" smtClean="0"/>
              <a:pPr/>
              <a:t>24</a:t>
            </a:fld>
            <a:endParaRPr lang="en-US" dirty="0"/>
          </a:p>
        </p:txBody>
      </p:sp>
      <p:sp>
        <p:nvSpPr>
          <p:cNvPr id="5" name="Rectangle 4">
            <a:extLst>
              <a:ext uri="{FF2B5EF4-FFF2-40B4-BE49-F238E27FC236}">
                <a16:creationId xmlns:a16="http://schemas.microsoft.com/office/drawing/2014/main" xmlns="" id="{37117386-C9DE-4B47-BBBB-F8AA3FF5EFF6}"/>
              </a:ext>
            </a:extLst>
          </p:cNvPr>
          <p:cNvSpPr/>
          <p:nvPr/>
        </p:nvSpPr>
        <p:spPr>
          <a:xfrm>
            <a:off x="177590" y="891541"/>
            <a:ext cx="10446171" cy="1323439"/>
          </a:xfrm>
          <a:prstGeom prst="rect">
            <a:avLst/>
          </a:prstGeom>
        </p:spPr>
        <p:txBody>
          <a:bodyPr wrap="square">
            <a:spAutoFit/>
          </a:bodyPr>
          <a:lstStyle/>
          <a:p>
            <a:r>
              <a:rPr lang="en-US" sz="1600" b="1" dirty="0" smtClean="0"/>
              <a:t>Travel booking website books thousands of hotel rooms everyday</a:t>
            </a:r>
          </a:p>
          <a:p>
            <a:endParaRPr lang="en-US" sz="1600" b="1" dirty="0" smtClean="0"/>
          </a:p>
          <a:p>
            <a:r>
              <a:rPr lang="en-US" sz="1600" b="1" dirty="0" smtClean="0"/>
              <a:t>With such a huge growth, the task is to improve the booking per customer by showing the best hotels as per the taste and preferences of the user.</a:t>
            </a:r>
          </a:p>
          <a:p>
            <a:endParaRPr lang="en-US" sz="1600" b="1" dirty="0" smtClean="0"/>
          </a:p>
        </p:txBody>
      </p:sp>
      <p:graphicFrame>
        <p:nvGraphicFramePr>
          <p:cNvPr id="6" name="Table 5"/>
          <p:cNvGraphicFramePr>
            <a:graphicFrameLocks noGrp="1"/>
          </p:cNvGraphicFramePr>
          <p:nvPr/>
        </p:nvGraphicFramePr>
        <p:xfrm>
          <a:off x="1432520" y="2251818"/>
          <a:ext cx="7200900" cy="1854200"/>
        </p:xfrm>
        <a:graphic>
          <a:graphicData uri="http://schemas.openxmlformats.org/drawingml/2006/table">
            <a:tbl>
              <a:tblPr firstRow="1" bandRow="1">
                <a:tableStyleId>{1E5458E1-0376-4910-A6E8-49B6F46B1678}</a:tableStyleId>
              </a:tblPr>
              <a:tblGrid>
                <a:gridCol w="1210364"/>
                <a:gridCol w="5990536"/>
              </a:tblGrid>
              <a:tr h="370840">
                <a:tc>
                  <a:txBody>
                    <a:bodyPr/>
                    <a:lstStyle/>
                    <a:p>
                      <a:r>
                        <a:rPr lang="en-US" dirty="0" smtClean="0"/>
                        <a:t>Hotel 1</a:t>
                      </a:r>
                      <a:endParaRPr lang="en-US" dirty="0"/>
                    </a:p>
                  </a:txBody>
                  <a:tcPr marL="108013" marR="108013"/>
                </a:tc>
                <a:tc>
                  <a:txBody>
                    <a:bodyPr/>
                    <a:lstStyle/>
                    <a:p>
                      <a:r>
                        <a:rPr lang="en-US" dirty="0" smtClean="0"/>
                        <a:t>Good gym,   Small Pool</a:t>
                      </a:r>
                      <a:endParaRPr lang="en-US" dirty="0"/>
                    </a:p>
                  </a:txBody>
                  <a:tcPr marL="108013" marR="108013"/>
                </a:tc>
              </a:tr>
              <a:tr h="370840">
                <a:tc>
                  <a:txBody>
                    <a:bodyPr/>
                    <a:lstStyle/>
                    <a:p>
                      <a:r>
                        <a:rPr lang="en-US" dirty="0" smtClean="0"/>
                        <a:t>Hotel 2</a:t>
                      </a:r>
                      <a:endParaRPr lang="en-US" dirty="0"/>
                    </a:p>
                  </a:txBody>
                  <a:tcPr marL="108013" marR="108013"/>
                </a:tc>
                <a:tc>
                  <a:txBody>
                    <a:bodyPr/>
                    <a:lstStyle/>
                    <a:p>
                      <a:r>
                        <a:rPr lang="en-US" dirty="0" smtClean="0"/>
                        <a:t>Amazing Gym,  No Pool</a:t>
                      </a:r>
                      <a:endParaRPr lang="en-US" dirty="0"/>
                    </a:p>
                  </a:txBody>
                  <a:tcPr marL="108013" marR="108013"/>
                </a:tc>
              </a:tr>
              <a:tr h="370840">
                <a:tc>
                  <a:txBody>
                    <a:bodyPr/>
                    <a:lstStyle/>
                    <a:p>
                      <a:r>
                        <a:rPr lang="en-US" dirty="0" smtClean="0"/>
                        <a:t>Hotel 3</a:t>
                      </a:r>
                      <a:endParaRPr lang="en-US" dirty="0"/>
                    </a:p>
                  </a:txBody>
                  <a:tcPr marL="108013" marR="108013"/>
                </a:tc>
                <a:tc>
                  <a:txBody>
                    <a:bodyPr/>
                    <a:lstStyle/>
                    <a:p>
                      <a:r>
                        <a:rPr lang="en-US" dirty="0" smtClean="0"/>
                        <a:t>Great Gym and Small Pool</a:t>
                      </a:r>
                      <a:endParaRPr lang="en-US" dirty="0"/>
                    </a:p>
                  </a:txBody>
                  <a:tcPr marL="108013" marR="108013"/>
                </a:tc>
              </a:tr>
              <a:tr h="370840">
                <a:tc>
                  <a:txBody>
                    <a:bodyPr/>
                    <a:lstStyle/>
                    <a:p>
                      <a:r>
                        <a:rPr lang="en-US" dirty="0" smtClean="0"/>
                        <a:t>Hotel 4</a:t>
                      </a:r>
                      <a:endParaRPr lang="en-US" dirty="0"/>
                    </a:p>
                  </a:txBody>
                  <a:tcPr marL="108013" marR="108013"/>
                </a:tc>
                <a:tc>
                  <a:txBody>
                    <a:bodyPr/>
                    <a:lstStyle/>
                    <a:p>
                      <a:r>
                        <a:rPr lang="en-US" dirty="0" smtClean="0"/>
                        <a:t>Basic Gym and Large Pool</a:t>
                      </a:r>
                      <a:endParaRPr lang="en-US" dirty="0"/>
                    </a:p>
                  </a:txBody>
                  <a:tcPr marL="108013" marR="108013"/>
                </a:tc>
              </a:tr>
              <a:tr h="370840">
                <a:tc>
                  <a:txBody>
                    <a:bodyPr/>
                    <a:lstStyle/>
                    <a:p>
                      <a:r>
                        <a:rPr lang="en-US" dirty="0" smtClean="0"/>
                        <a:t>Hotel 5</a:t>
                      </a:r>
                      <a:endParaRPr lang="en-US" dirty="0"/>
                    </a:p>
                  </a:txBody>
                  <a:tcPr marL="108013" marR="108013"/>
                </a:tc>
                <a:tc>
                  <a:txBody>
                    <a:bodyPr/>
                    <a:lstStyle/>
                    <a:p>
                      <a:r>
                        <a:rPr lang="en-US" dirty="0" smtClean="0"/>
                        <a:t>No Gym and large designer pool</a:t>
                      </a:r>
                      <a:endParaRPr lang="en-US" dirty="0"/>
                    </a:p>
                  </a:txBody>
                  <a:tcPr marL="108013" marR="108013"/>
                </a:tc>
              </a:tr>
            </a:tbl>
          </a:graphicData>
        </a:graphic>
      </p:graphicFrame>
    </p:spTree>
    <p:extLst>
      <p:ext uri="{BB962C8B-B14F-4D97-AF65-F5344CB8AC3E}">
        <p14:creationId xmlns:p14="http://schemas.microsoft.com/office/powerpoint/2010/main" xmlns="" val="41794390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B109AE-51E3-477E-8727-C638BEF7B389}"/>
              </a:ext>
            </a:extLst>
          </p:cNvPr>
          <p:cNvSpPr>
            <a:spLocks noGrp="1"/>
          </p:cNvSpPr>
          <p:nvPr>
            <p:ph type="title"/>
          </p:nvPr>
        </p:nvSpPr>
        <p:spPr/>
        <p:txBody>
          <a:bodyPr>
            <a:normAutofit/>
          </a:bodyPr>
          <a:lstStyle/>
          <a:p>
            <a:r>
              <a:rPr lang="en-US" dirty="0" smtClean="0"/>
              <a:t>Feature Matrix</a:t>
            </a:r>
            <a:endParaRPr lang="en-US" dirty="0"/>
          </a:p>
        </p:txBody>
      </p:sp>
      <p:sp>
        <p:nvSpPr>
          <p:cNvPr id="3" name="Date Placeholder 2">
            <a:extLst>
              <a:ext uri="{FF2B5EF4-FFF2-40B4-BE49-F238E27FC236}">
                <a16:creationId xmlns:a16="http://schemas.microsoft.com/office/drawing/2014/main" xmlns="" id="{1BD619FA-5FD4-4686-9070-DA55D2111E45}"/>
              </a:ext>
            </a:extLst>
          </p:cNvPr>
          <p:cNvSpPr>
            <a:spLocks noGrp="1"/>
          </p:cNvSpPr>
          <p:nvPr>
            <p:ph type="dt" sz="half" idx="10"/>
          </p:nvPr>
        </p:nvSpPr>
        <p:spPr/>
        <p:txBody>
          <a:bodyPr/>
          <a:lstStyle/>
          <a:p>
            <a:fld id="{B604B242-A112-40FA-B30F-F44D6727C9BE}" type="datetime1">
              <a:rPr lang="en-US" smtClean="0"/>
              <a:pPr/>
              <a:t>9/12/2022</a:t>
            </a:fld>
            <a:endParaRPr lang="en-US"/>
          </a:p>
        </p:txBody>
      </p:sp>
      <p:sp>
        <p:nvSpPr>
          <p:cNvPr id="4" name="Slide Number Placeholder 3">
            <a:extLst>
              <a:ext uri="{FF2B5EF4-FFF2-40B4-BE49-F238E27FC236}">
                <a16:creationId xmlns:a16="http://schemas.microsoft.com/office/drawing/2014/main" xmlns="" id="{4FA45849-674F-4736-B273-D42200B69101}"/>
              </a:ext>
            </a:extLst>
          </p:cNvPr>
          <p:cNvSpPr>
            <a:spLocks noGrp="1"/>
          </p:cNvSpPr>
          <p:nvPr>
            <p:ph type="sldNum" sz="quarter" idx="4"/>
          </p:nvPr>
        </p:nvSpPr>
        <p:spPr/>
        <p:txBody>
          <a:bodyPr/>
          <a:lstStyle/>
          <a:p>
            <a:r>
              <a:rPr lang="en-US"/>
              <a:t>Slide no. </a:t>
            </a:r>
            <a:fld id="{7240F3D1-AE27-48C7-9FC9-EF8542F23A88}" type="slidenum">
              <a:rPr lang="en-US" smtClean="0"/>
              <a:pPr/>
              <a:t>25</a:t>
            </a:fld>
            <a:endParaRPr lang="en-US" dirty="0"/>
          </a:p>
        </p:txBody>
      </p:sp>
      <p:sp>
        <p:nvSpPr>
          <p:cNvPr id="5" name="Rectangle 4">
            <a:extLst>
              <a:ext uri="{FF2B5EF4-FFF2-40B4-BE49-F238E27FC236}">
                <a16:creationId xmlns:a16="http://schemas.microsoft.com/office/drawing/2014/main" xmlns="" id="{37117386-C9DE-4B47-BBBB-F8AA3FF5EFF6}"/>
              </a:ext>
            </a:extLst>
          </p:cNvPr>
          <p:cNvSpPr/>
          <p:nvPr/>
        </p:nvSpPr>
        <p:spPr>
          <a:xfrm>
            <a:off x="177590" y="891540"/>
            <a:ext cx="10446171" cy="338554"/>
          </a:xfrm>
          <a:prstGeom prst="rect">
            <a:avLst/>
          </a:prstGeom>
        </p:spPr>
        <p:txBody>
          <a:bodyPr wrap="square">
            <a:spAutoFit/>
          </a:bodyPr>
          <a:lstStyle/>
          <a:p>
            <a:r>
              <a:rPr lang="en-US" sz="1600" dirty="0" smtClean="0"/>
              <a:t>Item Feature Matrix                                                                 </a:t>
            </a:r>
            <a:endParaRPr lang="en-US" sz="1600" dirty="0"/>
          </a:p>
        </p:txBody>
      </p:sp>
      <p:graphicFrame>
        <p:nvGraphicFramePr>
          <p:cNvPr id="7" name="Table 6"/>
          <p:cNvGraphicFramePr>
            <a:graphicFrameLocks noGrp="1"/>
          </p:cNvGraphicFramePr>
          <p:nvPr/>
        </p:nvGraphicFramePr>
        <p:xfrm>
          <a:off x="375366" y="1677886"/>
          <a:ext cx="3428088" cy="2225040"/>
        </p:xfrm>
        <a:graphic>
          <a:graphicData uri="http://schemas.openxmlformats.org/drawingml/2006/table">
            <a:tbl>
              <a:tblPr firstRow="1" bandRow="1">
                <a:tableStyleId>{1E5458E1-0376-4910-A6E8-49B6F46B1678}</a:tableStyleId>
              </a:tblPr>
              <a:tblGrid>
                <a:gridCol w="1142696"/>
                <a:gridCol w="1142696"/>
                <a:gridCol w="1142696"/>
              </a:tblGrid>
              <a:tr h="370840">
                <a:tc>
                  <a:txBody>
                    <a:bodyPr/>
                    <a:lstStyle/>
                    <a:p>
                      <a:r>
                        <a:rPr lang="en-US" b="1" dirty="0" smtClean="0"/>
                        <a:t>Hotel</a:t>
                      </a:r>
                      <a:endParaRPr lang="en-US" b="1" dirty="0"/>
                    </a:p>
                  </a:txBody>
                  <a:tcPr marL="108013" marR="108013"/>
                </a:tc>
                <a:tc>
                  <a:txBody>
                    <a:bodyPr/>
                    <a:lstStyle/>
                    <a:p>
                      <a:r>
                        <a:rPr lang="en-US" b="1" dirty="0" smtClean="0"/>
                        <a:t>Gym</a:t>
                      </a:r>
                      <a:endParaRPr lang="en-US" b="1" dirty="0"/>
                    </a:p>
                  </a:txBody>
                  <a:tcPr marL="108013" marR="108013"/>
                </a:tc>
                <a:tc>
                  <a:txBody>
                    <a:bodyPr/>
                    <a:lstStyle/>
                    <a:p>
                      <a:r>
                        <a:rPr lang="en-US" b="1" dirty="0" smtClean="0"/>
                        <a:t>Pool</a:t>
                      </a:r>
                      <a:endParaRPr lang="en-US" b="1" dirty="0"/>
                    </a:p>
                  </a:txBody>
                  <a:tcPr marL="108013" marR="108013"/>
                </a:tc>
              </a:tr>
              <a:tr h="370840">
                <a:tc>
                  <a:txBody>
                    <a:bodyPr/>
                    <a:lstStyle/>
                    <a:p>
                      <a:r>
                        <a:rPr lang="en-US" dirty="0" smtClean="0"/>
                        <a:t>Hotel1</a:t>
                      </a:r>
                      <a:endParaRPr lang="en-US" dirty="0"/>
                    </a:p>
                  </a:txBody>
                  <a:tcPr marL="108013" marR="108013"/>
                </a:tc>
                <a:tc>
                  <a:txBody>
                    <a:bodyPr/>
                    <a:lstStyle/>
                    <a:p>
                      <a:r>
                        <a:rPr lang="en-US" dirty="0" smtClean="0"/>
                        <a:t>0.8</a:t>
                      </a:r>
                      <a:endParaRPr lang="en-US" dirty="0"/>
                    </a:p>
                  </a:txBody>
                  <a:tcPr marL="108013" marR="108013"/>
                </a:tc>
                <a:tc>
                  <a:txBody>
                    <a:bodyPr/>
                    <a:lstStyle/>
                    <a:p>
                      <a:r>
                        <a:rPr lang="en-US" dirty="0" smtClean="0"/>
                        <a:t>0.2</a:t>
                      </a:r>
                      <a:endParaRPr lang="en-US" dirty="0"/>
                    </a:p>
                  </a:txBody>
                  <a:tcPr marL="108013" marR="108013"/>
                </a:tc>
              </a:tr>
              <a:tr h="370840">
                <a:tc>
                  <a:txBody>
                    <a:bodyPr/>
                    <a:lstStyle/>
                    <a:p>
                      <a:r>
                        <a:rPr lang="en-US" dirty="0" smtClean="0"/>
                        <a:t>Hotel2</a:t>
                      </a:r>
                      <a:endParaRPr lang="en-US" dirty="0"/>
                    </a:p>
                  </a:txBody>
                  <a:tcPr marL="108013" marR="108013"/>
                </a:tc>
                <a:tc>
                  <a:txBody>
                    <a:bodyPr/>
                    <a:lstStyle/>
                    <a:p>
                      <a:r>
                        <a:rPr lang="en-US" dirty="0" smtClean="0"/>
                        <a:t>1</a:t>
                      </a:r>
                      <a:endParaRPr lang="en-US" dirty="0"/>
                    </a:p>
                  </a:txBody>
                  <a:tcPr marL="108013" marR="108013"/>
                </a:tc>
                <a:tc>
                  <a:txBody>
                    <a:bodyPr/>
                    <a:lstStyle/>
                    <a:p>
                      <a:r>
                        <a:rPr lang="en-US" dirty="0" smtClean="0"/>
                        <a:t>0</a:t>
                      </a:r>
                      <a:endParaRPr lang="en-US" dirty="0"/>
                    </a:p>
                  </a:txBody>
                  <a:tcPr marL="108013" marR="108013"/>
                </a:tc>
              </a:tr>
              <a:tr h="370840">
                <a:tc>
                  <a:txBody>
                    <a:bodyPr/>
                    <a:lstStyle/>
                    <a:p>
                      <a:r>
                        <a:rPr lang="en-US" dirty="0" smtClean="0"/>
                        <a:t>Hotel3</a:t>
                      </a:r>
                      <a:endParaRPr lang="en-US" dirty="0"/>
                    </a:p>
                  </a:txBody>
                  <a:tcPr marL="108013" marR="108013"/>
                </a:tc>
                <a:tc>
                  <a:txBody>
                    <a:bodyPr/>
                    <a:lstStyle/>
                    <a:p>
                      <a:r>
                        <a:rPr lang="en-US" dirty="0" smtClean="0"/>
                        <a:t>0.9</a:t>
                      </a:r>
                      <a:endParaRPr lang="en-US" dirty="0"/>
                    </a:p>
                  </a:txBody>
                  <a:tcPr marL="108013" marR="108013"/>
                </a:tc>
                <a:tc>
                  <a:txBody>
                    <a:bodyPr/>
                    <a:lstStyle/>
                    <a:p>
                      <a:r>
                        <a:rPr lang="en-US" dirty="0" smtClean="0"/>
                        <a:t>0.1</a:t>
                      </a:r>
                      <a:endParaRPr lang="en-US" dirty="0"/>
                    </a:p>
                  </a:txBody>
                  <a:tcPr marL="108013" marR="108013"/>
                </a:tc>
              </a:tr>
              <a:tr h="370840">
                <a:tc>
                  <a:txBody>
                    <a:bodyPr/>
                    <a:lstStyle/>
                    <a:p>
                      <a:r>
                        <a:rPr lang="en-US" dirty="0" smtClean="0"/>
                        <a:t>Hotel4</a:t>
                      </a:r>
                      <a:endParaRPr lang="en-US" dirty="0"/>
                    </a:p>
                  </a:txBody>
                  <a:tcPr marL="108013" marR="108013"/>
                </a:tc>
                <a:tc>
                  <a:txBody>
                    <a:bodyPr/>
                    <a:lstStyle/>
                    <a:p>
                      <a:r>
                        <a:rPr lang="en-US" dirty="0" smtClean="0"/>
                        <a:t>0.1</a:t>
                      </a:r>
                      <a:endParaRPr lang="en-US" dirty="0"/>
                    </a:p>
                  </a:txBody>
                  <a:tcPr marL="108013" marR="108013"/>
                </a:tc>
                <a:tc>
                  <a:txBody>
                    <a:bodyPr/>
                    <a:lstStyle/>
                    <a:p>
                      <a:r>
                        <a:rPr lang="en-US" dirty="0" smtClean="0"/>
                        <a:t>0.9</a:t>
                      </a:r>
                      <a:endParaRPr lang="en-US" dirty="0"/>
                    </a:p>
                  </a:txBody>
                  <a:tcPr marL="108013" marR="108013"/>
                </a:tc>
              </a:tr>
              <a:tr h="370840">
                <a:tc>
                  <a:txBody>
                    <a:bodyPr/>
                    <a:lstStyle/>
                    <a:p>
                      <a:r>
                        <a:rPr lang="en-US" dirty="0" smtClean="0"/>
                        <a:t>Hotel5</a:t>
                      </a:r>
                      <a:endParaRPr lang="en-US" dirty="0"/>
                    </a:p>
                  </a:txBody>
                  <a:tcPr marL="108013" marR="108013"/>
                </a:tc>
                <a:tc>
                  <a:txBody>
                    <a:bodyPr/>
                    <a:lstStyle/>
                    <a:p>
                      <a:r>
                        <a:rPr lang="en-US" dirty="0" smtClean="0"/>
                        <a:t>0</a:t>
                      </a:r>
                      <a:endParaRPr lang="en-US" dirty="0"/>
                    </a:p>
                  </a:txBody>
                  <a:tcPr marL="108013" marR="108013"/>
                </a:tc>
                <a:tc>
                  <a:txBody>
                    <a:bodyPr/>
                    <a:lstStyle/>
                    <a:p>
                      <a:r>
                        <a:rPr lang="en-US" dirty="0" smtClean="0"/>
                        <a:t>1</a:t>
                      </a:r>
                      <a:endParaRPr lang="en-US" dirty="0"/>
                    </a:p>
                  </a:txBody>
                  <a:tcPr marL="108013" marR="108013"/>
                </a:tc>
              </a:tr>
            </a:tbl>
          </a:graphicData>
        </a:graphic>
      </p:graphicFrame>
    </p:spTree>
    <p:extLst>
      <p:ext uri="{BB962C8B-B14F-4D97-AF65-F5344CB8AC3E}">
        <p14:creationId xmlns:p14="http://schemas.microsoft.com/office/powerpoint/2010/main" xmlns="" val="4495299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B109AE-51E3-477E-8727-C638BEF7B389}"/>
              </a:ext>
            </a:extLst>
          </p:cNvPr>
          <p:cNvSpPr>
            <a:spLocks noGrp="1"/>
          </p:cNvSpPr>
          <p:nvPr>
            <p:ph type="title"/>
          </p:nvPr>
        </p:nvSpPr>
        <p:spPr/>
        <p:txBody>
          <a:bodyPr>
            <a:normAutofit/>
          </a:bodyPr>
          <a:lstStyle/>
          <a:p>
            <a:r>
              <a:rPr lang="en-US" dirty="0"/>
              <a:t>Customer </a:t>
            </a:r>
            <a:r>
              <a:rPr lang="en-US" dirty="0" smtClean="0"/>
              <a:t>Liking</a:t>
            </a:r>
            <a:endParaRPr lang="en-US" dirty="0"/>
          </a:p>
        </p:txBody>
      </p:sp>
      <p:sp>
        <p:nvSpPr>
          <p:cNvPr id="3" name="Date Placeholder 2">
            <a:extLst>
              <a:ext uri="{FF2B5EF4-FFF2-40B4-BE49-F238E27FC236}">
                <a16:creationId xmlns:a16="http://schemas.microsoft.com/office/drawing/2014/main" xmlns="" id="{1BD619FA-5FD4-4686-9070-DA55D2111E45}"/>
              </a:ext>
            </a:extLst>
          </p:cNvPr>
          <p:cNvSpPr>
            <a:spLocks noGrp="1"/>
          </p:cNvSpPr>
          <p:nvPr>
            <p:ph type="dt" sz="half" idx="10"/>
          </p:nvPr>
        </p:nvSpPr>
        <p:spPr/>
        <p:txBody>
          <a:bodyPr/>
          <a:lstStyle/>
          <a:p>
            <a:fld id="{B604B242-A112-40FA-B30F-F44D6727C9BE}" type="datetime1">
              <a:rPr lang="en-US" smtClean="0"/>
              <a:pPr/>
              <a:t>9/12/2022</a:t>
            </a:fld>
            <a:endParaRPr lang="en-US"/>
          </a:p>
        </p:txBody>
      </p:sp>
      <p:sp>
        <p:nvSpPr>
          <p:cNvPr id="4" name="Slide Number Placeholder 3">
            <a:extLst>
              <a:ext uri="{FF2B5EF4-FFF2-40B4-BE49-F238E27FC236}">
                <a16:creationId xmlns:a16="http://schemas.microsoft.com/office/drawing/2014/main" xmlns="" id="{4FA45849-674F-4736-B273-D42200B69101}"/>
              </a:ext>
            </a:extLst>
          </p:cNvPr>
          <p:cNvSpPr>
            <a:spLocks noGrp="1"/>
          </p:cNvSpPr>
          <p:nvPr>
            <p:ph type="sldNum" sz="quarter" idx="4"/>
          </p:nvPr>
        </p:nvSpPr>
        <p:spPr/>
        <p:txBody>
          <a:bodyPr/>
          <a:lstStyle/>
          <a:p>
            <a:r>
              <a:rPr lang="en-US"/>
              <a:t>Slide no. </a:t>
            </a:r>
            <a:fld id="{7240F3D1-AE27-48C7-9FC9-EF8542F23A88}" type="slidenum">
              <a:rPr lang="en-US" smtClean="0"/>
              <a:pPr/>
              <a:t>26</a:t>
            </a:fld>
            <a:endParaRPr lang="en-US" dirty="0"/>
          </a:p>
        </p:txBody>
      </p:sp>
      <p:sp>
        <p:nvSpPr>
          <p:cNvPr id="5" name="Rectangle 4">
            <a:extLst>
              <a:ext uri="{FF2B5EF4-FFF2-40B4-BE49-F238E27FC236}">
                <a16:creationId xmlns:a16="http://schemas.microsoft.com/office/drawing/2014/main" xmlns="" id="{37117386-C9DE-4B47-BBBB-F8AA3FF5EFF6}"/>
              </a:ext>
            </a:extLst>
          </p:cNvPr>
          <p:cNvSpPr/>
          <p:nvPr/>
        </p:nvSpPr>
        <p:spPr>
          <a:xfrm>
            <a:off x="177590" y="891540"/>
            <a:ext cx="10446171" cy="1077218"/>
          </a:xfrm>
          <a:prstGeom prst="rect">
            <a:avLst/>
          </a:prstGeom>
        </p:spPr>
        <p:txBody>
          <a:bodyPr wrap="square">
            <a:spAutoFit/>
          </a:bodyPr>
          <a:lstStyle/>
          <a:p>
            <a:r>
              <a:rPr lang="en-US" sz="1600" b="1" dirty="0" smtClean="0"/>
              <a:t>A: More Preference to gym than the swimming pool</a:t>
            </a:r>
          </a:p>
          <a:p>
            <a:r>
              <a:rPr lang="en-US" sz="1600" b="1" dirty="0" smtClean="0"/>
              <a:t>B: Likes Gym more than the pool</a:t>
            </a:r>
          </a:p>
          <a:p>
            <a:r>
              <a:rPr lang="en-US" sz="1600" b="1" dirty="0" smtClean="0"/>
              <a:t>C: Need pool with basic gym</a:t>
            </a:r>
          </a:p>
          <a:p>
            <a:r>
              <a:rPr lang="en-US" sz="1600" b="1" dirty="0" smtClean="0"/>
              <a:t>D: A pool is must compared to gym</a:t>
            </a:r>
            <a:endParaRPr lang="en-US" sz="1600" b="1" dirty="0"/>
          </a:p>
        </p:txBody>
      </p:sp>
      <p:graphicFrame>
        <p:nvGraphicFramePr>
          <p:cNvPr id="6" name="Table 5"/>
          <p:cNvGraphicFramePr>
            <a:graphicFrameLocks noGrp="1"/>
          </p:cNvGraphicFramePr>
          <p:nvPr/>
        </p:nvGraphicFramePr>
        <p:xfrm>
          <a:off x="857980" y="2349094"/>
          <a:ext cx="3428088" cy="1854200"/>
        </p:xfrm>
        <a:graphic>
          <a:graphicData uri="http://schemas.openxmlformats.org/drawingml/2006/table">
            <a:tbl>
              <a:tblPr firstRow="1" bandRow="1">
                <a:tableStyleId>{1E5458E1-0376-4910-A6E8-49B6F46B1678}</a:tableStyleId>
              </a:tblPr>
              <a:tblGrid>
                <a:gridCol w="1142696"/>
                <a:gridCol w="1142696"/>
                <a:gridCol w="1142696"/>
              </a:tblGrid>
              <a:tr h="370840">
                <a:tc>
                  <a:txBody>
                    <a:bodyPr/>
                    <a:lstStyle/>
                    <a:p>
                      <a:r>
                        <a:rPr lang="en-US" dirty="0" smtClean="0"/>
                        <a:t>User</a:t>
                      </a:r>
                      <a:r>
                        <a:rPr lang="en-US" baseline="0" dirty="0" smtClean="0"/>
                        <a:t> </a:t>
                      </a:r>
                      <a:endParaRPr lang="en-US" dirty="0"/>
                    </a:p>
                  </a:txBody>
                  <a:tcPr marL="108013" marR="108013"/>
                </a:tc>
                <a:tc>
                  <a:txBody>
                    <a:bodyPr/>
                    <a:lstStyle/>
                    <a:p>
                      <a:r>
                        <a:rPr lang="en-US" dirty="0" smtClean="0"/>
                        <a:t>Gym</a:t>
                      </a:r>
                      <a:endParaRPr lang="en-US" dirty="0"/>
                    </a:p>
                  </a:txBody>
                  <a:tcPr marL="108013" marR="108013"/>
                </a:tc>
                <a:tc>
                  <a:txBody>
                    <a:bodyPr/>
                    <a:lstStyle/>
                    <a:p>
                      <a:r>
                        <a:rPr lang="en-US" dirty="0" smtClean="0"/>
                        <a:t>Pool</a:t>
                      </a:r>
                      <a:endParaRPr lang="en-US" dirty="0"/>
                    </a:p>
                  </a:txBody>
                  <a:tcPr marL="108013" marR="108013"/>
                </a:tc>
              </a:tr>
              <a:tr h="370840">
                <a:tc>
                  <a:txBody>
                    <a:bodyPr/>
                    <a:lstStyle/>
                    <a:p>
                      <a:r>
                        <a:rPr lang="en-US" dirty="0" smtClean="0"/>
                        <a:t>A</a:t>
                      </a:r>
                      <a:endParaRPr lang="en-US" dirty="0"/>
                    </a:p>
                  </a:txBody>
                  <a:tcPr marL="108013" marR="108013"/>
                </a:tc>
                <a:tc>
                  <a:txBody>
                    <a:bodyPr/>
                    <a:lstStyle/>
                    <a:p>
                      <a:r>
                        <a:rPr lang="en-US" dirty="0" smtClean="0"/>
                        <a:t>0.9</a:t>
                      </a:r>
                      <a:endParaRPr lang="en-US" dirty="0"/>
                    </a:p>
                  </a:txBody>
                  <a:tcPr marL="108013" marR="108013"/>
                </a:tc>
                <a:tc>
                  <a:txBody>
                    <a:bodyPr/>
                    <a:lstStyle/>
                    <a:p>
                      <a:r>
                        <a:rPr lang="en-US" dirty="0" smtClean="0"/>
                        <a:t>0.1</a:t>
                      </a:r>
                      <a:endParaRPr lang="en-US" dirty="0"/>
                    </a:p>
                  </a:txBody>
                  <a:tcPr marL="108013" marR="108013"/>
                </a:tc>
              </a:tr>
              <a:tr h="370840">
                <a:tc>
                  <a:txBody>
                    <a:bodyPr/>
                    <a:lstStyle/>
                    <a:p>
                      <a:r>
                        <a:rPr lang="en-US" dirty="0" smtClean="0"/>
                        <a:t>B</a:t>
                      </a:r>
                      <a:endParaRPr lang="en-US" dirty="0"/>
                    </a:p>
                  </a:txBody>
                  <a:tcPr marL="108013" marR="108013"/>
                </a:tc>
                <a:tc>
                  <a:txBody>
                    <a:bodyPr/>
                    <a:lstStyle/>
                    <a:p>
                      <a:r>
                        <a:rPr lang="en-US" dirty="0" smtClean="0"/>
                        <a:t>0.8</a:t>
                      </a:r>
                      <a:endParaRPr lang="en-US" dirty="0"/>
                    </a:p>
                  </a:txBody>
                  <a:tcPr marL="108013" marR="108013"/>
                </a:tc>
                <a:tc>
                  <a:txBody>
                    <a:bodyPr/>
                    <a:lstStyle/>
                    <a:p>
                      <a:r>
                        <a:rPr lang="en-US" dirty="0" smtClean="0"/>
                        <a:t>0.2</a:t>
                      </a:r>
                      <a:endParaRPr lang="en-US" dirty="0"/>
                    </a:p>
                  </a:txBody>
                  <a:tcPr marL="108013" marR="108013"/>
                </a:tc>
              </a:tr>
              <a:tr h="370840">
                <a:tc>
                  <a:txBody>
                    <a:bodyPr/>
                    <a:lstStyle/>
                    <a:p>
                      <a:r>
                        <a:rPr lang="en-US" dirty="0" smtClean="0"/>
                        <a:t>C</a:t>
                      </a:r>
                      <a:endParaRPr lang="en-US" dirty="0"/>
                    </a:p>
                  </a:txBody>
                  <a:tcPr marL="108013" marR="108013"/>
                </a:tc>
                <a:tc>
                  <a:txBody>
                    <a:bodyPr/>
                    <a:lstStyle/>
                    <a:p>
                      <a:r>
                        <a:rPr lang="en-US" dirty="0" smtClean="0"/>
                        <a:t>0.3</a:t>
                      </a:r>
                      <a:endParaRPr lang="en-US" dirty="0"/>
                    </a:p>
                  </a:txBody>
                  <a:tcPr marL="108013" marR="108013"/>
                </a:tc>
                <a:tc>
                  <a:txBody>
                    <a:bodyPr/>
                    <a:lstStyle/>
                    <a:p>
                      <a:r>
                        <a:rPr lang="en-US" dirty="0" smtClean="0"/>
                        <a:t>0.7</a:t>
                      </a:r>
                      <a:endParaRPr lang="en-US" dirty="0"/>
                    </a:p>
                  </a:txBody>
                  <a:tcPr marL="108013" marR="108013"/>
                </a:tc>
              </a:tr>
              <a:tr h="370840">
                <a:tc>
                  <a:txBody>
                    <a:bodyPr/>
                    <a:lstStyle/>
                    <a:p>
                      <a:r>
                        <a:rPr lang="en-US" dirty="0" smtClean="0"/>
                        <a:t>D</a:t>
                      </a:r>
                      <a:endParaRPr lang="en-US" dirty="0"/>
                    </a:p>
                  </a:txBody>
                  <a:tcPr marL="108013" marR="108013"/>
                </a:tc>
                <a:tc>
                  <a:txBody>
                    <a:bodyPr/>
                    <a:lstStyle/>
                    <a:p>
                      <a:r>
                        <a:rPr lang="en-US" dirty="0" smtClean="0"/>
                        <a:t>0</a:t>
                      </a:r>
                      <a:endParaRPr lang="en-US" dirty="0"/>
                    </a:p>
                  </a:txBody>
                  <a:tcPr marL="108013" marR="108013"/>
                </a:tc>
                <a:tc>
                  <a:txBody>
                    <a:bodyPr/>
                    <a:lstStyle/>
                    <a:p>
                      <a:r>
                        <a:rPr lang="en-US" dirty="0" smtClean="0"/>
                        <a:t>1</a:t>
                      </a:r>
                      <a:endParaRPr lang="en-US" dirty="0"/>
                    </a:p>
                  </a:txBody>
                  <a:tcPr marL="108013" marR="108013"/>
                </a:tc>
              </a:tr>
            </a:tbl>
          </a:graphicData>
        </a:graphic>
      </p:graphicFrame>
    </p:spTree>
    <p:extLst>
      <p:ext uri="{BB962C8B-B14F-4D97-AF65-F5344CB8AC3E}">
        <p14:creationId xmlns:p14="http://schemas.microsoft.com/office/powerpoint/2010/main" xmlns="" val="3050956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B109AE-51E3-477E-8727-C638BEF7B389}"/>
              </a:ext>
            </a:extLst>
          </p:cNvPr>
          <p:cNvSpPr>
            <a:spLocks noGrp="1"/>
          </p:cNvSpPr>
          <p:nvPr>
            <p:ph type="title"/>
          </p:nvPr>
        </p:nvSpPr>
        <p:spPr/>
        <p:txBody>
          <a:bodyPr>
            <a:normAutofit/>
          </a:bodyPr>
          <a:lstStyle/>
          <a:p>
            <a:r>
              <a:rPr lang="en-US" dirty="0" smtClean="0"/>
              <a:t>Create Feature vector</a:t>
            </a:r>
            <a:endParaRPr lang="en-US" dirty="0"/>
          </a:p>
        </p:txBody>
      </p:sp>
      <p:sp>
        <p:nvSpPr>
          <p:cNvPr id="3" name="Date Placeholder 2">
            <a:extLst>
              <a:ext uri="{FF2B5EF4-FFF2-40B4-BE49-F238E27FC236}">
                <a16:creationId xmlns:a16="http://schemas.microsoft.com/office/drawing/2014/main" xmlns="" id="{1BD619FA-5FD4-4686-9070-DA55D2111E45}"/>
              </a:ext>
            </a:extLst>
          </p:cNvPr>
          <p:cNvSpPr>
            <a:spLocks noGrp="1"/>
          </p:cNvSpPr>
          <p:nvPr>
            <p:ph type="dt" sz="half" idx="10"/>
          </p:nvPr>
        </p:nvSpPr>
        <p:spPr/>
        <p:txBody>
          <a:bodyPr/>
          <a:lstStyle/>
          <a:p>
            <a:fld id="{B604B242-A112-40FA-B30F-F44D6727C9BE}" type="datetime1">
              <a:rPr lang="en-US" smtClean="0"/>
              <a:pPr/>
              <a:t>9/12/2022</a:t>
            </a:fld>
            <a:endParaRPr lang="en-US"/>
          </a:p>
        </p:txBody>
      </p:sp>
      <p:sp>
        <p:nvSpPr>
          <p:cNvPr id="4" name="Slide Number Placeholder 3">
            <a:extLst>
              <a:ext uri="{FF2B5EF4-FFF2-40B4-BE49-F238E27FC236}">
                <a16:creationId xmlns:a16="http://schemas.microsoft.com/office/drawing/2014/main" xmlns="" id="{4FA45849-674F-4736-B273-D42200B69101}"/>
              </a:ext>
            </a:extLst>
          </p:cNvPr>
          <p:cNvSpPr>
            <a:spLocks noGrp="1"/>
          </p:cNvSpPr>
          <p:nvPr>
            <p:ph type="sldNum" sz="quarter" idx="4"/>
          </p:nvPr>
        </p:nvSpPr>
        <p:spPr/>
        <p:txBody>
          <a:bodyPr/>
          <a:lstStyle/>
          <a:p>
            <a:r>
              <a:rPr lang="en-US"/>
              <a:t>Slide no. </a:t>
            </a:r>
            <a:fld id="{7240F3D1-AE27-48C7-9FC9-EF8542F23A88}" type="slidenum">
              <a:rPr lang="en-US" smtClean="0"/>
              <a:pPr/>
              <a:t>27</a:t>
            </a:fld>
            <a:endParaRPr lang="en-US" dirty="0"/>
          </a:p>
        </p:txBody>
      </p:sp>
      <p:graphicFrame>
        <p:nvGraphicFramePr>
          <p:cNvPr id="6" name="Table 5"/>
          <p:cNvGraphicFramePr>
            <a:graphicFrameLocks noGrp="1"/>
          </p:cNvGraphicFramePr>
          <p:nvPr/>
        </p:nvGraphicFramePr>
        <p:xfrm>
          <a:off x="283441" y="1079769"/>
          <a:ext cx="2784603" cy="1783080"/>
        </p:xfrm>
        <a:graphic>
          <a:graphicData uri="http://schemas.openxmlformats.org/drawingml/2006/table">
            <a:tbl>
              <a:tblPr firstRow="1" bandRow="1">
                <a:tableStyleId>{1E5458E1-0376-4910-A6E8-49B6F46B1678}</a:tableStyleId>
              </a:tblPr>
              <a:tblGrid>
                <a:gridCol w="928201"/>
                <a:gridCol w="928201"/>
                <a:gridCol w="928201"/>
              </a:tblGrid>
              <a:tr h="257617">
                <a:tc>
                  <a:txBody>
                    <a:bodyPr/>
                    <a:lstStyle/>
                    <a:p>
                      <a:r>
                        <a:rPr lang="en-US" b="1" dirty="0" smtClean="0"/>
                        <a:t>Hotel</a:t>
                      </a:r>
                      <a:endParaRPr lang="en-US" b="1" dirty="0"/>
                    </a:p>
                  </a:txBody>
                  <a:tcPr marL="108013" marR="108013"/>
                </a:tc>
                <a:tc>
                  <a:txBody>
                    <a:bodyPr/>
                    <a:lstStyle/>
                    <a:p>
                      <a:r>
                        <a:rPr lang="en-US" b="1" dirty="0" smtClean="0"/>
                        <a:t>Gym</a:t>
                      </a:r>
                      <a:endParaRPr lang="en-US" b="1" dirty="0"/>
                    </a:p>
                  </a:txBody>
                  <a:tcPr marL="108013" marR="108013"/>
                </a:tc>
                <a:tc>
                  <a:txBody>
                    <a:bodyPr/>
                    <a:lstStyle/>
                    <a:p>
                      <a:r>
                        <a:rPr lang="en-US" b="1" dirty="0" smtClean="0"/>
                        <a:t>Pool</a:t>
                      </a:r>
                      <a:endParaRPr lang="en-US" b="1" dirty="0"/>
                    </a:p>
                  </a:txBody>
                  <a:tcPr marL="108013" marR="108013"/>
                </a:tc>
              </a:tr>
              <a:tr h="257617">
                <a:tc>
                  <a:txBody>
                    <a:bodyPr/>
                    <a:lstStyle/>
                    <a:p>
                      <a:r>
                        <a:rPr lang="en-US" dirty="0" smtClean="0"/>
                        <a:t>Hotel1</a:t>
                      </a:r>
                      <a:endParaRPr lang="en-US" dirty="0"/>
                    </a:p>
                  </a:txBody>
                  <a:tcPr marL="108013" marR="108013"/>
                </a:tc>
                <a:tc>
                  <a:txBody>
                    <a:bodyPr/>
                    <a:lstStyle/>
                    <a:p>
                      <a:r>
                        <a:rPr lang="en-US" dirty="0" smtClean="0"/>
                        <a:t>0.8</a:t>
                      </a:r>
                      <a:endParaRPr lang="en-US" dirty="0"/>
                    </a:p>
                  </a:txBody>
                  <a:tcPr marL="108013" marR="108013"/>
                </a:tc>
                <a:tc>
                  <a:txBody>
                    <a:bodyPr/>
                    <a:lstStyle/>
                    <a:p>
                      <a:r>
                        <a:rPr lang="en-US" dirty="0" smtClean="0"/>
                        <a:t>0.2</a:t>
                      </a:r>
                      <a:endParaRPr lang="en-US" dirty="0"/>
                    </a:p>
                  </a:txBody>
                  <a:tcPr marL="108013" marR="108013"/>
                </a:tc>
              </a:tr>
              <a:tr h="257617">
                <a:tc>
                  <a:txBody>
                    <a:bodyPr/>
                    <a:lstStyle/>
                    <a:p>
                      <a:r>
                        <a:rPr lang="en-US" dirty="0" smtClean="0"/>
                        <a:t>Hotel2</a:t>
                      </a:r>
                      <a:endParaRPr lang="en-US" dirty="0"/>
                    </a:p>
                  </a:txBody>
                  <a:tcPr marL="108013" marR="108013"/>
                </a:tc>
                <a:tc>
                  <a:txBody>
                    <a:bodyPr/>
                    <a:lstStyle/>
                    <a:p>
                      <a:r>
                        <a:rPr lang="en-US" dirty="0" smtClean="0"/>
                        <a:t>1</a:t>
                      </a:r>
                      <a:endParaRPr lang="en-US" dirty="0"/>
                    </a:p>
                  </a:txBody>
                  <a:tcPr marL="108013" marR="108013"/>
                </a:tc>
                <a:tc>
                  <a:txBody>
                    <a:bodyPr/>
                    <a:lstStyle/>
                    <a:p>
                      <a:r>
                        <a:rPr lang="en-US" dirty="0" smtClean="0"/>
                        <a:t>0</a:t>
                      </a:r>
                      <a:endParaRPr lang="en-US" dirty="0"/>
                    </a:p>
                  </a:txBody>
                  <a:tcPr marL="108013" marR="108013"/>
                </a:tc>
              </a:tr>
              <a:tr h="257617">
                <a:tc>
                  <a:txBody>
                    <a:bodyPr/>
                    <a:lstStyle/>
                    <a:p>
                      <a:r>
                        <a:rPr lang="en-US" dirty="0" smtClean="0"/>
                        <a:t>Hotel3</a:t>
                      </a:r>
                      <a:endParaRPr lang="en-US" dirty="0"/>
                    </a:p>
                  </a:txBody>
                  <a:tcPr marL="108013" marR="108013"/>
                </a:tc>
                <a:tc>
                  <a:txBody>
                    <a:bodyPr/>
                    <a:lstStyle/>
                    <a:p>
                      <a:r>
                        <a:rPr lang="en-US" dirty="0" smtClean="0"/>
                        <a:t>0.9</a:t>
                      </a:r>
                      <a:endParaRPr lang="en-US" dirty="0"/>
                    </a:p>
                  </a:txBody>
                  <a:tcPr marL="108013" marR="108013"/>
                </a:tc>
                <a:tc>
                  <a:txBody>
                    <a:bodyPr/>
                    <a:lstStyle/>
                    <a:p>
                      <a:r>
                        <a:rPr lang="en-US" dirty="0" smtClean="0"/>
                        <a:t>0.1</a:t>
                      </a:r>
                      <a:endParaRPr lang="en-US" dirty="0"/>
                    </a:p>
                  </a:txBody>
                  <a:tcPr marL="108013" marR="108013"/>
                </a:tc>
              </a:tr>
              <a:tr h="257617">
                <a:tc>
                  <a:txBody>
                    <a:bodyPr/>
                    <a:lstStyle/>
                    <a:p>
                      <a:r>
                        <a:rPr lang="en-US" dirty="0" smtClean="0"/>
                        <a:t>Hotel4</a:t>
                      </a:r>
                      <a:endParaRPr lang="en-US" dirty="0"/>
                    </a:p>
                  </a:txBody>
                  <a:tcPr marL="108013" marR="108013"/>
                </a:tc>
                <a:tc>
                  <a:txBody>
                    <a:bodyPr/>
                    <a:lstStyle/>
                    <a:p>
                      <a:r>
                        <a:rPr lang="en-US" dirty="0" smtClean="0"/>
                        <a:t>0.1</a:t>
                      </a:r>
                      <a:endParaRPr lang="en-US" dirty="0"/>
                    </a:p>
                  </a:txBody>
                  <a:tcPr marL="108013" marR="108013"/>
                </a:tc>
                <a:tc>
                  <a:txBody>
                    <a:bodyPr/>
                    <a:lstStyle/>
                    <a:p>
                      <a:r>
                        <a:rPr lang="en-US" dirty="0" smtClean="0"/>
                        <a:t>0.9</a:t>
                      </a:r>
                      <a:endParaRPr lang="en-US" dirty="0"/>
                    </a:p>
                  </a:txBody>
                  <a:tcPr marL="108013" marR="108013"/>
                </a:tc>
              </a:tr>
              <a:tr h="257617">
                <a:tc>
                  <a:txBody>
                    <a:bodyPr/>
                    <a:lstStyle/>
                    <a:p>
                      <a:r>
                        <a:rPr lang="en-US" dirty="0" smtClean="0"/>
                        <a:t>Hotel5</a:t>
                      </a:r>
                      <a:endParaRPr lang="en-US" dirty="0"/>
                    </a:p>
                  </a:txBody>
                  <a:tcPr marL="108013" marR="108013"/>
                </a:tc>
                <a:tc>
                  <a:txBody>
                    <a:bodyPr/>
                    <a:lstStyle/>
                    <a:p>
                      <a:r>
                        <a:rPr lang="en-US" dirty="0" smtClean="0"/>
                        <a:t>0</a:t>
                      </a:r>
                      <a:endParaRPr lang="en-US" dirty="0"/>
                    </a:p>
                  </a:txBody>
                  <a:tcPr marL="108013" marR="108013"/>
                </a:tc>
                <a:tc>
                  <a:txBody>
                    <a:bodyPr/>
                    <a:lstStyle/>
                    <a:p>
                      <a:r>
                        <a:rPr lang="en-US" dirty="0" smtClean="0"/>
                        <a:t>1</a:t>
                      </a:r>
                      <a:endParaRPr lang="en-US" dirty="0"/>
                    </a:p>
                  </a:txBody>
                  <a:tcPr marL="108013" marR="108013"/>
                </a:tc>
              </a:tr>
            </a:tbl>
          </a:graphicData>
        </a:graphic>
      </p:graphicFrame>
      <p:graphicFrame>
        <p:nvGraphicFramePr>
          <p:cNvPr id="7" name="Table 6"/>
          <p:cNvGraphicFramePr>
            <a:graphicFrameLocks noGrp="1"/>
          </p:cNvGraphicFramePr>
          <p:nvPr/>
        </p:nvGraphicFramePr>
        <p:xfrm>
          <a:off x="248969" y="3044756"/>
          <a:ext cx="2761620" cy="1485900"/>
        </p:xfrm>
        <a:graphic>
          <a:graphicData uri="http://schemas.openxmlformats.org/drawingml/2006/table">
            <a:tbl>
              <a:tblPr firstRow="1" bandRow="1">
                <a:tableStyleId>{1E5458E1-0376-4910-A6E8-49B6F46B1678}</a:tableStyleId>
              </a:tblPr>
              <a:tblGrid>
                <a:gridCol w="920540"/>
                <a:gridCol w="920540"/>
                <a:gridCol w="920540"/>
              </a:tblGrid>
              <a:tr h="274509">
                <a:tc>
                  <a:txBody>
                    <a:bodyPr/>
                    <a:lstStyle/>
                    <a:p>
                      <a:r>
                        <a:rPr lang="en-US" dirty="0" smtClean="0"/>
                        <a:t>User</a:t>
                      </a:r>
                      <a:r>
                        <a:rPr lang="en-US" baseline="0" dirty="0" smtClean="0"/>
                        <a:t> </a:t>
                      </a:r>
                      <a:endParaRPr lang="en-US" dirty="0"/>
                    </a:p>
                  </a:txBody>
                  <a:tcPr marL="108013" marR="108013"/>
                </a:tc>
                <a:tc>
                  <a:txBody>
                    <a:bodyPr/>
                    <a:lstStyle/>
                    <a:p>
                      <a:r>
                        <a:rPr lang="en-US" dirty="0" smtClean="0"/>
                        <a:t>Gym</a:t>
                      </a:r>
                      <a:endParaRPr lang="en-US" dirty="0"/>
                    </a:p>
                  </a:txBody>
                  <a:tcPr marL="108013" marR="108013"/>
                </a:tc>
                <a:tc>
                  <a:txBody>
                    <a:bodyPr/>
                    <a:lstStyle/>
                    <a:p>
                      <a:r>
                        <a:rPr lang="en-US" dirty="0" smtClean="0"/>
                        <a:t>Pool</a:t>
                      </a:r>
                      <a:endParaRPr lang="en-US" dirty="0"/>
                    </a:p>
                  </a:txBody>
                  <a:tcPr marL="108013" marR="108013"/>
                </a:tc>
              </a:tr>
              <a:tr h="274509">
                <a:tc>
                  <a:txBody>
                    <a:bodyPr/>
                    <a:lstStyle/>
                    <a:p>
                      <a:r>
                        <a:rPr lang="en-US" dirty="0" smtClean="0"/>
                        <a:t>A</a:t>
                      </a:r>
                      <a:endParaRPr lang="en-US" dirty="0"/>
                    </a:p>
                  </a:txBody>
                  <a:tcPr marL="108013" marR="108013"/>
                </a:tc>
                <a:tc>
                  <a:txBody>
                    <a:bodyPr/>
                    <a:lstStyle/>
                    <a:p>
                      <a:r>
                        <a:rPr lang="en-US" dirty="0" smtClean="0"/>
                        <a:t>0.9</a:t>
                      </a:r>
                      <a:endParaRPr lang="en-US" dirty="0"/>
                    </a:p>
                  </a:txBody>
                  <a:tcPr marL="108013" marR="108013"/>
                </a:tc>
                <a:tc>
                  <a:txBody>
                    <a:bodyPr/>
                    <a:lstStyle/>
                    <a:p>
                      <a:r>
                        <a:rPr lang="en-US" dirty="0" smtClean="0"/>
                        <a:t>0.1</a:t>
                      </a:r>
                      <a:endParaRPr lang="en-US" dirty="0"/>
                    </a:p>
                  </a:txBody>
                  <a:tcPr marL="108013" marR="108013"/>
                </a:tc>
              </a:tr>
              <a:tr h="274509">
                <a:tc>
                  <a:txBody>
                    <a:bodyPr/>
                    <a:lstStyle/>
                    <a:p>
                      <a:r>
                        <a:rPr lang="en-US" dirty="0" smtClean="0"/>
                        <a:t>B</a:t>
                      </a:r>
                      <a:endParaRPr lang="en-US" dirty="0"/>
                    </a:p>
                  </a:txBody>
                  <a:tcPr marL="108013" marR="108013"/>
                </a:tc>
                <a:tc>
                  <a:txBody>
                    <a:bodyPr/>
                    <a:lstStyle/>
                    <a:p>
                      <a:r>
                        <a:rPr lang="en-US" dirty="0" smtClean="0"/>
                        <a:t>0.8</a:t>
                      </a:r>
                      <a:endParaRPr lang="en-US" dirty="0"/>
                    </a:p>
                  </a:txBody>
                  <a:tcPr marL="108013" marR="108013"/>
                </a:tc>
                <a:tc>
                  <a:txBody>
                    <a:bodyPr/>
                    <a:lstStyle/>
                    <a:p>
                      <a:r>
                        <a:rPr lang="en-US" dirty="0" smtClean="0"/>
                        <a:t>0.2</a:t>
                      </a:r>
                      <a:endParaRPr lang="en-US" dirty="0"/>
                    </a:p>
                  </a:txBody>
                  <a:tcPr marL="108013" marR="108013"/>
                </a:tc>
              </a:tr>
              <a:tr h="274509">
                <a:tc>
                  <a:txBody>
                    <a:bodyPr/>
                    <a:lstStyle/>
                    <a:p>
                      <a:r>
                        <a:rPr lang="en-US" dirty="0" smtClean="0"/>
                        <a:t>C</a:t>
                      </a:r>
                      <a:endParaRPr lang="en-US" dirty="0"/>
                    </a:p>
                  </a:txBody>
                  <a:tcPr marL="108013" marR="108013"/>
                </a:tc>
                <a:tc>
                  <a:txBody>
                    <a:bodyPr/>
                    <a:lstStyle/>
                    <a:p>
                      <a:r>
                        <a:rPr lang="en-US" dirty="0" smtClean="0"/>
                        <a:t>0.3</a:t>
                      </a:r>
                      <a:endParaRPr lang="en-US" dirty="0"/>
                    </a:p>
                  </a:txBody>
                  <a:tcPr marL="108013" marR="108013"/>
                </a:tc>
                <a:tc>
                  <a:txBody>
                    <a:bodyPr/>
                    <a:lstStyle/>
                    <a:p>
                      <a:r>
                        <a:rPr lang="en-US" dirty="0" smtClean="0"/>
                        <a:t>0.7</a:t>
                      </a:r>
                      <a:endParaRPr lang="en-US" dirty="0"/>
                    </a:p>
                  </a:txBody>
                  <a:tcPr marL="108013" marR="108013"/>
                </a:tc>
              </a:tr>
              <a:tr h="274509">
                <a:tc>
                  <a:txBody>
                    <a:bodyPr/>
                    <a:lstStyle/>
                    <a:p>
                      <a:r>
                        <a:rPr lang="en-US" dirty="0" smtClean="0"/>
                        <a:t>D</a:t>
                      </a:r>
                      <a:endParaRPr lang="en-US" dirty="0"/>
                    </a:p>
                  </a:txBody>
                  <a:tcPr marL="108013" marR="108013"/>
                </a:tc>
                <a:tc>
                  <a:txBody>
                    <a:bodyPr/>
                    <a:lstStyle/>
                    <a:p>
                      <a:r>
                        <a:rPr lang="en-US" dirty="0" smtClean="0"/>
                        <a:t>0</a:t>
                      </a:r>
                      <a:endParaRPr lang="en-US" dirty="0"/>
                    </a:p>
                  </a:txBody>
                  <a:tcPr marL="108013" marR="108013"/>
                </a:tc>
                <a:tc>
                  <a:txBody>
                    <a:bodyPr/>
                    <a:lstStyle/>
                    <a:p>
                      <a:r>
                        <a:rPr lang="en-US" dirty="0" smtClean="0"/>
                        <a:t>1</a:t>
                      </a:r>
                      <a:endParaRPr lang="en-US" dirty="0"/>
                    </a:p>
                  </a:txBody>
                  <a:tcPr marL="108013" marR="108013"/>
                </a:tc>
              </a:tr>
            </a:tbl>
          </a:graphicData>
        </a:graphic>
      </p:graphicFrame>
      <p:graphicFrame>
        <p:nvGraphicFramePr>
          <p:cNvPr id="8" name="Table 7"/>
          <p:cNvGraphicFramePr>
            <a:graphicFrameLocks noGrp="1"/>
          </p:cNvGraphicFramePr>
          <p:nvPr/>
        </p:nvGraphicFramePr>
        <p:xfrm>
          <a:off x="4473748" y="1047345"/>
          <a:ext cx="3857079" cy="1783080"/>
        </p:xfrm>
        <a:graphic>
          <a:graphicData uri="http://schemas.openxmlformats.org/drawingml/2006/table">
            <a:tbl>
              <a:tblPr firstRow="1" bandRow="1">
                <a:tableStyleId>{1E5458E1-0376-4910-A6E8-49B6F46B1678}</a:tableStyleId>
              </a:tblPr>
              <a:tblGrid>
                <a:gridCol w="1156743"/>
                <a:gridCol w="2700336"/>
              </a:tblGrid>
              <a:tr h="256161">
                <a:tc>
                  <a:txBody>
                    <a:bodyPr/>
                    <a:lstStyle/>
                    <a:p>
                      <a:r>
                        <a:rPr lang="en-US" b="1" dirty="0" smtClean="0"/>
                        <a:t>Hotel</a:t>
                      </a:r>
                      <a:endParaRPr lang="en-US" b="1" dirty="0"/>
                    </a:p>
                  </a:txBody>
                  <a:tcPr marL="108013" marR="108013"/>
                </a:tc>
                <a:tc>
                  <a:txBody>
                    <a:bodyPr/>
                    <a:lstStyle/>
                    <a:p>
                      <a:r>
                        <a:rPr lang="en-US" b="1" dirty="0" smtClean="0"/>
                        <a:t>Feature</a:t>
                      </a:r>
                      <a:r>
                        <a:rPr lang="en-US" b="1" baseline="0" dirty="0" smtClean="0"/>
                        <a:t> Vector</a:t>
                      </a:r>
                      <a:endParaRPr lang="en-US" b="1" dirty="0"/>
                    </a:p>
                  </a:txBody>
                  <a:tcPr marL="108013" marR="108013"/>
                </a:tc>
              </a:tr>
              <a:tr h="276661">
                <a:tc>
                  <a:txBody>
                    <a:bodyPr/>
                    <a:lstStyle/>
                    <a:p>
                      <a:r>
                        <a:rPr lang="en-US" dirty="0" smtClean="0"/>
                        <a:t>Hotel1</a:t>
                      </a:r>
                      <a:endParaRPr lang="en-US" dirty="0"/>
                    </a:p>
                  </a:txBody>
                  <a:tcPr marL="108013" marR="108013"/>
                </a:tc>
                <a:tc>
                  <a:txBody>
                    <a:bodyPr/>
                    <a:lstStyle/>
                    <a:p>
                      <a:r>
                        <a:rPr lang="en-US" dirty="0" smtClean="0"/>
                        <a:t>[0.8, 0.2]</a:t>
                      </a:r>
                      <a:endParaRPr lang="en-US" dirty="0"/>
                    </a:p>
                  </a:txBody>
                  <a:tcPr marL="108013" marR="108013"/>
                </a:tc>
              </a:tr>
              <a:tr h="276661">
                <a:tc>
                  <a:txBody>
                    <a:bodyPr/>
                    <a:lstStyle/>
                    <a:p>
                      <a:r>
                        <a:rPr lang="en-US" dirty="0" smtClean="0"/>
                        <a:t>Hotel2</a:t>
                      </a:r>
                      <a:endParaRPr lang="en-US" dirty="0"/>
                    </a:p>
                  </a:txBody>
                  <a:tcPr marL="108013" marR="108013"/>
                </a:tc>
                <a:tc>
                  <a:txBody>
                    <a:bodyPr/>
                    <a:lstStyle/>
                    <a:p>
                      <a:r>
                        <a:rPr lang="en-US" dirty="0" smtClean="0"/>
                        <a:t>[1, 0]</a:t>
                      </a:r>
                      <a:endParaRPr lang="en-US" dirty="0"/>
                    </a:p>
                  </a:txBody>
                  <a:tcPr marL="108013" marR="108013"/>
                </a:tc>
              </a:tr>
              <a:tr h="276661">
                <a:tc>
                  <a:txBody>
                    <a:bodyPr/>
                    <a:lstStyle/>
                    <a:p>
                      <a:r>
                        <a:rPr lang="en-US" dirty="0" smtClean="0"/>
                        <a:t>Hotel3</a:t>
                      </a:r>
                      <a:endParaRPr lang="en-US" dirty="0"/>
                    </a:p>
                  </a:txBody>
                  <a:tcPr marL="108013" marR="108013"/>
                </a:tc>
                <a:tc>
                  <a:txBody>
                    <a:bodyPr/>
                    <a:lstStyle/>
                    <a:p>
                      <a:r>
                        <a:rPr lang="en-US" dirty="0" smtClean="0"/>
                        <a:t>[0.9, 0.1]</a:t>
                      </a:r>
                      <a:endParaRPr lang="en-US" dirty="0"/>
                    </a:p>
                  </a:txBody>
                  <a:tcPr marL="108013" marR="108013"/>
                </a:tc>
              </a:tr>
              <a:tr h="276661">
                <a:tc>
                  <a:txBody>
                    <a:bodyPr/>
                    <a:lstStyle/>
                    <a:p>
                      <a:r>
                        <a:rPr lang="en-US" dirty="0" smtClean="0"/>
                        <a:t>Hotel4</a:t>
                      </a:r>
                      <a:endParaRPr lang="en-US" dirty="0"/>
                    </a:p>
                  </a:txBody>
                  <a:tcPr marL="108013" marR="108013"/>
                </a:tc>
                <a:tc>
                  <a:txBody>
                    <a:bodyPr/>
                    <a:lstStyle/>
                    <a:p>
                      <a:r>
                        <a:rPr lang="en-US" dirty="0" smtClean="0"/>
                        <a:t>[0.1, 0.9]</a:t>
                      </a:r>
                      <a:endParaRPr lang="en-US" dirty="0"/>
                    </a:p>
                  </a:txBody>
                  <a:tcPr marL="108013" marR="108013"/>
                </a:tc>
              </a:tr>
              <a:tr h="276661">
                <a:tc>
                  <a:txBody>
                    <a:bodyPr/>
                    <a:lstStyle/>
                    <a:p>
                      <a:r>
                        <a:rPr lang="en-US" dirty="0" smtClean="0"/>
                        <a:t>Hotel5</a:t>
                      </a:r>
                      <a:endParaRPr lang="en-US" dirty="0"/>
                    </a:p>
                  </a:txBody>
                  <a:tcPr marL="108013" marR="108013"/>
                </a:tc>
                <a:tc>
                  <a:txBody>
                    <a:bodyPr/>
                    <a:lstStyle/>
                    <a:p>
                      <a:r>
                        <a:rPr lang="en-US" dirty="0" smtClean="0"/>
                        <a:t>[0,1]</a:t>
                      </a:r>
                      <a:endParaRPr lang="en-US" dirty="0"/>
                    </a:p>
                  </a:txBody>
                  <a:tcPr marL="108013" marR="108013"/>
                </a:tc>
              </a:tr>
            </a:tbl>
          </a:graphicData>
        </a:graphic>
      </p:graphicFrame>
      <p:graphicFrame>
        <p:nvGraphicFramePr>
          <p:cNvPr id="9" name="Table 8"/>
          <p:cNvGraphicFramePr>
            <a:graphicFrameLocks noGrp="1"/>
          </p:cNvGraphicFramePr>
          <p:nvPr/>
        </p:nvGraphicFramePr>
        <p:xfrm>
          <a:off x="4381825" y="3099880"/>
          <a:ext cx="4040928" cy="1485900"/>
        </p:xfrm>
        <a:graphic>
          <a:graphicData uri="http://schemas.openxmlformats.org/drawingml/2006/table">
            <a:tbl>
              <a:tblPr firstRow="1" bandRow="1">
                <a:tableStyleId>{1E5458E1-0376-4910-A6E8-49B6F46B1678}</a:tableStyleId>
              </a:tblPr>
              <a:tblGrid>
                <a:gridCol w="2020464"/>
                <a:gridCol w="2020464"/>
              </a:tblGrid>
              <a:tr h="274509">
                <a:tc>
                  <a:txBody>
                    <a:bodyPr/>
                    <a:lstStyle/>
                    <a:p>
                      <a:r>
                        <a:rPr lang="en-US" dirty="0" smtClean="0"/>
                        <a:t>User</a:t>
                      </a:r>
                      <a:r>
                        <a:rPr lang="en-US" baseline="0" dirty="0" smtClean="0"/>
                        <a:t> </a:t>
                      </a:r>
                      <a:endParaRPr lang="en-US" dirty="0"/>
                    </a:p>
                  </a:txBody>
                  <a:tcPr marL="108013" marR="108013"/>
                </a:tc>
                <a:tc>
                  <a:txBody>
                    <a:bodyPr/>
                    <a:lstStyle/>
                    <a:p>
                      <a:r>
                        <a:rPr lang="en-US" dirty="0" smtClean="0"/>
                        <a:t>Feature</a:t>
                      </a:r>
                      <a:r>
                        <a:rPr lang="en-US" baseline="0" dirty="0" smtClean="0"/>
                        <a:t> Vector</a:t>
                      </a:r>
                      <a:endParaRPr lang="en-US" dirty="0"/>
                    </a:p>
                  </a:txBody>
                  <a:tcPr marL="108013" marR="108013"/>
                </a:tc>
              </a:tr>
              <a:tr h="274509">
                <a:tc>
                  <a:txBody>
                    <a:bodyPr/>
                    <a:lstStyle/>
                    <a:p>
                      <a:r>
                        <a:rPr lang="en-US" dirty="0" smtClean="0"/>
                        <a:t>A</a:t>
                      </a:r>
                      <a:endParaRPr lang="en-US" dirty="0"/>
                    </a:p>
                  </a:txBody>
                  <a:tcPr marL="108013" marR="108013"/>
                </a:tc>
                <a:tc>
                  <a:txBody>
                    <a:bodyPr/>
                    <a:lstStyle/>
                    <a:p>
                      <a:r>
                        <a:rPr lang="en-US" dirty="0" smtClean="0"/>
                        <a:t>[0.9, 0.1]</a:t>
                      </a:r>
                      <a:endParaRPr lang="en-US" dirty="0"/>
                    </a:p>
                  </a:txBody>
                  <a:tcPr marL="108013" marR="108013"/>
                </a:tc>
              </a:tr>
              <a:tr h="274509">
                <a:tc>
                  <a:txBody>
                    <a:bodyPr/>
                    <a:lstStyle/>
                    <a:p>
                      <a:r>
                        <a:rPr lang="en-US" dirty="0" smtClean="0"/>
                        <a:t>B</a:t>
                      </a:r>
                      <a:endParaRPr lang="en-US" dirty="0"/>
                    </a:p>
                  </a:txBody>
                  <a:tcPr marL="108013" marR="108013"/>
                </a:tc>
                <a:tc>
                  <a:txBody>
                    <a:bodyPr/>
                    <a:lstStyle/>
                    <a:p>
                      <a:r>
                        <a:rPr lang="en-US" dirty="0" smtClean="0"/>
                        <a:t>[0.8, 0.2]</a:t>
                      </a:r>
                      <a:endParaRPr lang="en-US" dirty="0"/>
                    </a:p>
                  </a:txBody>
                  <a:tcPr marL="108013" marR="108013"/>
                </a:tc>
              </a:tr>
              <a:tr h="274509">
                <a:tc>
                  <a:txBody>
                    <a:bodyPr/>
                    <a:lstStyle/>
                    <a:p>
                      <a:r>
                        <a:rPr lang="en-US" dirty="0" smtClean="0"/>
                        <a:t>C</a:t>
                      </a:r>
                      <a:endParaRPr lang="en-US" dirty="0"/>
                    </a:p>
                  </a:txBody>
                  <a:tcPr marL="108013" marR="108013"/>
                </a:tc>
                <a:tc>
                  <a:txBody>
                    <a:bodyPr/>
                    <a:lstStyle/>
                    <a:p>
                      <a:r>
                        <a:rPr lang="en-US" dirty="0" smtClean="0"/>
                        <a:t>[0.3, 0.7]</a:t>
                      </a:r>
                      <a:endParaRPr lang="en-US" dirty="0"/>
                    </a:p>
                  </a:txBody>
                  <a:tcPr marL="108013" marR="108013"/>
                </a:tc>
              </a:tr>
              <a:tr h="274509">
                <a:tc>
                  <a:txBody>
                    <a:bodyPr/>
                    <a:lstStyle/>
                    <a:p>
                      <a:r>
                        <a:rPr lang="en-US" dirty="0" smtClean="0"/>
                        <a:t>D</a:t>
                      </a:r>
                      <a:endParaRPr lang="en-US" dirty="0"/>
                    </a:p>
                  </a:txBody>
                  <a:tcPr marL="108013" marR="108013"/>
                </a:tc>
                <a:tc>
                  <a:txBody>
                    <a:bodyPr/>
                    <a:lstStyle/>
                    <a:p>
                      <a:r>
                        <a:rPr lang="en-US" dirty="0" smtClean="0"/>
                        <a:t>[0,1]</a:t>
                      </a:r>
                      <a:endParaRPr lang="en-US" dirty="0"/>
                    </a:p>
                  </a:txBody>
                  <a:tcPr marL="108013" marR="108013"/>
                </a:tc>
              </a:tr>
            </a:tbl>
          </a:graphicData>
        </a:graphic>
      </p:graphicFrame>
      <p:sp>
        <p:nvSpPr>
          <p:cNvPr id="10" name="Right Arrow 9"/>
          <p:cNvSpPr/>
          <p:nvPr/>
        </p:nvSpPr>
        <p:spPr>
          <a:xfrm>
            <a:off x="3424258" y="1964987"/>
            <a:ext cx="781373" cy="34046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a:off x="3385956" y="3391710"/>
            <a:ext cx="781373" cy="34046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7175632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8F1D95-ED47-456F-B611-EE7D1B1566EF}"/>
              </a:ext>
            </a:extLst>
          </p:cNvPr>
          <p:cNvSpPr>
            <a:spLocks noGrp="1"/>
          </p:cNvSpPr>
          <p:nvPr>
            <p:ph type="title"/>
          </p:nvPr>
        </p:nvSpPr>
        <p:spPr/>
        <p:txBody>
          <a:bodyPr/>
          <a:lstStyle/>
          <a:p>
            <a:r>
              <a:rPr lang="en-US" dirty="0" smtClean="0"/>
              <a:t>Content Based Recommendation</a:t>
            </a:r>
            <a:endParaRPr lang="en-US" dirty="0"/>
          </a:p>
        </p:txBody>
      </p:sp>
      <p:sp>
        <p:nvSpPr>
          <p:cNvPr id="3" name="Date Placeholder 2">
            <a:extLst>
              <a:ext uri="{FF2B5EF4-FFF2-40B4-BE49-F238E27FC236}">
                <a16:creationId xmlns:a16="http://schemas.microsoft.com/office/drawing/2014/main" xmlns="" id="{2E9B00F9-79D8-4499-9957-B9DF7E004F50}"/>
              </a:ext>
            </a:extLst>
          </p:cNvPr>
          <p:cNvSpPr>
            <a:spLocks noGrp="1"/>
          </p:cNvSpPr>
          <p:nvPr>
            <p:ph type="dt" sz="half" idx="10"/>
          </p:nvPr>
        </p:nvSpPr>
        <p:spPr/>
        <p:txBody>
          <a:bodyPr/>
          <a:lstStyle/>
          <a:p>
            <a:fld id="{B604B242-A112-40FA-B30F-F44D6727C9BE}" type="datetime1">
              <a:rPr lang="en-US" smtClean="0"/>
              <a:pPr/>
              <a:t>9/12/2022</a:t>
            </a:fld>
            <a:endParaRPr lang="en-US"/>
          </a:p>
        </p:txBody>
      </p:sp>
      <p:sp>
        <p:nvSpPr>
          <p:cNvPr id="4" name="Slide Number Placeholder 3">
            <a:extLst>
              <a:ext uri="{FF2B5EF4-FFF2-40B4-BE49-F238E27FC236}">
                <a16:creationId xmlns:a16="http://schemas.microsoft.com/office/drawing/2014/main" xmlns="" id="{5EF22235-6ED9-4F0D-AA41-0D1A9034373D}"/>
              </a:ext>
            </a:extLst>
          </p:cNvPr>
          <p:cNvSpPr>
            <a:spLocks noGrp="1"/>
          </p:cNvSpPr>
          <p:nvPr>
            <p:ph type="sldNum" sz="quarter" idx="4"/>
          </p:nvPr>
        </p:nvSpPr>
        <p:spPr/>
        <p:txBody>
          <a:bodyPr/>
          <a:lstStyle/>
          <a:p>
            <a:r>
              <a:rPr lang="en-US"/>
              <a:t>Slide no. </a:t>
            </a:r>
            <a:fld id="{7240F3D1-AE27-48C7-9FC9-EF8542F23A88}" type="slidenum">
              <a:rPr lang="en-US" smtClean="0"/>
              <a:pPr/>
              <a:t>28</a:t>
            </a:fld>
            <a:endParaRPr lang="en-US" dirty="0"/>
          </a:p>
        </p:txBody>
      </p:sp>
      <p:graphicFrame>
        <p:nvGraphicFramePr>
          <p:cNvPr id="5" name="Table 4"/>
          <p:cNvGraphicFramePr>
            <a:graphicFrameLocks noGrp="1"/>
          </p:cNvGraphicFramePr>
          <p:nvPr/>
        </p:nvGraphicFramePr>
        <p:xfrm>
          <a:off x="520913" y="1125166"/>
          <a:ext cx="3857079" cy="1783080"/>
        </p:xfrm>
        <a:graphic>
          <a:graphicData uri="http://schemas.openxmlformats.org/drawingml/2006/table">
            <a:tbl>
              <a:tblPr firstRow="1" bandRow="1">
                <a:tableStyleId>{1E5458E1-0376-4910-A6E8-49B6F46B1678}</a:tableStyleId>
              </a:tblPr>
              <a:tblGrid>
                <a:gridCol w="1156743"/>
                <a:gridCol w="2700336"/>
              </a:tblGrid>
              <a:tr h="256161">
                <a:tc>
                  <a:txBody>
                    <a:bodyPr/>
                    <a:lstStyle/>
                    <a:p>
                      <a:r>
                        <a:rPr lang="en-US" b="1" dirty="0" smtClean="0"/>
                        <a:t>Hotel</a:t>
                      </a:r>
                      <a:endParaRPr lang="en-US" b="1" dirty="0"/>
                    </a:p>
                  </a:txBody>
                  <a:tcPr marL="108013" marR="108013"/>
                </a:tc>
                <a:tc>
                  <a:txBody>
                    <a:bodyPr/>
                    <a:lstStyle/>
                    <a:p>
                      <a:r>
                        <a:rPr lang="en-US" b="1" dirty="0" smtClean="0"/>
                        <a:t>Feature</a:t>
                      </a:r>
                      <a:r>
                        <a:rPr lang="en-US" b="1" baseline="0" dirty="0" smtClean="0"/>
                        <a:t> Vector</a:t>
                      </a:r>
                      <a:endParaRPr lang="en-US" b="1" dirty="0"/>
                    </a:p>
                  </a:txBody>
                  <a:tcPr marL="108013" marR="108013"/>
                </a:tc>
              </a:tr>
              <a:tr h="276661">
                <a:tc>
                  <a:txBody>
                    <a:bodyPr/>
                    <a:lstStyle/>
                    <a:p>
                      <a:r>
                        <a:rPr lang="en-US" dirty="0" smtClean="0"/>
                        <a:t>Hotel1</a:t>
                      </a:r>
                      <a:endParaRPr lang="en-US" dirty="0"/>
                    </a:p>
                  </a:txBody>
                  <a:tcPr marL="108013" marR="108013"/>
                </a:tc>
                <a:tc>
                  <a:txBody>
                    <a:bodyPr/>
                    <a:lstStyle/>
                    <a:p>
                      <a:r>
                        <a:rPr lang="en-US" dirty="0" smtClean="0"/>
                        <a:t>[0.8, 0.2]</a:t>
                      </a:r>
                      <a:endParaRPr lang="en-US" dirty="0"/>
                    </a:p>
                  </a:txBody>
                  <a:tcPr marL="108013" marR="108013"/>
                </a:tc>
              </a:tr>
              <a:tr h="276661">
                <a:tc>
                  <a:txBody>
                    <a:bodyPr/>
                    <a:lstStyle/>
                    <a:p>
                      <a:r>
                        <a:rPr lang="en-US" dirty="0" smtClean="0"/>
                        <a:t>Hotel2</a:t>
                      </a:r>
                      <a:endParaRPr lang="en-US" dirty="0"/>
                    </a:p>
                  </a:txBody>
                  <a:tcPr marL="108013" marR="108013"/>
                </a:tc>
                <a:tc>
                  <a:txBody>
                    <a:bodyPr/>
                    <a:lstStyle/>
                    <a:p>
                      <a:r>
                        <a:rPr lang="en-US" dirty="0" smtClean="0"/>
                        <a:t>[1, 0]</a:t>
                      </a:r>
                      <a:endParaRPr lang="en-US" dirty="0"/>
                    </a:p>
                  </a:txBody>
                  <a:tcPr marL="108013" marR="108013"/>
                </a:tc>
              </a:tr>
              <a:tr h="276661">
                <a:tc>
                  <a:txBody>
                    <a:bodyPr/>
                    <a:lstStyle/>
                    <a:p>
                      <a:r>
                        <a:rPr lang="en-US" dirty="0" smtClean="0"/>
                        <a:t>Hotel3</a:t>
                      </a:r>
                      <a:endParaRPr lang="en-US" dirty="0"/>
                    </a:p>
                  </a:txBody>
                  <a:tcPr marL="108013" marR="108013"/>
                </a:tc>
                <a:tc>
                  <a:txBody>
                    <a:bodyPr/>
                    <a:lstStyle/>
                    <a:p>
                      <a:r>
                        <a:rPr lang="en-US" dirty="0" smtClean="0"/>
                        <a:t>[0.9, 0.1]</a:t>
                      </a:r>
                      <a:endParaRPr lang="en-US" dirty="0"/>
                    </a:p>
                  </a:txBody>
                  <a:tcPr marL="108013" marR="108013"/>
                </a:tc>
              </a:tr>
              <a:tr h="276661">
                <a:tc>
                  <a:txBody>
                    <a:bodyPr/>
                    <a:lstStyle/>
                    <a:p>
                      <a:r>
                        <a:rPr lang="en-US" dirty="0" smtClean="0"/>
                        <a:t>Hotel4</a:t>
                      </a:r>
                      <a:endParaRPr lang="en-US" dirty="0"/>
                    </a:p>
                  </a:txBody>
                  <a:tcPr marL="108013" marR="108013"/>
                </a:tc>
                <a:tc>
                  <a:txBody>
                    <a:bodyPr/>
                    <a:lstStyle/>
                    <a:p>
                      <a:r>
                        <a:rPr lang="en-US" dirty="0" smtClean="0"/>
                        <a:t>[0.1, 0.9]</a:t>
                      </a:r>
                      <a:endParaRPr lang="en-US" dirty="0"/>
                    </a:p>
                  </a:txBody>
                  <a:tcPr marL="108013" marR="108013"/>
                </a:tc>
              </a:tr>
              <a:tr h="276661">
                <a:tc>
                  <a:txBody>
                    <a:bodyPr/>
                    <a:lstStyle/>
                    <a:p>
                      <a:r>
                        <a:rPr lang="en-US" dirty="0" smtClean="0"/>
                        <a:t>Hotel5</a:t>
                      </a:r>
                      <a:endParaRPr lang="en-US" dirty="0"/>
                    </a:p>
                  </a:txBody>
                  <a:tcPr marL="108013" marR="108013"/>
                </a:tc>
                <a:tc>
                  <a:txBody>
                    <a:bodyPr/>
                    <a:lstStyle/>
                    <a:p>
                      <a:r>
                        <a:rPr lang="en-US" dirty="0" smtClean="0"/>
                        <a:t>[0,1]</a:t>
                      </a:r>
                      <a:endParaRPr lang="en-US" dirty="0"/>
                    </a:p>
                  </a:txBody>
                  <a:tcPr marL="108013" marR="108013"/>
                </a:tc>
              </a:tr>
            </a:tbl>
          </a:graphicData>
        </a:graphic>
      </p:graphicFrame>
      <p:graphicFrame>
        <p:nvGraphicFramePr>
          <p:cNvPr id="6" name="Table 5"/>
          <p:cNvGraphicFramePr>
            <a:graphicFrameLocks noGrp="1"/>
          </p:cNvGraphicFramePr>
          <p:nvPr/>
        </p:nvGraphicFramePr>
        <p:xfrm>
          <a:off x="5232145" y="1115438"/>
          <a:ext cx="4040928" cy="1485900"/>
        </p:xfrm>
        <a:graphic>
          <a:graphicData uri="http://schemas.openxmlformats.org/drawingml/2006/table">
            <a:tbl>
              <a:tblPr firstRow="1" bandRow="1">
                <a:tableStyleId>{1E5458E1-0376-4910-A6E8-49B6F46B1678}</a:tableStyleId>
              </a:tblPr>
              <a:tblGrid>
                <a:gridCol w="2020464"/>
                <a:gridCol w="2020464"/>
              </a:tblGrid>
              <a:tr h="274509">
                <a:tc>
                  <a:txBody>
                    <a:bodyPr/>
                    <a:lstStyle/>
                    <a:p>
                      <a:r>
                        <a:rPr lang="en-US" dirty="0" smtClean="0"/>
                        <a:t>User</a:t>
                      </a:r>
                      <a:r>
                        <a:rPr lang="en-US" baseline="0" dirty="0" smtClean="0"/>
                        <a:t> </a:t>
                      </a:r>
                      <a:endParaRPr lang="en-US" dirty="0"/>
                    </a:p>
                  </a:txBody>
                  <a:tcPr marL="108013" marR="108013"/>
                </a:tc>
                <a:tc>
                  <a:txBody>
                    <a:bodyPr/>
                    <a:lstStyle/>
                    <a:p>
                      <a:r>
                        <a:rPr lang="en-US" dirty="0" smtClean="0"/>
                        <a:t>Feature</a:t>
                      </a:r>
                      <a:r>
                        <a:rPr lang="en-US" baseline="0" dirty="0" smtClean="0"/>
                        <a:t> Vector</a:t>
                      </a:r>
                      <a:endParaRPr lang="en-US" dirty="0"/>
                    </a:p>
                  </a:txBody>
                  <a:tcPr marL="108013" marR="108013"/>
                </a:tc>
              </a:tr>
              <a:tr h="274509">
                <a:tc>
                  <a:txBody>
                    <a:bodyPr/>
                    <a:lstStyle/>
                    <a:p>
                      <a:r>
                        <a:rPr lang="en-US" dirty="0" smtClean="0"/>
                        <a:t>A</a:t>
                      </a:r>
                      <a:endParaRPr lang="en-US" dirty="0"/>
                    </a:p>
                  </a:txBody>
                  <a:tcPr marL="108013" marR="108013"/>
                </a:tc>
                <a:tc>
                  <a:txBody>
                    <a:bodyPr/>
                    <a:lstStyle/>
                    <a:p>
                      <a:r>
                        <a:rPr lang="en-US" dirty="0" smtClean="0"/>
                        <a:t>[0.9, 0.1]</a:t>
                      </a:r>
                      <a:endParaRPr lang="en-US" dirty="0"/>
                    </a:p>
                  </a:txBody>
                  <a:tcPr marL="108013" marR="108013"/>
                </a:tc>
              </a:tr>
              <a:tr h="274509">
                <a:tc>
                  <a:txBody>
                    <a:bodyPr/>
                    <a:lstStyle/>
                    <a:p>
                      <a:r>
                        <a:rPr lang="en-US" dirty="0" smtClean="0"/>
                        <a:t>B</a:t>
                      </a:r>
                      <a:endParaRPr lang="en-US" dirty="0"/>
                    </a:p>
                  </a:txBody>
                  <a:tcPr marL="108013" marR="108013"/>
                </a:tc>
                <a:tc>
                  <a:txBody>
                    <a:bodyPr/>
                    <a:lstStyle/>
                    <a:p>
                      <a:r>
                        <a:rPr lang="en-US" dirty="0" smtClean="0"/>
                        <a:t>[0.8, 0.2]</a:t>
                      </a:r>
                      <a:endParaRPr lang="en-US" dirty="0"/>
                    </a:p>
                  </a:txBody>
                  <a:tcPr marL="108013" marR="108013"/>
                </a:tc>
              </a:tr>
              <a:tr h="274509">
                <a:tc>
                  <a:txBody>
                    <a:bodyPr/>
                    <a:lstStyle/>
                    <a:p>
                      <a:r>
                        <a:rPr lang="en-US" dirty="0" smtClean="0"/>
                        <a:t>C</a:t>
                      </a:r>
                      <a:endParaRPr lang="en-US" dirty="0"/>
                    </a:p>
                  </a:txBody>
                  <a:tcPr marL="108013" marR="108013"/>
                </a:tc>
                <a:tc>
                  <a:txBody>
                    <a:bodyPr/>
                    <a:lstStyle/>
                    <a:p>
                      <a:r>
                        <a:rPr lang="en-US" dirty="0" smtClean="0"/>
                        <a:t>[0.3, 0.7]</a:t>
                      </a:r>
                      <a:endParaRPr lang="en-US" dirty="0"/>
                    </a:p>
                  </a:txBody>
                  <a:tcPr marL="108013" marR="108013"/>
                </a:tc>
              </a:tr>
              <a:tr h="274509">
                <a:tc>
                  <a:txBody>
                    <a:bodyPr/>
                    <a:lstStyle/>
                    <a:p>
                      <a:r>
                        <a:rPr lang="en-US" dirty="0" smtClean="0"/>
                        <a:t>D</a:t>
                      </a:r>
                      <a:endParaRPr lang="en-US" dirty="0"/>
                    </a:p>
                  </a:txBody>
                  <a:tcPr marL="108013" marR="108013"/>
                </a:tc>
                <a:tc>
                  <a:txBody>
                    <a:bodyPr/>
                    <a:lstStyle/>
                    <a:p>
                      <a:r>
                        <a:rPr lang="en-US" dirty="0" smtClean="0"/>
                        <a:t>[0,1]</a:t>
                      </a:r>
                      <a:endParaRPr lang="en-US" dirty="0"/>
                    </a:p>
                  </a:txBody>
                  <a:tcPr marL="108013" marR="108013"/>
                </a:tc>
              </a:tr>
            </a:tbl>
          </a:graphicData>
        </a:graphic>
      </p:graphicFrame>
      <p:sp>
        <p:nvSpPr>
          <p:cNvPr id="7" name="TextBox 6"/>
          <p:cNvSpPr txBox="1"/>
          <p:nvPr/>
        </p:nvSpPr>
        <p:spPr>
          <a:xfrm>
            <a:off x="436650" y="2986391"/>
            <a:ext cx="8698535" cy="2062103"/>
          </a:xfrm>
          <a:prstGeom prst="rect">
            <a:avLst/>
          </a:prstGeom>
          <a:noFill/>
        </p:spPr>
        <p:txBody>
          <a:bodyPr wrap="square" rtlCol="0">
            <a:spAutoFit/>
          </a:bodyPr>
          <a:lstStyle/>
          <a:p>
            <a:r>
              <a:rPr lang="en-US" sz="1600" dirty="0" smtClean="0"/>
              <a:t>Which hotel should be suggested to User A?</a:t>
            </a:r>
          </a:p>
          <a:p>
            <a:r>
              <a:rPr lang="en-US" sz="1600" dirty="0" smtClean="0"/>
              <a:t>Max(</a:t>
            </a:r>
            <a:r>
              <a:rPr lang="en-US" sz="1600" dirty="0" err="1" smtClean="0"/>
              <a:t>Uj</a:t>
            </a:r>
            <a:r>
              <a:rPr lang="en-US" sz="1600" dirty="0" smtClean="0"/>
              <a:t>* Hi)</a:t>
            </a:r>
          </a:p>
          <a:p>
            <a:r>
              <a:rPr lang="en-US" sz="1600" dirty="0" smtClean="0"/>
              <a:t>MAX(A*H1,  A*H2, A*H3, A*H4, A*H5)</a:t>
            </a:r>
          </a:p>
          <a:p>
            <a:r>
              <a:rPr lang="en-US" sz="1600" dirty="0" smtClean="0"/>
              <a:t>What is vector product ?</a:t>
            </a:r>
          </a:p>
          <a:p>
            <a:r>
              <a:rPr lang="en-US" sz="1600" dirty="0" smtClean="0"/>
              <a:t>A*H1= [0.9*0.8+0.2*0.1]</a:t>
            </a:r>
          </a:p>
          <a:p>
            <a:r>
              <a:rPr lang="en-US" sz="1600" dirty="0" smtClean="0"/>
              <a:t>Finally output of all is max(0.74, </a:t>
            </a:r>
            <a:r>
              <a:rPr lang="en-US" sz="1600" b="1" dirty="0" smtClean="0">
                <a:solidFill>
                  <a:srgbClr val="00B050"/>
                </a:solidFill>
              </a:rPr>
              <a:t>0.9,</a:t>
            </a:r>
            <a:r>
              <a:rPr lang="en-US" sz="1600" dirty="0" smtClean="0"/>
              <a:t> 0.82, 0.18, 0.1)</a:t>
            </a:r>
          </a:p>
          <a:p>
            <a:r>
              <a:rPr lang="en-US" sz="1600" dirty="0" smtClean="0"/>
              <a:t>And recommendation is hotel 2 to User A</a:t>
            </a:r>
          </a:p>
          <a:p>
            <a:endParaRPr lang="en-US" sz="1600" dirty="0"/>
          </a:p>
        </p:txBody>
      </p:sp>
    </p:spTree>
    <p:extLst>
      <p:ext uri="{BB962C8B-B14F-4D97-AF65-F5344CB8AC3E}">
        <p14:creationId xmlns:p14="http://schemas.microsoft.com/office/powerpoint/2010/main" xmlns="" val="10196079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Pros and Cons</a:t>
            </a:r>
            <a:endParaRPr lang="en-US" dirty="0"/>
          </a:p>
        </p:txBody>
      </p:sp>
      <p:sp>
        <p:nvSpPr>
          <p:cNvPr id="3" name="Date Placeholder 2"/>
          <p:cNvSpPr>
            <a:spLocks noGrp="1"/>
          </p:cNvSpPr>
          <p:nvPr>
            <p:ph type="dt" sz="half" idx="10"/>
          </p:nvPr>
        </p:nvSpPr>
        <p:spPr/>
        <p:txBody>
          <a:bodyPr/>
          <a:lstStyle/>
          <a:p>
            <a:fld id="{B604B242-A112-40FA-B30F-F44D6727C9BE}" type="datetime1">
              <a:rPr lang="en-US" smtClean="0"/>
              <a:pPr/>
              <a:t>9/12/2022</a:t>
            </a:fld>
            <a:endParaRPr lang="en-US"/>
          </a:p>
        </p:txBody>
      </p:sp>
      <p:sp>
        <p:nvSpPr>
          <p:cNvPr id="4" name="Slide Number Placeholder 3"/>
          <p:cNvSpPr>
            <a:spLocks noGrp="1"/>
          </p:cNvSpPr>
          <p:nvPr>
            <p:ph type="sldNum" sz="quarter" idx="4"/>
          </p:nvPr>
        </p:nvSpPr>
        <p:spPr/>
        <p:txBody>
          <a:bodyPr/>
          <a:lstStyle/>
          <a:p>
            <a:r>
              <a:rPr lang="en-US" smtClean="0"/>
              <a:t>Slide no. </a:t>
            </a:r>
            <a:fld id="{7240F3D1-AE27-48C7-9FC9-EF8542F23A88}" type="slidenum">
              <a:rPr lang="en-US" smtClean="0"/>
              <a:pPr/>
              <a:t>29</a:t>
            </a:fld>
            <a:endParaRPr lang="en-US" dirty="0"/>
          </a:p>
        </p:txBody>
      </p:sp>
      <p:sp>
        <p:nvSpPr>
          <p:cNvPr id="5" name="TextBox 4"/>
          <p:cNvSpPr txBox="1"/>
          <p:nvPr/>
        </p:nvSpPr>
        <p:spPr>
          <a:xfrm>
            <a:off x="0" y="924232"/>
            <a:ext cx="9124335" cy="2031325"/>
          </a:xfrm>
          <a:prstGeom prst="rect">
            <a:avLst/>
          </a:prstGeom>
          <a:noFill/>
        </p:spPr>
        <p:txBody>
          <a:bodyPr wrap="square" rtlCol="0">
            <a:spAutoFit/>
          </a:bodyPr>
          <a:lstStyle/>
          <a:p>
            <a:r>
              <a:rPr lang="en-IN" dirty="0" smtClean="0"/>
              <a:t>Pros: </a:t>
            </a:r>
          </a:p>
          <a:p>
            <a:pPr lvl="1"/>
            <a:r>
              <a:rPr lang="en-IN" dirty="0" smtClean="0"/>
              <a:t>Easily scalable due to low amount of data</a:t>
            </a:r>
          </a:p>
          <a:p>
            <a:pPr lvl="1"/>
            <a:r>
              <a:rPr lang="en-IN" dirty="0" smtClean="0"/>
              <a:t>Unlike other models,  this does not compare with other users data</a:t>
            </a:r>
          </a:p>
          <a:p>
            <a:endParaRPr lang="en-IN" dirty="0" smtClean="0"/>
          </a:p>
          <a:p>
            <a:r>
              <a:rPr lang="en-IN" dirty="0" smtClean="0"/>
              <a:t>Cons:</a:t>
            </a:r>
          </a:p>
          <a:p>
            <a:pPr lvl="1"/>
            <a:r>
              <a:rPr lang="en-IN" dirty="0" smtClean="0"/>
              <a:t>Model requires a fair amount of domain based knowledge</a:t>
            </a:r>
          </a:p>
          <a:p>
            <a:pPr lvl="1"/>
            <a:r>
              <a:rPr lang="en-IN" dirty="0" smtClean="0"/>
              <a:t>Content based filtering depends on previous known user interest.</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B109AE-51E3-477E-8727-C638BEF7B389}"/>
              </a:ext>
            </a:extLst>
          </p:cNvPr>
          <p:cNvSpPr>
            <a:spLocks noGrp="1"/>
          </p:cNvSpPr>
          <p:nvPr>
            <p:ph type="title"/>
          </p:nvPr>
        </p:nvSpPr>
        <p:spPr/>
        <p:txBody>
          <a:bodyPr>
            <a:normAutofit/>
          </a:bodyPr>
          <a:lstStyle/>
          <a:p>
            <a:r>
              <a:rPr lang="en-US" dirty="0" smtClean="0"/>
              <a:t>Collaborative Filtering</a:t>
            </a:r>
            <a:endParaRPr lang="en-US" dirty="0"/>
          </a:p>
        </p:txBody>
      </p:sp>
      <p:sp>
        <p:nvSpPr>
          <p:cNvPr id="3" name="Date Placeholder 2">
            <a:extLst>
              <a:ext uri="{FF2B5EF4-FFF2-40B4-BE49-F238E27FC236}">
                <a16:creationId xmlns:a16="http://schemas.microsoft.com/office/drawing/2014/main" xmlns="" id="{1BD619FA-5FD4-4686-9070-DA55D2111E45}"/>
              </a:ext>
            </a:extLst>
          </p:cNvPr>
          <p:cNvSpPr>
            <a:spLocks noGrp="1"/>
          </p:cNvSpPr>
          <p:nvPr>
            <p:ph type="dt" sz="half" idx="10"/>
          </p:nvPr>
        </p:nvSpPr>
        <p:spPr/>
        <p:txBody>
          <a:bodyPr/>
          <a:lstStyle/>
          <a:p>
            <a:fld id="{B604B242-A112-40FA-B30F-F44D6727C9BE}" type="datetime1">
              <a:rPr lang="en-US" smtClean="0"/>
              <a:pPr/>
              <a:t>9/12/2022</a:t>
            </a:fld>
            <a:endParaRPr lang="en-US"/>
          </a:p>
        </p:txBody>
      </p:sp>
      <p:sp>
        <p:nvSpPr>
          <p:cNvPr id="4" name="Slide Number Placeholder 3">
            <a:extLst>
              <a:ext uri="{FF2B5EF4-FFF2-40B4-BE49-F238E27FC236}">
                <a16:creationId xmlns:a16="http://schemas.microsoft.com/office/drawing/2014/main" xmlns="" id="{4FA45849-674F-4736-B273-D42200B69101}"/>
              </a:ext>
            </a:extLst>
          </p:cNvPr>
          <p:cNvSpPr>
            <a:spLocks noGrp="1"/>
          </p:cNvSpPr>
          <p:nvPr>
            <p:ph type="sldNum" sz="quarter" idx="4"/>
          </p:nvPr>
        </p:nvSpPr>
        <p:spPr/>
        <p:txBody>
          <a:bodyPr/>
          <a:lstStyle/>
          <a:p>
            <a:r>
              <a:rPr lang="en-US"/>
              <a:t>Slide no. </a:t>
            </a:r>
            <a:fld id="{7240F3D1-AE27-48C7-9FC9-EF8542F23A88}" type="slidenum">
              <a:rPr lang="en-US" smtClean="0"/>
              <a:pPr/>
              <a:t>30</a:t>
            </a:fld>
            <a:endParaRPr lang="en-US" dirty="0"/>
          </a:p>
        </p:txBody>
      </p:sp>
      <p:sp>
        <p:nvSpPr>
          <p:cNvPr id="5" name="Rectangle 4">
            <a:extLst>
              <a:ext uri="{FF2B5EF4-FFF2-40B4-BE49-F238E27FC236}">
                <a16:creationId xmlns:a16="http://schemas.microsoft.com/office/drawing/2014/main" xmlns="" id="{37117386-C9DE-4B47-BBBB-F8AA3FF5EFF6}"/>
              </a:ext>
            </a:extLst>
          </p:cNvPr>
          <p:cNvSpPr/>
          <p:nvPr/>
        </p:nvSpPr>
        <p:spPr>
          <a:xfrm>
            <a:off x="177590" y="891540"/>
            <a:ext cx="10446171" cy="3046988"/>
          </a:xfrm>
          <a:prstGeom prst="rect">
            <a:avLst/>
          </a:prstGeom>
        </p:spPr>
        <p:txBody>
          <a:bodyPr wrap="square">
            <a:spAutoFit/>
          </a:bodyPr>
          <a:lstStyle/>
          <a:p>
            <a:r>
              <a:rPr lang="en-US" sz="1600" dirty="0" smtClean="0"/>
              <a:t>Analysis user behavior, activities, and preferences</a:t>
            </a:r>
          </a:p>
          <a:p>
            <a:r>
              <a:rPr lang="en-US" sz="1600" dirty="0" smtClean="0"/>
              <a:t>Recommended based on similarity to other user</a:t>
            </a:r>
          </a:p>
          <a:p>
            <a:r>
              <a:rPr lang="en-IN" sz="1600" dirty="0" smtClean="0"/>
              <a:t>Model keeps the track of what product users like and their characteristics</a:t>
            </a:r>
          </a:p>
          <a:p>
            <a:r>
              <a:rPr lang="en-IN" sz="1600" dirty="0" smtClean="0"/>
              <a:t>Product should be given numerical values</a:t>
            </a:r>
            <a:endParaRPr lang="en-US" sz="1600" dirty="0" smtClean="0"/>
          </a:p>
          <a:p>
            <a:r>
              <a:rPr lang="en-US" sz="1600" dirty="0" smtClean="0"/>
              <a:t>People who agreed in the past will agree in future</a:t>
            </a:r>
          </a:p>
          <a:p>
            <a:r>
              <a:rPr lang="en-US" sz="1600" dirty="0" smtClean="0"/>
              <a:t>e.g. milk and bread are bought together</a:t>
            </a:r>
          </a:p>
          <a:p>
            <a:endParaRPr lang="en-IN" sz="1600" dirty="0" smtClean="0"/>
          </a:p>
          <a:p>
            <a:r>
              <a:rPr lang="en-IN" sz="1600" dirty="0" smtClean="0"/>
              <a:t>Methodology:</a:t>
            </a:r>
          </a:p>
          <a:p>
            <a:r>
              <a:rPr lang="en-IN" sz="1600" dirty="0" smtClean="0"/>
              <a:t>There are two ways the model can identify whether or not user enjoyed the product</a:t>
            </a:r>
          </a:p>
          <a:p>
            <a:r>
              <a:rPr lang="en-IN" sz="1600" dirty="0" smtClean="0"/>
              <a:t>The user can be asked to give a numerical rating or the system can assume that the user likes whatever product they use,</a:t>
            </a:r>
          </a:p>
          <a:p>
            <a:endParaRPr lang="en-IN" sz="1600" dirty="0" smtClean="0"/>
          </a:p>
          <a:p>
            <a:endParaRPr lang="en-US" sz="1600" dirty="0"/>
          </a:p>
        </p:txBody>
      </p:sp>
    </p:spTree>
    <p:extLst>
      <p:ext uri="{BB962C8B-B14F-4D97-AF65-F5344CB8AC3E}">
        <p14:creationId xmlns:p14="http://schemas.microsoft.com/office/powerpoint/2010/main" xmlns="" val="17124928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D1DAF9-F5D6-49D9-A3D2-57FC66438ACD}"/>
              </a:ext>
            </a:extLst>
          </p:cNvPr>
          <p:cNvSpPr>
            <a:spLocks noGrp="1"/>
          </p:cNvSpPr>
          <p:nvPr>
            <p:ph type="title"/>
          </p:nvPr>
        </p:nvSpPr>
        <p:spPr/>
        <p:txBody>
          <a:bodyPr/>
          <a:lstStyle/>
          <a:p>
            <a:r>
              <a:rPr lang="en-US" dirty="0" smtClean="0"/>
              <a:t>Collaborative Filter</a:t>
            </a:r>
            <a:endParaRPr lang="en-US" dirty="0"/>
          </a:p>
        </p:txBody>
      </p:sp>
      <p:sp>
        <p:nvSpPr>
          <p:cNvPr id="3" name="Date Placeholder 2">
            <a:extLst>
              <a:ext uri="{FF2B5EF4-FFF2-40B4-BE49-F238E27FC236}">
                <a16:creationId xmlns:a16="http://schemas.microsoft.com/office/drawing/2014/main" xmlns="" id="{C37C7999-E708-489E-8DF0-EBD67F75E136}"/>
              </a:ext>
            </a:extLst>
          </p:cNvPr>
          <p:cNvSpPr>
            <a:spLocks noGrp="1"/>
          </p:cNvSpPr>
          <p:nvPr>
            <p:ph type="dt" sz="half" idx="10"/>
          </p:nvPr>
        </p:nvSpPr>
        <p:spPr/>
        <p:txBody>
          <a:bodyPr/>
          <a:lstStyle/>
          <a:p>
            <a:fld id="{B604B242-A112-40FA-B30F-F44D6727C9BE}" type="datetime1">
              <a:rPr lang="en-US" smtClean="0"/>
              <a:pPr/>
              <a:t>9/12/2022</a:t>
            </a:fld>
            <a:endParaRPr lang="en-US"/>
          </a:p>
        </p:txBody>
      </p:sp>
      <p:sp>
        <p:nvSpPr>
          <p:cNvPr id="4" name="Slide Number Placeholder 3">
            <a:extLst>
              <a:ext uri="{FF2B5EF4-FFF2-40B4-BE49-F238E27FC236}">
                <a16:creationId xmlns:a16="http://schemas.microsoft.com/office/drawing/2014/main" xmlns="" id="{F1942086-5BC8-41E8-B6C4-90159C49E568}"/>
              </a:ext>
            </a:extLst>
          </p:cNvPr>
          <p:cNvSpPr>
            <a:spLocks noGrp="1"/>
          </p:cNvSpPr>
          <p:nvPr>
            <p:ph type="sldNum" sz="quarter" idx="4"/>
          </p:nvPr>
        </p:nvSpPr>
        <p:spPr/>
        <p:txBody>
          <a:bodyPr/>
          <a:lstStyle/>
          <a:p>
            <a:r>
              <a:rPr lang="en-US"/>
              <a:t>Slide no. </a:t>
            </a:r>
            <a:fld id="{7240F3D1-AE27-48C7-9FC9-EF8542F23A88}" type="slidenum">
              <a:rPr lang="en-US" smtClean="0"/>
              <a:pPr/>
              <a:t>31</a:t>
            </a:fld>
            <a:endParaRPr lang="en-US" dirty="0"/>
          </a:p>
        </p:txBody>
      </p:sp>
      <p:sp>
        <p:nvSpPr>
          <p:cNvPr id="5" name="Rectangle 4">
            <a:extLst>
              <a:ext uri="{FF2B5EF4-FFF2-40B4-BE49-F238E27FC236}">
                <a16:creationId xmlns:a16="http://schemas.microsoft.com/office/drawing/2014/main" xmlns="" id="{A3CE0ECE-4E17-492F-AE3D-34FF7372D3EF}"/>
              </a:ext>
            </a:extLst>
          </p:cNvPr>
          <p:cNvSpPr/>
          <p:nvPr/>
        </p:nvSpPr>
        <p:spPr>
          <a:xfrm>
            <a:off x="163507" y="989424"/>
            <a:ext cx="10449562" cy="1323439"/>
          </a:xfrm>
          <a:prstGeom prst="rect">
            <a:avLst/>
          </a:prstGeom>
        </p:spPr>
        <p:txBody>
          <a:bodyPr wrap="square">
            <a:spAutoFit/>
          </a:bodyPr>
          <a:lstStyle/>
          <a:p>
            <a:pPr marL="285750" indent="-285750">
              <a:buFont typeface="Arial" panose="020B0604020202020204" pitchFamily="34" charset="0"/>
              <a:buChar char="•"/>
            </a:pPr>
            <a:r>
              <a:rPr lang="en-US" sz="1600" dirty="0" smtClean="0"/>
              <a:t>User expresses preferences by rating the item</a:t>
            </a:r>
          </a:p>
          <a:p>
            <a:pPr marL="285750" indent="-285750">
              <a:buFont typeface="Arial" panose="020B0604020202020204" pitchFamily="34" charset="0"/>
              <a:buChar char="•"/>
            </a:pPr>
            <a:r>
              <a:rPr lang="en-US" sz="1600" dirty="0" smtClean="0"/>
              <a:t>Rating can be viewed as an approximate representation of the user’s interest in the corresponding domain</a:t>
            </a:r>
          </a:p>
          <a:p>
            <a:pPr marL="285750" indent="-285750">
              <a:buFont typeface="Arial" panose="020B0604020202020204" pitchFamily="34" charset="0"/>
              <a:buChar char="•"/>
            </a:pPr>
            <a:r>
              <a:rPr lang="en-US" sz="1600" dirty="0" smtClean="0"/>
              <a:t>The system matches user’s ratings against other user’s and find the people with similar tastes.</a:t>
            </a:r>
          </a:p>
          <a:p>
            <a:pPr marL="285750" indent="-285750">
              <a:buFont typeface="Arial" panose="020B0604020202020204" pitchFamily="34" charset="0"/>
              <a:buChar char="•"/>
            </a:pPr>
            <a:r>
              <a:rPr lang="en-US" sz="1600" dirty="0" smtClean="0"/>
              <a:t>With similar users, the system recommends items that the similar users have rated highly but not yet being rated by this user</a:t>
            </a:r>
            <a:endParaRPr lang="en-US" sz="1600" dirty="0"/>
          </a:p>
        </p:txBody>
      </p:sp>
      <p:graphicFrame>
        <p:nvGraphicFramePr>
          <p:cNvPr id="6" name="Table 5"/>
          <p:cNvGraphicFramePr>
            <a:graphicFrameLocks noGrp="1"/>
          </p:cNvGraphicFramePr>
          <p:nvPr/>
        </p:nvGraphicFramePr>
        <p:xfrm>
          <a:off x="1466992" y="2621469"/>
          <a:ext cx="7200900" cy="1854200"/>
        </p:xfrm>
        <a:graphic>
          <a:graphicData uri="http://schemas.openxmlformats.org/drawingml/2006/table">
            <a:tbl>
              <a:tblPr firstRow="1" bandRow="1">
                <a:tableStyleId>{1E5458E1-0376-4910-A6E8-49B6F46B1678}</a:tableStyleId>
              </a:tblPr>
              <a:tblGrid>
                <a:gridCol w="1200150"/>
                <a:gridCol w="1200150"/>
                <a:gridCol w="1200150"/>
                <a:gridCol w="1200150"/>
                <a:gridCol w="1200150"/>
                <a:gridCol w="1200150"/>
              </a:tblGrid>
              <a:tr h="370840">
                <a:tc>
                  <a:txBody>
                    <a:bodyPr/>
                    <a:lstStyle/>
                    <a:p>
                      <a:r>
                        <a:rPr lang="en-US" dirty="0" smtClean="0"/>
                        <a:t>user</a:t>
                      </a:r>
                      <a:endParaRPr lang="en-US" dirty="0"/>
                    </a:p>
                  </a:txBody>
                  <a:tcPr marL="108013" marR="108013"/>
                </a:tc>
                <a:tc>
                  <a:txBody>
                    <a:bodyPr/>
                    <a:lstStyle/>
                    <a:p>
                      <a:r>
                        <a:rPr lang="en-US" dirty="0" smtClean="0"/>
                        <a:t>Hotel1</a:t>
                      </a:r>
                      <a:endParaRPr lang="en-US" dirty="0"/>
                    </a:p>
                  </a:txBody>
                  <a:tcPr marL="108013" marR="108013"/>
                </a:tc>
                <a:tc>
                  <a:txBody>
                    <a:bodyPr/>
                    <a:lstStyle/>
                    <a:p>
                      <a:r>
                        <a:rPr lang="en-US" dirty="0" smtClean="0"/>
                        <a:t>hotel2</a:t>
                      </a:r>
                      <a:endParaRPr lang="en-US" dirty="0"/>
                    </a:p>
                  </a:txBody>
                  <a:tcPr marL="108013" marR="108013"/>
                </a:tc>
                <a:tc>
                  <a:txBody>
                    <a:bodyPr/>
                    <a:lstStyle/>
                    <a:p>
                      <a:r>
                        <a:rPr lang="en-US" dirty="0" smtClean="0"/>
                        <a:t>Hotel3 </a:t>
                      </a:r>
                      <a:endParaRPr lang="en-US" dirty="0"/>
                    </a:p>
                  </a:txBody>
                  <a:tcPr marL="108013" marR="108013"/>
                </a:tc>
                <a:tc>
                  <a:txBody>
                    <a:bodyPr/>
                    <a:lstStyle/>
                    <a:p>
                      <a:r>
                        <a:rPr lang="en-US" dirty="0" smtClean="0"/>
                        <a:t>Hotel4 </a:t>
                      </a:r>
                      <a:endParaRPr lang="en-US" dirty="0"/>
                    </a:p>
                  </a:txBody>
                  <a:tcPr marL="108013" marR="108013"/>
                </a:tc>
                <a:tc>
                  <a:txBody>
                    <a:bodyPr/>
                    <a:lstStyle/>
                    <a:p>
                      <a:r>
                        <a:rPr lang="en-US" dirty="0" smtClean="0"/>
                        <a:t>Hotel6</a:t>
                      </a:r>
                      <a:endParaRPr lang="en-US" dirty="0"/>
                    </a:p>
                  </a:txBody>
                  <a:tcPr marL="108013" marR="108013"/>
                </a:tc>
              </a:tr>
              <a:tr h="370840">
                <a:tc>
                  <a:txBody>
                    <a:bodyPr/>
                    <a:lstStyle/>
                    <a:p>
                      <a:r>
                        <a:rPr lang="en-US" dirty="0" smtClean="0"/>
                        <a:t>A</a:t>
                      </a:r>
                      <a:endParaRPr lang="en-US" dirty="0"/>
                    </a:p>
                  </a:txBody>
                  <a:tcPr marL="108013" marR="108013"/>
                </a:tc>
                <a:tc>
                  <a:txBody>
                    <a:bodyPr/>
                    <a:lstStyle/>
                    <a:p>
                      <a:r>
                        <a:rPr lang="en-US" dirty="0" smtClean="0"/>
                        <a:t>4</a:t>
                      </a:r>
                      <a:endParaRPr lang="en-US" dirty="0"/>
                    </a:p>
                  </a:txBody>
                  <a:tcPr marL="108013" marR="108013"/>
                </a:tc>
                <a:tc>
                  <a:txBody>
                    <a:bodyPr/>
                    <a:lstStyle/>
                    <a:p>
                      <a:r>
                        <a:rPr lang="en-US" dirty="0" smtClean="0"/>
                        <a:t>5</a:t>
                      </a:r>
                      <a:endParaRPr lang="en-US" dirty="0"/>
                    </a:p>
                  </a:txBody>
                  <a:tcPr marL="108013" marR="108013"/>
                </a:tc>
                <a:tc>
                  <a:txBody>
                    <a:bodyPr/>
                    <a:lstStyle/>
                    <a:p>
                      <a:r>
                        <a:rPr lang="en-US" dirty="0" smtClean="0"/>
                        <a:t>?</a:t>
                      </a:r>
                      <a:endParaRPr lang="en-US" dirty="0"/>
                    </a:p>
                  </a:txBody>
                  <a:tcPr marL="108013" marR="108013">
                    <a:solidFill>
                      <a:srgbClr val="FF0000"/>
                    </a:solidFill>
                  </a:tcPr>
                </a:tc>
                <a:tc>
                  <a:txBody>
                    <a:bodyPr/>
                    <a:lstStyle/>
                    <a:p>
                      <a:r>
                        <a:rPr lang="en-US" dirty="0" smtClean="0"/>
                        <a:t>?</a:t>
                      </a:r>
                      <a:endParaRPr lang="en-US" dirty="0"/>
                    </a:p>
                  </a:txBody>
                  <a:tcPr marL="108013" marR="108013">
                    <a:solidFill>
                      <a:srgbClr val="FF0000"/>
                    </a:solidFill>
                  </a:tcPr>
                </a:tc>
                <a:tc>
                  <a:txBody>
                    <a:bodyPr/>
                    <a:lstStyle/>
                    <a:p>
                      <a:r>
                        <a:rPr lang="en-US" dirty="0" smtClean="0"/>
                        <a:t>1</a:t>
                      </a:r>
                      <a:endParaRPr lang="en-US" dirty="0"/>
                    </a:p>
                  </a:txBody>
                  <a:tcPr marL="108013" marR="108013"/>
                </a:tc>
              </a:tr>
              <a:tr h="370840">
                <a:tc>
                  <a:txBody>
                    <a:bodyPr/>
                    <a:lstStyle/>
                    <a:p>
                      <a:r>
                        <a:rPr lang="en-US" dirty="0" smtClean="0"/>
                        <a:t>B</a:t>
                      </a:r>
                      <a:endParaRPr lang="en-US" dirty="0"/>
                    </a:p>
                  </a:txBody>
                  <a:tcPr marL="108013" marR="108013"/>
                </a:tc>
                <a:tc>
                  <a:txBody>
                    <a:bodyPr/>
                    <a:lstStyle/>
                    <a:p>
                      <a:r>
                        <a:rPr lang="en-US" dirty="0" smtClean="0"/>
                        <a:t>?</a:t>
                      </a:r>
                      <a:endParaRPr lang="en-US" dirty="0"/>
                    </a:p>
                  </a:txBody>
                  <a:tcPr marL="108013" marR="108013">
                    <a:solidFill>
                      <a:srgbClr val="FF0000"/>
                    </a:solidFill>
                  </a:tcPr>
                </a:tc>
                <a:tc>
                  <a:txBody>
                    <a:bodyPr/>
                    <a:lstStyle/>
                    <a:p>
                      <a:r>
                        <a:rPr lang="en-US" dirty="0" smtClean="0"/>
                        <a:t>5</a:t>
                      </a:r>
                      <a:endParaRPr lang="en-US" dirty="0"/>
                    </a:p>
                  </a:txBody>
                  <a:tcPr marL="108013" marR="108013"/>
                </a:tc>
                <a:tc>
                  <a:txBody>
                    <a:bodyPr/>
                    <a:lstStyle/>
                    <a:p>
                      <a:r>
                        <a:rPr lang="en-US" dirty="0" smtClean="0"/>
                        <a:t>4.5</a:t>
                      </a:r>
                      <a:endParaRPr lang="en-US" dirty="0"/>
                    </a:p>
                  </a:txBody>
                  <a:tcPr marL="108013" marR="108013"/>
                </a:tc>
                <a:tc>
                  <a:txBody>
                    <a:bodyPr/>
                    <a:lstStyle/>
                    <a:p>
                      <a:r>
                        <a:rPr lang="en-US" dirty="0" smtClean="0"/>
                        <a:t>?</a:t>
                      </a:r>
                      <a:endParaRPr lang="en-US" dirty="0"/>
                    </a:p>
                  </a:txBody>
                  <a:tcPr marL="108013" marR="108013">
                    <a:solidFill>
                      <a:srgbClr val="FF0000"/>
                    </a:solidFill>
                  </a:tcPr>
                </a:tc>
                <a:tc>
                  <a:txBody>
                    <a:bodyPr/>
                    <a:lstStyle/>
                    <a:p>
                      <a:r>
                        <a:rPr lang="en-US" dirty="0" smtClean="0"/>
                        <a:t>1</a:t>
                      </a:r>
                      <a:endParaRPr lang="en-US" dirty="0"/>
                    </a:p>
                  </a:txBody>
                  <a:tcPr marL="108013" marR="108013"/>
                </a:tc>
              </a:tr>
              <a:tr h="370840">
                <a:tc>
                  <a:txBody>
                    <a:bodyPr/>
                    <a:lstStyle/>
                    <a:p>
                      <a:r>
                        <a:rPr lang="en-US" dirty="0" smtClean="0"/>
                        <a:t>C</a:t>
                      </a:r>
                      <a:endParaRPr lang="en-US" dirty="0"/>
                    </a:p>
                  </a:txBody>
                  <a:tcPr marL="108013" marR="108013"/>
                </a:tc>
                <a:tc>
                  <a:txBody>
                    <a:bodyPr/>
                    <a:lstStyle/>
                    <a:p>
                      <a:r>
                        <a:rPr lang="en-US" dirty="0" smtClean="0"/>
                        <a:t>2</a:t>
                      </a:r>
                      <a:endParaRPr lang="en-US" dirty="0"/>
                    </a:p>
                  </a:txBody>
                  <a:tcPr marL="108013" marR="108013"/>
                </a:tc>
                <a:tc>
                  <a:txBody>
                    <a:bodyPr/>
                    <a:lstStyle/>
                    <a:p>
                      <a:r>
                        <a:rPr lang="en-US" dirty="0" smtClean="0"/>
                        <a:t>3</a:t>
                      </a:r>
                      <a:endParaRPr lang="en-US" dirty="0"/>
                    </a:p>
                  </a:txBody>
                  <a:tcPr marL="108013" marR="108013"/>
                </a:tc>
                <a:tc>
                  <a:txBody>
                    <a:bodyPr/>
                    <a:lstStyle/>
                    <a:p>
                      <a:r>
                        <a:rPr lang="en-US" dirty="0" smtClean="0"/>
                        <a:t>?</a:t>
                      </a:r>
                      <a:endParaRPr lang="en-US" dirty="0"/>
                    </a:p>
                  </a:txBody>
                  <a:tcPr marL="108013" marR="108013">
                    <a:solidFill>
                      <a:srgbClr val="FF0000"/>
                    </a:solidFill>
                  </a:tcPr>
                </a:tc>
                <a:tc>
                  <a:txBody>
                    <a:bodyPr/>
                    <a:lstStyle/>
                    <a:p>
                      <a:r>
                        <a:rPr lang="en-US" dirty="0" smtClean="0"/>
                        <a:t>5</a:t>
                      </a:r>
                      <a:endParaRPr lang="en-US" dirty="0"/>
                    </a:p>
                  </a:txBody>
                  <a:tcPr marL="108013" marR="108013"/>
                </a:tc>
                <a:tc>
                  <a:txBody>
                    <a:bodyPr/>
                    <a:lstStyle/>
                    <a:p>
                      <a:r>
                        <a:rPr lang="en-US" dirty="0" smtClean="0"/>
                        <a:t>4</a:t>
                      </a:r>
                      <a:endParaRPr lang="en-US" dirty="0"/>
                    </a:p>
                  </a:txBody>
                  <a:tcPr marL="108013" marR="108013"/>
                </a:tc>
              </a:tr>
              <a:tr h="370840">
                <a:tc>
                  <a:txBody>
                    <a:bodyPr/>
                    <a:lstStyle/>
                    <a:p>
                      <a:r>
                        <a:rPr lang="en-US" dirty="0" smtClean="0"/>
                        <a:t>D</a:t>
                      </a:r>
                      <a:endParaRPr lang="en-US" dirty="0"/>
                    </a:p>
                  </a:txBody>
                  <a:tcPr marL="108013" marR="108013"/>
                </a:tc>
                <a:tc>
                  <a:txBody>
                    <a:bodyPr/>
                    <a:lstStyle/>
                    <a:p>
                      <a:r>
                        <a:rPr lang="en-US" dirty="0" smtClean="0"/>
                        <a:t>1</a:t>
                      </a:r>
                      <a:endParaRPr lang="en-US" dirty="0"/>
                    </a:p>
                  </a:txBody>
                  <a:tcPr marL="108013" marR="108013"/>
                </a:tc>
                <a:tc>
                  <a:txBody>
                    <a:bodyPr/>
                    <a:lstStyle/>
                    <a:p>
                      <a:r>
                        <a:rPr lang="en-US" dirty="0" smtClean="0"/>
                        <a:t>?</a:t>
                      </a:r>
                      <a:endParaRPr lang="en-US" dirty="0"/>
                    </a:p>
                  </a:txBody>
                  <a:tcPr marL="108013" marR="108013">
                    <a:solidFill>
                      <a:srgbClr val="FF0000"/>
                    </a:solidFill>
                  </a:tcPr>
                </a:tc>
                <a:tc>
                  <a:txBody>
                    <a:bodyPr/>
                    <a:lstStyle/>
                    <a:p>
                      <a:r>
                        <a:rPr lang="en-US" dirty="0" smtClean="0"/>
                        <a:t>?</a:t>
                      </a:r>
                      <a:endParaRPr lang="en-US" dirty="0"/>
                    </a:p>
                  </a:txBody>
                  <a:tcPr marL="108013" marR="108013">
                    <a:solidFill>
                      <a:srgbClr val="FF0000"/>
                    </a:solidFill>
                  </a:tcPr>
                </a:tc>
                <a:tc>
                  <a:txBody>
                    <a:bodyPr/>
                    <a:lstStyle/>
                    <a:p>
                      <a:r>
                        <a:rPr lang="en-US" dirty="0" smtClean="0"/>
                        <a:t>?</a:t>
                      </a:r>
                      <a:endParaRPr lang="en-US" dirty="0"/>
                    </a:p>
                  </a:txBody>
                  <a:tcPr marL="108013" marR="108013"/>
                </a:tc>
                <a:tc>
                  <a:txBody>
                    <a:bodyPr/>
                    <a:lstStyle/>
                    <a:p>
                      <a:r>
                        <a:rPr lang="en-US" dirty="0" smtClean="0"/>
                        <a:t>5</a:t>
                      </a:r>
                      <a:endParaRPr lang="en-US" dirty="0"/>
                    </a:p>
                  </a:txBody>
                  <a:tcPr marL="108013" marR="108013"/>
                </a:tc>
              </a:tr>
            </a:tbl>
          </a:graphicData>
        </a:graphic>
      </p:graphicFrame>
    </p:spTree>
    <p:extLst>
      <p:ext uri="{BB962C8B-B14F-4D97-AF65-F5344CB8AC3E}">
        <p14:creationId xmlns:p14="http://schemas.microsoft.com/office/powerpoint/2010/main" xmlns="" val="13105558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835290-CBD5-40EE-919A-0EC0B0E8C805}"/>
              </a:ext>
            </a:extLst>
          </p:cNvPr>
          <p:cNvSpPr>
            <a:spLocks noGrp="1"/>
          </p:cNvSpPr>
          <p:nvPr>
            <p:ph type="title"/>
          </p:nvPr>
        </p:nvSpPr>
        <p:spPr/>
        <p:txBody>
          <a:bodyPr/>
          <a:lstStyle/>
          <a:p>
            <a:r>
              <a:rPr lang="en-US" dirty="0" smtClean="0"/>
              <a:t>Issue with Recommendation</a:t>
            </a:r>
            <a:endParaRPr lang="en-US" dirty="0"/>
          </a:p>
        </p:txBody>
      </p:sp>
      <p:sp>
        <p:nvSpPr>
          <p:cNvPr id="3" name="Date Placeholder 2">
            <a:extLst>
              <a:ext uri="{FF2B5EF4-FFF2-40B4-BE49-F238E27FC236}">
                <a16:creationId xmlns:a16="http://schemas.microsoft.com/office/drawing/2014/main" xmlns="" id="{740E6B47-6536-4CB7-8BFD-CE0EB5621B90}"/>
              </a:ext>
            </a:extLst>
          </p:cNvPr>
          <p:cNvSpPr>
            <a:spLocks noGrp="1"/>
          </p:cNvSpPr>
          <p:nvPr>
            <p:ph type="dt" sz="half" idx="10"/>
          </p:nvPr>
        </p:nvSpPr>
        <p:spPr/>
        <p:txBody>
          <a:bodyPr/>
          <a:lstStyle/>
          <a:p>
            <a:fld id="{B604B242-A112-40FA-B30F-F44D6727C9BE}" type="datetime1">
              <a:rPr lang="en-US" smtClean="0"/>
              <a:pPr/>
              <a:t>9/12/2022</a:t>
            </a:fld>
            <a:endParaRPr lang="en-US"/>
          </a:p>
        </p:txBody>
      </p:sp>
      <p:sp>
        <p:nvSpPr>
          <p:cNvPr id="4" name="Slide Number Placeholder 3">
            <a:extLst>
              <a:ext uri="{FF2B5EF4-FFF2-40B4-BE49-F238E27FC236}">
                <a16:creationId xmlns:a16="http://schemas.microsoft.com/office/drawing/2014/main" xmlns="" id="{42C90DEE-6B79-46E6-81AF-20AA25F0ADF0}"/>
              </a:ext>
            </a:extLst>
          </p:cNvPr>
          <p:cNvSpPr>
            <a:spLocks noGrp="1"/>
          </p:cNvSpPr>
          <p:nvPr>
            <p:ph type="sldNum" sz="quarter" idx="4"/>
          </p:nvPr>
        </p:nvSpPr>
        <p:spPr/>
        <p:txBody>
          <a:bodyPr/>
          <a:lstStyle/>
          <a:p>
            <a:r>
              <a:rPr lang="en-US"/>
              <a:t>Slide no. </a:t>
            </a:r>
            <a:fld id="{7240F3D1-AE27-48C7-9FC9-EF8542F23A88}" type="slidenum">
              <a:rPr lang="en-US" smtClean="0"/>
              <a:pPr/>
              <a:t>32</a:t>
            </a:fld>
            <a:endParaRPr lang="en-US" dirty="0"/>
          </a:p>
        </p:txBody>
      </p:sp>
      <p:sp>
        <p:nvSpPr>
          <p:cNvPr id="5" name="TextBox 4"/>
          <p:cNvSpPr txBox="1"/>
          <p:nvPr/>
        </p:nvSpPr>
        <p:spPr>
          <a:xfrm>
            <a:off x="0" y="1070044"/>
            <a:ext cx="7101314" cy="646331"/>
          </a:xfrm>
          <a:prstGeom prst="rect">
            <a:avLst/>
          </a:prstGeom>
          <a:noFill/>
        </p:spPr>
        <p:txBody>
          <a:bodyPr wrap="square" rtlCol="0">
            <a:spAutoFit/>
          </a:bodyPr>
          <a:lstStyle/>
          <a:p>
            <a:r>
              <a:rPr lang="en-US" dirty="0" smtClean="0"/>
              <a:t>Cold start</a:t>
            </a:r>
          </a:p>
          <a:p>
            <a:r>
              <a:rPr lang="en-US" dirty="0" smtClean="0"/>
              <a:t>Same scale </a:t>
            </a:r>
            <a:r>
              <a:rPr lang="en-IN" dirty="0" smtClean="0"/>
              <a:t>Judgment</a:t>
            </a:r>
            <a:endParaRPr lang="en-US" dirty="0"/>
          </a:p>
        </p:txBody>
      </p:sp>
    </p:spTree>
    <p:extLst>
      <p:ext uri="{BB962C8B-B14F-4D97-AF65-F5344CB8AC3E}">
        <p14:creationId xmlns:p14="http://schemas.microsoft.com/office/powerpoint/2010/main" xmlns="" val="11881324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Cold start</a:t>
            </a:r>
            <a:endParaRPr lang="en-US" dirty="0"/>
          </a:p>
        </p:txBody>
      </p:sp>
      <p:sp>
        <p:nvSpPr>
          <p:cNvPr id="3" name="Date Placeholder 2"/>
          <p:cNvSpPr>
            <a:spLocks noGrp="1"/>
          </p:cNvSpPr>
          <p:nvPr>
            <p:ph type="dt" sz="half" idx="10"/>
          </p:nvPr>
        </p:nvSpPr>
        <p:spPr/>
        <p:txBody>
          <a:bodyPr/>
          <a:lstStyle/>
          <a:p>
            <a:fld id="{B604B242-A112-40FA-B30F-F44D6727C9BE}" type="datetime1">
              <a:rPr lang="en-US" smtClean="0"/>
              <a:pPr/>
              <a:t>9/12/2022</a:t>
            </a:fld>
            <a:endParaRPr lang="en-US"/>
          </a:p>
        </p:txBody>
      </p:sp>
      <p:sp>
        <p:nvSpPr>
          <p:cNvPr id="4" name="Slide Number Placeholder 3"/>
          <p:cNvSpPr>
            <a:spLocks noGrp="1"/>
          </p:cNvSpPr>
          <p:nvPr>
            <p:ph type="sldNum" sz="quarter" idx="4"/>
          </p:nvPr>
        </p:nvSpPr>
        <p:spPr/>
        <p:txBody>
          <a:bodyPr/>
          <a:lstStyle/>
          <a:p>
            <a:r>
              <a:rPr lang="en-US" smtClean="0"/>
              <a:t>Slide no. </a:t>
            </a:r>
            <a:fld id="{7240F3D1-AE27-48C7-9FC9-EF8542F23A88}" type="slidenum">
              <a:rPr lang="en-US" smtClean="0"/>
              <a:pPr/>
              <a:t>33</a:t>
            </a:fld>
            <a:endParaRPr lang="en-US" dirty="0"/>
          </a:p>
        </p:txBody>
      </p:sp>
      <p:sp>
        <p:nvSpPr>
          <p:cNvPr id="5" name="TextBox 4"/>
          <p:cNvSpPr txBox="1"/>
          <p:nvPr/>
        </p:nvSpPr>
        <p:spPr>
          <a:xfrm>
            <a:off x="367706" y="1196503"/>
            <a:ext cx="7502760" cy="2585323"/>
          </a:xfrm>
          <a:prstGeom prst="rect">
            <a:avLst/>
          </a:prstGeom>
          <a:noFill/>
        </p:spPr>
        <p:txBody>
          <a:bodyPr wrap="none" rtlCol="0">
            <a:spAutoFit/>
          </a:bodyPr>
          <a:lstStyle/>
          <a:p>
            <a:r>
              <a:rPr lang="en-IN" dirty="0" smtClean="0"/>
              <a:t>Content based filtering constructs user profile before system can recommend.</a:t>
            </a:r>
          </a:p>
          <a:p>
            <a:endParaRPr lang="en-IN" dirty="0" smtClean="0"/>
          </a:p>
          <a:p>
            <a:r>
              <a:rPr lang="en-IN" dirty="0" smtClean="0"/>
              <a:t>Collaborative filtering needs like minded users for recommendation</a:t>
            </a:r>
          </a:p>
          <a:p>
            <a:endParaRPr lang="en-IN" dirty="0" smtClean="0"/>
          </a:p>
          <a:p>
            <a:r>
              <a:rPr lang="en-IN" dirty="0" smtClean="0"/>
              <a:t>Completely new profile or item</a:t>
            </a:r>
          </a:p>
          <a:p>
            <a:endParaRPr lang="en-IN" dirty="0" smtClean="0"/>
          </a:p>
          <a:p>
            <a:r>
              <a:rPr lang="en-IN" dirty="0" smtClean="0"/>
              <a:t>Can be tackled using hybrid recommendation.</a:t>
            </a:r>
          </a:p>
          <a:p>
            <a:endParaRPr lang="en-IN" dirty="0" smtClean="0"/>
          </a:p>
          <a:p>
            <a:r>
              <a:rPr lang="en-IN" dirty="0" smtClean="0"/>
              <a:t> </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Same scale judgement</a:t>
            </a:r>
            <a:endParaRPr lang="en-US" dirty="0"/>
          </a:p>
        </p:txBody>
      </p:sp>
      <p:sp>
        <p:nvSpPr>
          <p:cNvPr id="3" name="Date Placeholder 2"/>
          <p:cNvSpPr>
            <a:spLocks noGrp="1"/>
          </p:cNvSpPr>
          <p:nvPr>
            <p:ph type="dt" sz="half" idx="10"/>
          </p:nvPr>
        </p:nvSpPr>
        <p:spPr/>
        <p:txBody>
          <a:bodyPr/>
          <a:lstStyle/>
          <a:p>
            <a:fld id="{B604B242-A112-40FA-B30F-F44D6727C9BE}" type="datetime1">
              <a:rPr lang="en-US" smtClean="0"/>
              <a:pPr/>
              <a:t>9/12/2022</a:t>
            </a:fld>
            <a:endParaRPr lang="en-US"/>
          </a:p>
        </p:txBody>
      </p:sp>
      <p:sp>
        <p:nvSpPr>
          <p:cNvPr id="4" name="Slide Number Placeholder 3"/>
          <p:cNvSpPr>
            <a:spLocks noGrp="1"/>
          </p:cNvSpPr>
          <p:nvPr>
            <p:ph type="sldNum" sz="quarter" idx="4"/>
          </p:nvPr>
        </p:nvSpPr>
        <p:spPr/>
        <p:txBody>
          <a:bodyPr/>
          <a:lstStyle/>
          <a:p>
            <a:r>
              <a:rPr lang="en-US" smtClean="0"/>
              <a:t>Slide no. </a:t>
            </a:r>
            <a:fld id="{7240F3D1-AE27-48C7-9FC9-EF8542F23A88}" type="slidenum">
              <a:rPr lang="en-US" smtClean="0"/>
              <a:pPr/>
              <a:t>34</a:t>
            </a:fld>
            <a:endParaRPr lang="en-US" dirty="0"/>
          </a:p>
        </p:txBody>
      </p:sp>
      <p:sp>
        <p:nvSpPr>
          <p:cNvPr id="5" name="TextBox 4"/>
          <p:cNvSpPr txBox="1"/>
          <p:nvPr/>
        </p:nvSpPr>
        <p:spPr>
          <a:xfrm>
            <a:off x="160870" y="1060315"/>
            <a:ext cx="6871498" cy="923330"/>
          </a:xfrm>
          <a:prstGeom prst="rect">
            <a:avLst/>
          </a:prstGeom>
          <a:noFill/>
        </p:spPr>
        <p:txBody>
          <a:bodyPr wrap="square" rtlCol="0">
            <a:spAutoFit/>
          </a:bodyPr>
          <a:lstStyle/>
          <a:p>
            <a:r>
              <a:rPr lang="en-IN" dirty="0" smtClean="0"/>
              <a:t>A user rates all the items on a same scale</a:t>
            </a:r>
          </a:p>
          <a:p>
            <a:endParaRPr lang="en-IN" dirty="0" smtClean="0"/>
          </a:p>
          <a:p>
            <a:r>
              <a:rPr lang="en-IN" dirty="0" smtClean="0"/>
              <a:t>An item is rated on the </a:t>
            </a:r>
            <a:r>
              <a:rPr lang="en-IN" smtClean="0"/>
              <a:t>same scale by all users</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04B242-A112-40FA-B30F-F44D6727C9BE}" type="datetime1">
              <a:rPr lang="en-US" smtClean="0"/>
              <a:pPr/>
              <a:t>9/12/2022</a:t>
            </a:fld>
            <a:endParaRPr lang="en-US"/>
          </a:p>
        </p:txBody>
      </p:sp>
      <p:sp>
        <p:nvSpPr>
          <p:cNvPr id="4" name="Slide Number Placeholder 3"/>
          <p:cNvSpPr>
            <a:spLocks noGrp="1"/>
          </p:cNvSpPr>
          <p:nvPr>
            <p:ph type="sldNum" sz="quarter" idx="4"/>
          </p:nvPr>
        </p:nvSpPr>
        <p:spPr/>
        <p:txBody>
          <a:bodyPr/>
          <a:lstStyle/>
          <a:p>
            <a:r>
              <a:rPr lang="en-US" smtClean="0"/>
              <a:t>Slide no. </a:t>
            </a:r>
            <a:fld id="{7240F3D1-AE27-48C7-9FC9-EF8542F23A88}" type="slidenum">
              <a:rPr lang="en-US" smtClean="0"/>
              <a:pPr/>
              <a:t>35</a:t>
            </a:fld>
            <a:endParaRPr lang="en-US" dirty="0"/>
          </a:p>
        </p:txBody>
      </p:sp>
      <p:sp>
        <p:nvSpPr>
          <p:cNvPr id="5" name="Rectangle 4"/>
          <p:cNvSpPr/>
          <p:nvPr/>
        </p:nvSpPr>
        <p:spPr>
          <a:xfrm>
            <a:off x="2878509" y="2110085"/>
            <a:ext cx="3583418"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Thank you</a:t>
            </a:r>
            <a:endPar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Step by step approach</a:t>
            </a:r>
            <a:endParaRPr lang="en-US" dirty="0"/>
          </a:p>
        </p:txBody>
      </p:sp>
      <p:sp>
        <p:nvSpPr>
          <p:cNvPr id="3" name="Date Placeholder 2"/>
          <p:cNvSpPr>
            <a:spLocks noGrp="1"/>
          </p:cNvSpPr>
          <p:nvPr>
            <p:ph type="dt" sz="half" idx="10"/>
          </p:nvPr>
        </p:nvSpPr>
        <p:spPr/>
        <p:txBody>
          <a:bodyPr/>
          <a:lstStyle/>
          <a:p>
            <a:fld id="{B604B242-A112-40FA-B30F-F44D6727C9BE}" type="datetime1">
              <a:rPr lang="en-US" smtClean="0"/>
              <a:pPr/>
              <a:t>9/12/2022</a:t>
            </a:fld>
            <a:endParaRPr lang="en-US"/>
          </a:p>
        </p:txBody>
      </p:sp>
      <p:sp>
        <p:nvSpPr>
          <p:cNvPr id="4" name="Slide Number Placeholder 3"/>
          <p:cNvSpPr>
            <a:spLocks noGrp="1"/>
          </p:cNvSpPr>
          <p:nvPr>
            <p:ph type="sldNum" sz="quarter" idx="4"/>
          </p:nvPr>
        </p:nvSpPr>
        <p:spPr/>
        <p:txBody>
          <a:bodyPr/>
          <a:lstStyle/>
          <a:p>
            <a:r>
              <a:rPr lang="en-US" smtClean="0"/>
              <a:t>Slide no. </a:t>
            </a:r>
            <a:fld id="{7240F3D1-AE27-48C7-9FC9-EF8542F23A88}" type="slidenum">
              <a:rPr lang="en-US" smtClean="0"/>
              <a:pPr/>
              <a:t>36</a:t>
            </a:fld>
            <a:endParaRPr lang="en-US" dirty="0"/>
          </a:p>
        </p:txBody>
      </p:sp>
      <p:sp>
        <p:nvSpPr>
          <p:cNvPr id="5" name="TextBox 4"/>
          <p:cNvSpPr txBox="1"/>
          <p:nvPr/>
        </p:nvSpPr>
        <p:spPr>
          <a:xfrm>
            <a:off x="1" y="963039"/>
            <a:ext cx="5848816" cy="1200329"/>
          </a:xfrm>
          <a:prstGeom prst="rect">
            <a:avLst/>
          </a:prstGeom>
          <a:noFill/>
        </p:spPr>
        <p:txBody>
          <a:bodyPr wrap="square" rtlCol="0">
            <a:spAutoFit/>
          </a:bodyPr>
          <a:lstStyle/>
          <a:p>
            <a:r>
              <a:rPr lang="en-IN" dirty="0" smtClean="0"/>
              <a:t>Three types of data is required:</a:t>
            </a:r>
          </a:p>
          <a:p>
            <a:pPr marL="342900" indent="-342900">
              <a:buAutoNum type="arabicParenR"/>
            </a:pPr>
            <a:r>
              <a:rPr lang="en-IN" dirty="0" smtClean="0"/>
              <a:t>Ratings</a:t>
            </a:r>
          </a:p>
          <a:p>
            <a:pPr marL="342900" indent="-342900">
              <a:buAutoNum type="arabicParenR"/>
            </a:pPr>
            <a:r>
              <a:rPr lang="en-IN" dirty="0" smtClean="0"/>
              <a:t>Users</a:t>
            </a:r>
          </a:p>
          <a:p>
            <a:pPr marL="342900" indent="-342900">
              <a:buAutoNum type="arabicParenR"/>
            </a:pPr>
            <a:r>
              <a:rPr lang="en-IN" dirty="0" smtClean="0"/>
              <a:t>Item-features</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Date Placeholder 2"/>
          <p:cNvSpPr>
            <a:spLocks noGrp="1"/>
          </p:cNvSpPr>
          <p:nvPr>
            <p:ph type="dt" sz="half" idx="10"/>
          </p:nvPr>
        </p:nvSpPr>
        <p:spPr/>
        <p:txBody>
          <a:bodyPr/>
          <a:lstStyle/>
          <a:p>
            <a:fld id="{B604B242-A112-40FA-B30F-F44D6727C9BE}" type="datetime1">
              <a:rPr lang="en-US" smtClean="0"/>
              <a:pPr/>
              <a:t>9/12/2022</a:t>
            </a:fld>
            <a:endParaRPr lang="en-US"/>
          </a:p>
        </p:txBody>
      </p:sp>
      <p:sp>
        <p:nvSpPr>
          <p:cNvPr id="4" name="Slide Number Placeholder 3"/>
          <p:cNvSpPr>
            <a:spLocks noGrp="1"/>
          </p:cNvSpPr>
          <p:nvPr>
            <p:ph type="sldNum" sz="quarter" idx="4"/>
          </p:nvPr>
        </p:nvSpPr>
        <p:spPr/>
        <p:txBody>
          <a:bodyPr/>
          <a:lstStyle/>
          <a:p>
            <a:r>
              <a:rPr lang="en-US" smtClean="0"/>
              <a:t>Slide no. </a:t>
            </a:r>
            <a:fld id="{7240F3D1-AE27-48C7-9FC9-EF8542F23A88}" type="slidenum">
              <a:rPr lang="en-US" smtClean="0"/>
              <a:pPr/>
              <a:t>37</a:t>
            </a:fld>
            <a:endParaRPr lang="en-US" dirty="0"/>
          </a:p>
        </p:txBody>
      </p:sp>
      <p:sp>
        <p:nvSpPr>
          <p:cNvPr id="5" name="TextBox 4"/>
          <p:cNvSpPr txBox="1"/>
          <p:nvPr/>
        </p:nvSpPr>
        <p:spPr>
          <a:xfrm>
            <a:off x="413670" y="1167319"/>
            <a:ext cx="4886787" cy="369332"/>
          </a:xfrm>
          <a:prstGeom prst="rect">
            <a:avLst/>
          </a:prstGeom>
          <a:noFill/>
        </p:spPr>
        <p:txBody>
          <a:bodyPr wrap="none" rtlCol="0">
            <a:spAutoFit/>
          </a:bodyPr>
          <a:lstStyle/>
          <a:p>
            <a:r>
              <a:rPr lang="en-IN" dirty="0" smtClean="0"/>
              <a:t>NDCG:  Normalized Discounted Cumulative Gain</a:t>
            </a:r>
            <a:endParaRPr lang="en-US" dirty="0"/>
          </a:p>
        </p:txBody>
      </p:sp>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xmlns="" name="Parcel" id="{8BEC4385-4EB9-4D53-BFB5-0EA123736B6D}" vid="{4DB32801-28C0-48B0-8C1D-A9A58613615A}"/>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Mytheme</Template>
  <TotalTime>152473</TotalTime>
  <Words>2943</Words>
  <Application>Microsoft Office PowerPoint</Application>
  <PresentationFormat>Custom</PresentationFormat>
  <Paragraphs>614</Paragraphs>
  <Slides>37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Gill Sans MT</vt:lpstr>
      <vt:lpstr>Wingdings</vt:lpstr>
      <vt:lpstr>Calibri</vt:lpstr>
      <vt:lpstr>Parcel</vt:lpstr>
      <vt:lpstr>Recommendation System</vt:lpstr>
      <vt:lpstr>Market basket analysis</vt:lpstr>
      <vt:lpstr>Slide 3</vt:lpstr>
      <vt:lpstr>What is Market Basket Analysis</vt:lpstr>
      <vt:lpstr>Market Basket Analysis (MBA)</vt:lpstr>
      <vt:lpstr>Why Market Basket Analysis</vt:lpstr>
      <vt:lpstr>Some Definitions </vt:lpstr>
      <vt:lpstr>Apriori Algorithm       cont.</vt:lpstr>
      <vt:lpstr>Apriori Algorithm       cont.</vt:lpstr>
      <vt:lpstr>Apriori Algorithm       cont.</vt:lpstr>
      <vt:lpstr>Apriori Algorithm</vt:lpstr>
      <vt:lpstr>Example</vt:lpstr>
      <vt:lpstr>Slide 13</vt:lpstr>
      <vt:lpstr>2 item set</vt:lpstr>
      <vt:lpstr>3 item set</vt:lpstr>
      <vt:lpstr>Association rule Mining</vt:lpstr>
      <vt:lpstr>Association rule Mining – Subset Creation</vt:lpstr>
      <vt:lpstr>Association rule Mining – Subset Creation</vt:lpstr>
      <vt:lpstr>Applications of Association Rules</vt:lpstr>
      <vt:lpstr>Use Case - description</vt:lpstr>
      <vt:lpstr>Recommendation</vt:lpstr>
      <vt:lpstr>Types of Recommendation system</vt:lpstr>
      <vt:lpstr>Content based filtering</vt:lpstr>
      <vt:lpstr>Problem Statement</vt:lpstr>
      <vt:lpstr>Feature Matrix</vt:lpstr>
      <vt:lpstr>Customer Liking</vt:lpstr>
      <vt:lpstr>Create Feature vector</vt:lpstr>
      <vt:lpstr>Content Based Recommendation</vt:lpstr>
      <vt:lpstr>Pros and Cons</vt:lpstr>
      <vt:lpstr>Collaborative Filtering</vt:lpstr>
      <vt:lpstr>Collaborative Filter</vt:lpstr>
      <vt:lpstr>Issue with Recommendation</vt:lpstr>
      <vt:lpstr>Cold start</vt:lpstr>
      <vt:lpstr>Same scale judgement</vt:lpstr>
      <vt:lpstr>Slide 35</vt:lpstr>
      <vt:lpstr>Step by step approach</vt:lpstr>
      <vt:lpstr>Slide 37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Amrita</cp:lastModifiedBy>
  <cp:revision>2091</cp:revision>
  <cp:lastPrinted>2017-04-27T07:15:37Z</cp:lastPrinted>
  <dcterms:modified xsi:type="dcterms:W3CDTF">2022-09-12T05:19:55Z</dcterms:modified>
</cp:coreProperties>
</file>