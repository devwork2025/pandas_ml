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945675"/>
  <p:embeddedFontLst>
    <p:embeddedFont>
      <p:font typeface="Gill Sans"/>
      <p:regular r:id="rId74"/>
      <p:bold r:id="rId75"/>
    </p:embeddedFont>
    <p:embeddedFont>
      <p:font typeface="Open Sans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0" roundtripDataSignature="AMtx7mg7PrZSTdL1FS+6khy5mAzm5Sz/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F1352E-3CB4-4820-82A4-1065B7B883FC}">
  <a:tblStyle styleId="{7DF1352E-3CB4-4820-82A4-1065B7B883F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5E79CDD3-692F-4CFD-8B01-D4BF3579E9A2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65C79DF5-216B-46FA-A9F8-DA3FECE0BBE0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GillSans-bold.fntdata"/><Relationship Id="rId30" Type="http://schemas.openxmlformats.org/officeDocument/2006/relationships/slide" Target="slides/slide24.xml"/><Relationship Id="rId74" Type="http://schemas.openxmlformats.org/officeDocument/2006/relationships/font" Target="fonts/GillSans-regular.fntdata"/><Relationship Id="rId33" Type="http://schemas.openxmlformats.org/officeDocument/2006/relationships/slide" Target="slides/slide27.xml"/><Relationship Id="rId77" Type="http://schemas.openxmlformats.org/officeDocument/2006/relationships/font" Target="fonts/OpenSans-bold.fntdata"/><Relationship Id="rId32" Type="http://schemas.openxmlformats.org/officeDocument/2006/relationships/slide" Target="slides/slide26.xml"/><Relationship Id="rId76" Type="http://schemas.openxmlformats.org/officeDocument/2006/relationships/font" Target="fonts/OpenSans-regular.fntdata"/><Relationship Id="rId35" Type="http://schemas.openxmlformats.org/officeDocument/2006/relationships/slide" Target="slides/slide29.xml"/><Relationship Id="rId79" Type="http://schemas.openxmlformats.org/officeDocument/2006/relationships/font" Target="fonts/OpenSans-boldItalic.fntdata"/><Relationship Id="rId34" Type="http://schemas.openxmlformats.org/officeDocument/2006/relationships/slide" Target="slides/slide28.xml"/><Relationship Id="rId78" Type="http://schemas.openxmlformats.org/officeDocument/2006/relationships/font" Target="fonts/OpenSans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8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8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9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0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60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1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61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2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2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3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4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4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5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6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66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7:notes"/>
          <p:cNvSpPr txBox="1"/>
          <p:nvPr>
            <p:ph idx="1" type="body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7:notes"/>
          <p:cNvSpPr/>
          <p:nvPr>
            <p:ph idx="2" type="sldImg"/>
          </p:nvPr>
        </p:nvSpPr>
        <p:spPr>
          <a:xfrm>
            <a:off x="114300" y="746125"/>
            <a:ext cx="6629400" cy="37290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D8D5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69"/>
          <p:cNvSpPr txBox="1"/>
          <p:nvPr>
            <p:ph type="title"/>
          </p:nvPr>
        </p:nvSpPr>
        <p:spPr>
          <a:xfrm>
            <a:off x="603504" y="1682871"/>
            <a:ext cx="3364992" cy="8561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650"/>
              <a:buFont typeface="Gill Sans"/>
              <a:buNone/>
              <a:defRPr sz="1650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9"/>
          <p:cNvSpPr txBox="1"/>
          <p:nvPr>
            <p:ph idx="1" type="body"/>
          </p:nvPr>
        </p:nvSpPr>
        <p:spPr>
          <a:xfrm>
            <a:off x="4665518" y="748144"/>
            <a:ext cx="4405746" cy="4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9087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25"/>
              <a:buChar char="•"/>
              <a:defRPr sz="1425">
                <a:solidFill>
                  <a:schemeClr val="dk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5" name="Google Shape;15;p69"/>
          <p:cNvSpPr txBox="1"/>
          <p:nvPr>
            <p:ph idx="2" type="body"/>
          </p:nvPr>
        </p:nvSpPr>
        <p:spPr>
          <a:xfrm>
            <a:off x="836676" y="2662439"/>
            <a:ext cx="2846070" cy="164552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16" name="Google Shape;16;p6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9"/>
          <p:cNvSpPr txBox="1"/>
          <p:nvPr>
            <p:ph idx="11" type="ftr"/>
          </p:nvPr>
        </p:nvSpPr>
        <p:spPr>
          <a:xfrm>
            <a:off x="603504" y="4677156"/>
            <a:ext cx="384359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0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7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8D5D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1"/>
          <p:cNvSpPr txBox="1"/>
          <p:nvPr>
            <p:ph type="ctrTitle"/>
          </p:nvPr>
        </p:nvSpPr>
        <p:spPr>
          <a:xfrm>
            <a:off x="1200150" y="1790058"/>
            <a:ext cx="6743700" cy="123444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50"/>
              <a:buFont typeface="Gill Sans"/>
              <a:buNone/>
              <a:defRPr sz="2850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1"/>
          <p:cNvSpPr txBox="1"/>
          <p:nvPr>
            <p:ph idx="1" type="subTitle"/>
          </p:nvPr>
        </p:nvSpPr>
        <p:spPr>
          <a:xfrm>
            <a:off x="2021396" y="3264408"/>
            <a:ext cx="5101209" cy="929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002060"/>
                </a:solidFill>
              </a:defRPr>
            </a:lvl1pPr>
            <a:lvl2pPr lvl="1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" name="Google Shape;26;p7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8D5D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2"/>
          <p:cNvSpPr txBox="1"/>
          <p:nvPr>
            <p:ph type="title"/>
          </p:nvPr>
        </p:nvSpPr>
        <p:spPr>
          <a:xfrm>
            <a:off x="1200150" y="1790058"/>
            <a:ext cx="6743700" cy="123444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50"/>
              <a:buFont typeface="Gill Sans"/>
              <a:buNone/>
              <a:defRPr sz="2850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2"/>
          <p:cNvSpPr txBox="1"/>
          <p:nvPr>
            <p:ph idx="1" type="body"/>
          </p:nvPr>
        </p:nvSpPr>
        <p:spPr>
          <a:xfrm>
            <a:off x="2021396" y="3264349"/>
            <a:ext cx="5101209" cy="94881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7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3"/>
          <p:cNvSpPr txBox="1"/>
          <p:nvPr>
            <p:ph idx="1" type="body"/>
          </p:nvPr>
        </p:nvSpPr>
        <p:spPr>
          <a:xfrm>
            <a:off x="0" y="895800"/>
            <a:ext cx="4390264" cy="38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3"/>
          <p:cNvSpPr txBox="1"/>
          <p:nvPr>
            <p:ph idx="2" type="body"/>
          </p:nvPr>
        </p:nvSpPr>
        <p:spPr>
          <a:xfrm>
            <a:off x="4572000" y="895800"/>
            <a:ext cx="4572000" cy="3863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4"/>
          <p:cNvSpPr txBox="1"/>
          <p:nvPr>
            <p:ph idx="1" type="body"/>
          </p:nvPr>
        </p:nvSpPr>
        <p:spPr>
          <a:xfrm>
            <a:off x="-1" y="948936"/>
            <a:ext cx="4425891" cy="528065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25"/>
              <a:buNone/>
              <a:defRPr b="0" sz="1425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4"/>
          <p:cNvSpPr txBox="1"/>
          <p:nvPr>
            <p:ph idx="2" type="body"/>
          </p:nvPr>
        </p:nvSpPr>
        <p:spPr>
          <a:xfrm>
            <a:off x="-1" y="1534396"/>
            <a:ext cx="4425892" cy="3110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4"/>
          <p:cNvSpPr txBox="1"/>
          <p:nvPr>
            <p:ph idx="3" type="body"/>
          </p:nvPr>
        </p:nvSpPr>
        <p:spPr>
          <a:xfrm>
            <a:off x="4690354" y="1534396"/>
            <a:ext cx="4425891" cy="3110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048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4"/>
          <p:cNvSpPr txBox="1"/>
          <p:nvPr>
            <p:ph idx="4" type="body"/>
          </p:nvPr>
        </p:nvSpPr>
        <p:spPr>
          <a:xfrm>
            <a:off x="4690354" y="948936"/>
            <a:ext cx="4438464" cy="528065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25"/>
              <a:buNone/>
              <a:defRPr b="0" sz="1425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25"/>
              <a:buNone/>
              <a:defRPr b="1" sz="1425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7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  <a:defRPr b="0" i="0" sz="21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8"/>
          <p:cNvSpPr txBox="1"/>
          <p:nvPr>
            <p:ph idx="1" type="body"/>
          </p:nvPr>
        </p:nvSpPr>
        <p:spPr>
          <a:xfrm>
            <a:off x="0" y="891539"/>
            <a:ext cx="9144000" cy="3962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6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8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cxnSp>
        <p:nvCxnSpPr>
          <p:cNvPr id="9" name="Google Shape;9;p68"/>
          <p:cNvCxnSpPr/>
          <p:nvPr/>
        </p:nvCxnSpPr>
        <p:spPr>
          <a:xfrm>
            <a:off x="0" y="4824469"/>
            <a:ext cx="9144000" cy="2225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6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title"/>
          </p:nvPr>
        </p:nvSpPr>
        <p:spPr>
          <a:xfrm>
            <a:off x="603504" y="1682871"/>
            <a:ext cx="3364992" cy="8561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600"/>
              <a:buFont typeface="Gill Sans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54" name="Google Shape;54;p1"/>
          <p:cNvSpPr txBox="1"/>
          <p:nvPr>
            <p:ph idx="1" type="body"/>
          </p:nvPr>
        </p:nvSpPr>
        <p:spPr>
          <a:xfrm>
            <a:off x="4665518" y="748144"/>
            <a:ext cx="4405746" cy="4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What it is?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python implementation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 cases</a:t>
            </a:r>
            <a:endParaRPr/>
          </a:p>
        </p:txBody>
      </p:sp>
      <p:sp>
        <p:nvSpPr>
          <p:cNvPr id="55" name="Google Shape;55;p1"/>
          <p:cNvSpPr txBox="1"/>
          <p:nvPr>
            <p:ph idx="2" type="body"/>
          </p:nvPr>
        </p:nvSpPr>
        <p:spPr>
          <a:xfrm>
            <a:off x="836676" y="2662439"/>
            <a:ext cx="2846070" cy="164552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4467" y="2007645"/>
            <a:ext cx="4185197" cy="2575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WHAT IT IS </a:t>
            </a:r>
            <a:endParaRPr/>
          </a:p>
        </p:txBody>
      </p:sp>
      <p:sp>
        <p:nvSpPr>
          <p:cNvPr id="63" name="Google Shape;63;p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6545" y="1333550"/>
            <a:ext cx="5886998" cy="334817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Decision tree </a:t>
            </a:r>
            <a:r>
              <a:rPr lang="en-US" sz="1600"/>
              <a:t>is a natural process of conscious and subconscious interpretation of rules and taking actions.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Data Science, does the same !!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Is this real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that such simple algorithm can solve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complicated classification problem?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The answer is: </a:t>
            </a:r>
            <a:r>
              <a:rPr lang="en-US" sz="1600">
                <a:highlight>
                  <a:srgbClr val="FFFF00"/>
                </a:highlight>
              </a:rPr>
              <a:t>Yes</a:t>
            </a:r>
            <a:r>
              <a:rPr lang="en-US" sz="1600"/>
              <a:t>!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0" y="891539"/>
            <a:ext cx="4902926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Decision Trees </a:t>
            </a:r>
            <a:r>
              <a:rPr lang="en-US" sz="1600"/>
              <a:t>(DTs) are a </a:t>
            </a:r>
            <a:r>
              <a:rPr lang="en-US" sz="1600">
                <a:solidFill>
                  <a:srgbClr val="0070C0"/>
                </a:solidFill>
              </a:rPr>
              <a:t>non-parametric </a:t>
            </a:r>
            <a:r>
              <a:rPr lang="en-US" sz="1600"/>
              <a:t>supervised learning method used for </a:t>
            </a:r>
            <a:r>
              <a:rPr lang="en-US" sz="1600">
                <a:solidFill>
                  <a:srgbClr val="0070C0"/>
                </a:solidFill>
              </a:rPr>
              <a:t>classification</a:t>
            </a:r>
            <a:r>
              <a:rPr lang="en-US" sz="1600"/>
              <a:t> and </a:t>
            </a:r>
            <a:r>
              <a:rPr lang="en-US" sz="1600">
                <a:solidFill>
                  <a:srgbClr val="0070C0"/>
                </a:solidFill>
              </a:rPr>
              <a:t>regression</a:t>
            </a:r>
            <a:r>
              <a:rPr lang="en-US" sz="1600"/>
              <a:t>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goal is to create a model that predicts the value of a </a:t>
            </a:r>
            <a:r>
              <a:rPr lang="en-US" sz="1600">
                <a:solidFill>
                  <a:srgbClr val="0070C0"/>
                </a:solidFill>
              </a:rPr>
              <a:t>target</a:t>
            </a:r>
            <a:r>
              <a:rPr lang="en-US" sz="1600"/>
              <a:t> variable </a:t>
            </a:r>
            <a:r>
              <a:rPr lang="en-US" sz="1600">
                <a:highlight>
                  <a:srgbClr val="FFFF00"/>
                </a:highlight>
              </a:rPr>
              <a:t>by learning simple decision </a:t>
            </a:r>
            <a:r>
              <a:rPr lang="en-US" sz="1600"/>
              <a:t>rules inferred from the data features.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For instance, in the example below, decision trees learn from data to approximate a sine curve with a set of if-then-else decision rules.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</a:t>
            </a:r>
            <a:r>
              <a:rPr lang="en-US" sz="1600">
                <a:highlight>
                  <a:srgbClr val="FFFF00"/>
                </a:highlight>
              </a:rPr>
              <a:t>deeper</a:t>
            </a:r>
            <a:r>
              <a:rPr lang="en-US" sz="1600"/>
              <a:t> the tree, the more complex the decision rules and the </a:t>
            </a:r>
            <a:r>
              <a:rPr lang="en-US" sz="1600">
                <a:highlight>
                  <a:srgbClr val="FFFF00"/>
                </a:highlight>
              </a:rPr>
              <a:t>fitter</a:t>
            </a:r>
            <a:r>
              <a:rPr lang="en-US" sz="1600"/>
              <a:t> the model.</a:t>
            </a:r>
            <a:endParaRPr/>
          </a:p>
        </p:txBody>
      </p:sp>
      <p:sp>
        <p:nvSpPr>
          <p:cNvPr id="73" name="Google Shape;73;p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74" name="Google Shape;74;p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7700" y="984342"/>
            <a:ext cx="4233088" cy="317481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3466011" y="3622766"/>
            <a:ext cx="1645920" cy="28738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B376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TYPES OF DECISION TREES</a:t>
            </a:r>
            <a:endParaRPr/>
          </a:p>
        </p:txBody>
      </p:sp>
      <p:graphicFrame>
        <p:nvGraphicFramePr>
          <p:cNvPr id="82" name="Google Shape;82;p4"/>
          <p:cNvGraphicFramePr/>
          <p:nvPr/>
        </p:nvGraphicFramePr>
        <p:xfrm>
          <a:off x="0" y="930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{7DF1352E-3CB4-4820-82A4-1065B7B883FC}</a:tableStyleId>
              </a:tblPr>
              <a:tblGrid>
                <a:gridCol w="4572000"/>
                <a:gridCol w="4572000"/>
              </a:tblGrid>
              <a:tr h="34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/>
                        <a:t>Categorical  Variable Decision Tree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  Variable Decision Tree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decision tree </a:t>
                      </a:r>
                      <a:r>
                        <a:rPr lang="en-US" sz="1350"/>
                        <a:t>which has a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categorical</a:t>
                      </a:r>
                      <a:r>
                        <a:rPr lang="en-US" sz="1350"/>
                        <a:t>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target</a:t>
                      </a:r>
                      <a:r>
                        <a:rPr lang="en-US" sz="1350"/>
                        <a:t> variable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 decision tree which has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continuous target </a:t>
                      </a:r>
                      <a:r>
                        <a:rPr lang="en-US" sz="1350"/>
                        <a:t>variable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8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Example:-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Let’s say we have a problem to predict whether a bike is good or not. This can be judged by using a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decision tree classifier</a:t>
                      </a:r>
                      <a:r>
                        <a:rPr lang="en-US" sz="135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However, to qualify the bike into the good or bad category, </a:t>
                      </a:r>
                      <a:r>
                        <a:rPr lang="en-US" sz="1350">
                          <a:highlight>
                            <a:srgbClr val="FFFF00"/>
                          </a:highlight>
                        </a:rPr>
                        <a:t>mileage</a:t>
                      </a:r>
                      <a:r>
                        <a:rPr lang="en-US" sz="1350"/>
                        <a:t> becomes an important factor.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Mileage is measured using a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contiguous value </a:t>
                      </a:r>
                      <a:r>
                        <a:rPr lang="en-US" sz="1350"/>
                        <a:t>hence it can be measured using the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decision tree regressor</a:t>
                      </a:r>
                      <a:r>
                        <a:rPr lang="en-US" sz="135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" name="Google Shape;83;p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TERMS</a:t>
            </a:r>
            <a:endParaRPr/>
          </a:p>
        </p:txBody>
      </p:sp>
      <p:graphicFrame>
        <p:nvGraphicFramePr>
          <p:cNvPr id="90" name="Google Shape;90;p5"/>
          <p:cNvGraphicFramePr/>
          <p:nvPr/>
        </p:nvGraphicFramePr>
        <p:xfrm>
          <a:off x="0" y="892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{7DF1352E-3CB4-4820-82A4-1065B7B883FC}</a:tableStyleId>
              </a:tblPr>
              <a:tblGrid>
                <a:gridCol w="1985550"/>
                <a:gridCol w="5192475"/>
                <a:gridCol w="1965950"/>
              </a:tblGrid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Terms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54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Root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It represents the entire population or sample, and this further gets divided into two or more homogeneous sets.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Splitting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It is a process of dividing a node into two or more sub-nodes.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Decision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When a sub-node splits into further sub-nodes, then it is called a decision node.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Leaf/ Terminal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Nodes that do not split are called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350"/>
                        <a:t> or Terminal nodes.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Pruning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When we remove sub-nodes of a decision node, this process is called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pruning</a:t>
                      </a:r>
                      <a:r>
                        <a:rPr lang="en-US" sz="1350"/>
                        <a:t>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You can say the opposite process of </a:t>
                      </a: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splitting</a:t>
                      </a:r>
                      <a:r>
                        <a:rPr lang="en-US" sz="135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Branch / Sub-Tree: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 sub-section of entire tree is called a branch or sub-tree.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070C0"/>
                          </a:solidFill>
                        </a:rPr>
                        <a:t>Parent and Child Node: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 node, which is divided into sub-nodes is called the parent node of sub-nodes whereas sub-nodes are the children of a parent node.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1" name="Google Shape;91;p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710184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 CRITERIA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So how do we decide on which </a:t>
            </a:r>
            <a:r>
              <a:rPr lang="en-US" sz="1600">
                <a:solidFill>
                  <a:srgbClr val="0070C0"/>
                </a:solidFill>
              </a:rPr>
              <a:t>feature/column/dimension</a:t>
            </a:r>
            <a:r>
              <a:rPr lang="en-US" sz="1600"/>
              <a:t> to start with?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It is not done randomly !!! It is based on some </a:t>
            </a:r>
            <a:r>
              <a:rPr lang="en-US" sz="1450">
                <a:solidFill>
                  <a:srgbClr val="0070C0"/>
                </a:solidFill>
              </a:rPr>
              <a:t>considerations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Each time  a subset is created out of parent set, the </a:t>
            </a:r>
            <a:r>
              <a:rPr lang="en-US" sz="1450">
                <a:solidFill>
                  <a:srgbClr val="0070C0"/>
                </a:solidFill>
              </a:rPr>
              <a:t>considerations</a:t>
            </a:r>
            <a:r>
              <a:rPr lang="en-US" sz="1450"/>
              <a:t> are </a:t>
            </a:r>
            <a:r>
              <a:rPr lang="en-US" sz="1450">
                <a:highlight>
                  <a:srgbClr val="FFFF00"/>
                </a:highlight>
              </a:rPr>
              <a:t>repeated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highlight>
                  <a:srgbClr val="FFFF00"/>
                </a:highlight>
              </a:rPr>
              <a:t>Why? </a:t>
            </a:r>
            <a:r>
              <a:rPr lang="en-US" sz="1450"/>
              <a:t>Because the decision tree algorithm is a greedy one!</a:t>
            </a:r>
            <a:endParaRPr/>
          </a:p>
          <a:p>
            <a:pPr indent="-79375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None/>
            </a:pPr>
            <a:r>
              <a:t/>
            </a:r>
            <a:endParaRPr sz="145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Algorithms</a:t>
            </a:r>
            <a:r>
              <a:rPr lang="en-US" sz="1600"/>
              <a:t> behind the decision tree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solidFill>
                  <a:srgbClr val="0070C0"/>
                </a:solidFill>
              </a:rPr>
              <a:t>ID3</a:t>
            </a:r>
            <a:r>
              <a:rPr lang="en-US" sz="1450"/>
              <a:t> - uses </a:t>
            </a:r>
            <a:r>
              <a:rPr lang="en-US" sz="1450">
                <a:solidFill>
                  <a:srgbClr val="0070C0"/>
                </a:solidFill>
              </a:rPr>
              <a:t>Entropy</a:t>
            </a:r>
            <a:r>
              <a:rPr lang="en-US" sz="1450"/>
              <a:t> function and </a:t>
            </a:r>
            <a:r>
              <a:rPr lang="en-US" sz="1450">
                <a:solidFill>
                  <a:srgbClr val="0070C0"/>
                </a:solidFill>
              </a:rPr>
              <a:t>Information gain </a:t>
            </a:r>
            <a:r>
              <a:rPr lang="en-US" sz="1450"/>
              <a:t>as metrics..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C4.5 or C5.0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CART - uses </a:t>
            </a:r>
            <a:r>
              <a:rPr lang="en-US" sz="1450">
                <a:solidFill>
                  <a:srgbClr val="0070C0"/>
                </a:solidFill>
              </a:rPr>
              <a:t>Gini Index</a:t>
            </a:r>
            <a:r>
              <a:rPr lang="en-US" sz="1450"/>
              <a:t>(Classification) as metric.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CHAID: Chi-Square Automatic Interaction Detection</a:t>
            </a:r>
            <a:endParaRPr sz="1450"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MARs</a:t>
            </a:r>
            <a:endParaRPr/>
          </a:p>
        </p:txBody>
      </p:sp>
      <p:sp>
        <p:nvSpPr>
          <p:cNvPr id="99" name="Google Shape;99;p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TREE ALGORITHMS: ID3, C4.5, C5.0 AND CART</a:t>
            </a:r>
            <a:endParaRPr/>
          </a:p>
        </p:txBody>
      </p:sp>
      <p:graphicFrame>
        <p:nvGraphicFramePr>
          <p:cNvPr id="106" name="Google Shape;106;p7"/>
          <p:cNvGraphicFramePr/>
          <p:nvPr/>
        </p:nvGraphicFramePr>
        <p:xfrm>
          <a:off x="0" y="892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{5E79CDD3-692F-4CFD-8B01-D4BF3579E9A2}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ID3 (Iterative Dichotomiser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C4.5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C5.0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CART (Classification and Regression Trees)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Developed in 1986 by Ross Quinlan. </a:t>
                      </a:r>
                      <a:endParaRPr/>
                    </a:p>
                    <a:p>
                      <a:pPr indent="-2095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The algorithm creates a multiway tree, finding for each node the categorical feature that will yield the </a:t>
                      </a: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largest information gain </a:t>
                      </a:r>
                      <a:r>
                        <a:rPr lang="en-US" sz="1200"/>
                        <a:t>for categorical targets.</a:t>
                      </a:r>
                      <a:endParaRPr/>
                    </a:p>
                    <a:p>
                      <a:pPr indent="-2095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Trees are grown to their maximum size and then a pruning step is usually applied to improve the ability of the tree to generalize the unseen data.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is the successor to ID3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removed the restriction that features must be categorical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converts the trained trees (i.e. the output of the ID3 algorithm) into sets of if-then rules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Quinlan’s latest version release under a </a:t>
                      </a: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proprietary license</a:t>
                      </a:r>
                      <a:r>
                        <a:rPr lang="en-US" sz="1200"/>
                        <a:t>. 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It uses less memory and builds smaller rulesets than C4.5 while being </a:t>
                      </a: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more accurate</a:t>
                      </a:r>
                      <a:r>
                        <a:rPr lang="en-US" sz="120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is very similar to C4.5, but it differs in that it supports numerical target variables (regression) 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does not compute rule sets. 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/>
                        <a:t>CART constructs binary trees using the feature and threshold that yield the </a:t>
                      </a:r>
                      <a:r>
                        <a:rPr lang="en-US" sz="1200">
                          <a:highlight>
                            <a:srgbClr val="FFFF00"/>
                          </a:highlight>
                        </a:rPr>
                        <a:t>largest information gain</a:t>
                      </a:r>
                      <a:r>
                        <a:rPr lang="en-US" sz="1200"/>
                        <a:t> at each node.</a:t>
                      </a:r>
                      <a:endParaRPr/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i="1" lang="en-US" sz="1200"/>
                        <a:t>scikit-learn uses an optimized version of the CART algorithm.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7" name="Google Shape;107;p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08" name="Google Shape;108;p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(IMPURITY)</a:t>
            </a:r>
            <a:endParaRPr/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According to </a:t>
            </a:r>
            <a:r>
              <a:rPr lang="en-US" sz="1600">
                <a:solidFill>
                  <a:srgbClr val="0070C0"/>
                </a:solidFill>
              </a:rPr>
              <a:t>Wikipedia</a:t>
            </a:r>
            <a:r>
              <a:rPr lang="en-US" sz="1600"/>
              <a:t>, … </a:t>
            </a:r>
            <a:r>
              <a:rPr lang="en-US" sz="1600">
                <a:solidFill>
                  <a:srgbClr val="0070C0"/>
                </a:solidFill>
              </a:rPr>
              <a:t>Entropy</a:t>
            </a:r>
            <a:r>
              <a:rPr lang="en-US" sz="1600"/>
              <a:t> refers to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disorder or uncertainty</a:t>
            </a:r>
            <a:r>
              <a:rPr lang="en-US" sz="1600"/>
              <a:t>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Definition</a:t>
            </a:r>
            <a:r>
              <a:rPr lang="en-US" sz="1600"/>
              <a:t>:  </a:t>
            </a:r>
            <a:r>
              <a:rPr lang="en-US" sz="1600">
                <a:solidFill>
                  <a:srgbClr val="0070C0"/>
                </a:solidFill>
              </a:rPr>
              <a:t>Entropy</a:t>
            </a:r>
            <a:r>
              <a:rPr lang="en-US" sz="1600"/>
              <a:t> is the measures of impurity, disorder or uncertainty in a bunch of examples.</a:t>
            </a:r>
            <a:endParaRPr/>
          </a:p>
        </p:txBody>
      </p:sp>
      <p:sp>
        <p:nvSpPr>
          <p:cNvPr id="115" name="Google Shape;115;p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16" name="Google Shape;116;p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67640" y="2226421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Entropy = − ∑p</a:t>
            </a:r>
            <a:r>
              <a:rPr b="0" baseline="-2500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b="0" baseline="-2500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8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692140" y="2476500"/>
            <a:ext cx="3284220" cy="1196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62107" y="-68334"/>
                </a:lnTo>
              </a:path>
            </a:pathLst>
          </a:custGeom>
          <a:gradFill>
            <a:gsLst>
              <a:gs pos="0">
                <a:srgbClr val="FCBD82"/>
              </a:gs>
              <a:gs pos="100000">
                <a:srgbClr val="FDBB7B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There are 3 commonly used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impurity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measures used in binary decision trees: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Entropy,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Gini index,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 and Classification Error.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MATHEMATICAL INTUITION OF ENTROPY</a:t>
            </a:r>
            <a:endParaRPr/>
          </a:p>
        </p:txBody>
      </p:sp>
      <p:sp>
        <p:nvSpPr>
          <p:cNvPr id="124" name="Google Shape;124;p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" name="Google Shape;12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257" y="999167"/>
            <a:ext cx="4179860" cy="2488136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" name="Google Shape;127;p9"/>
          <p:cNvSpPr/>
          <p:nvPr/>
        </p:nvSpPr>
        <p:spPr>
          <a:xfrm>
            <a:off x="60959" y="3894466"/>
            <a:ext cx="892278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set is tidy if it contains only items with the same label and messy if it is a mix of items with different labels.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With no item with label 1 (p=0) or if the set is full of items with Label 1 (p=1), the entropy is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zero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LEAST MESSY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With half in Label 1, half in Label 2 (p=1/2), the entropy is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maximal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(equals to 1) ..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MOST MESSY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symmetric , among the two categories to classify, there not one which is messier than the other.</a:t>
            </a:r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8281" y="999167"/>
            <a:ext cx="3854314" cy="24926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9"/>
          <p:cNvSpPr/>
          <p:nvPr/>
        </p:nvSpPr>
        <p:spPr>
          <a:xfrm>
            <a:off x="5887210" y="935154"/>
            <a:ext cx="154229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minimal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value at equal class distribution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5416062" y="3477377"/>
            <a:ext cx="233875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minimal </a:t>
            </a: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value if only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 class left in S</a:t>
            </a:r>
            <a:endParaRPr/>
          </a:p>
        </p:txBody>
      </p:sp>
      <p:cxnSp>
        <p:nvCxnSpPr>
          <p:cNvPr id="131" name="Google Shape;131;p9"/>
          <p:cNvCxnSpPr/>
          <p:nvPr/>
        </p:nvCxnSpPr>
        <p:spPr>
          <a:xfrm rot="10800000">
            <a:off x="5169877" y="3462595"/>
            <a:ext cx="717333" cy="230226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9"/>
          <p:cNvCxnSpPr/>
          <p:nvPr/>
        </p:nvCxnSpPr>
        <p:spPr>
          <a:xfrm flipH="1" rot="10800000">
            <a:off x="7429501" y="3462566"/>
            <a:ext cx="764930" cy="22705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9"/>
          <p:cNvSpPr/>
          <p:nvPr/>
        </p:nvSpPr>
        <p:spPr>
          <a:xfrm rot="-2054403">
            <a:off x="2731773" y="878565"/>
            <a:ext cx="1928871" cy="1379764"/>
          </a:xfrm>
          <a:prstGeom prst="irregularSeal1">
            <a:avLst/>
          </a:prstGeom>
          <a:solidFill>
            <a:schemeClr val="accent1"/>
          </a:solidFill>
          <a:ln cap="flat" cmpd="sng" w="12700">
            <a:solidFill>
              <a:srgbClr val="B376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Refer entropy.xlsx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MEANING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Entropy = 0, This is </a:t>
            </a:r>
            <a:r>
              <a:rPr lang="en-US" sz="1600">
                <a:highlight>
                  <a:srgbClr val="FFFF00"/>
                </a:highlight>
              </a:rPr>
              <a:t>not a good set </a:t>
            </a:r>
            <a:r>
              <a:rPr lang="en-US" sz="1600"/>
              <a:t>for training.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Entropy = 1, This is a </a:t>
            </a:r>
            <a:r>
              <a:rPr lang="en-US" sz="1600">
                <a:highlight>
                  <a:srgbClr val="FFFF00"/>
                </a:highlight>
              </a:rPr>
              <a:t>good set </a:t>
            </a:r>
            <a:r>
              <a:rPr lang="en-US" sz="1600"/>
              <a:t>for training.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entropy is an </a:t>
            </a:r>
            <a:r>
              <a:rPr lang="en-US" sz="1600">
                <a:highlight>
                  <a:srgbClr val="FFFF00"/>
                </a:highlight>
              </a:rPr>
              <a:t>absolute measure </a:t>
            </a:r>
            <a:r>
              <a:rPr lang="en-US" sz="1600"/>
              <a:t>which provides a number between 0 and 1, </a:t>
            </a:r>
            <a:endParaRPr/>
          </a:p>
        </p:txBody>
      </p:sp>
      <p:sp>
        <p:nvSpPr>
          <p:cNvPr id="140" name="Google Shape;140;p1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EVOLUTION OF ENTROPY</a:t>
            </a:r>
            <a:endParaRPr/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 </a:t>
            </a:r>
            <a:r>
              <a:rPr lang="en-US" sz="1600">
                <a:solidFill>
                  <a:srgbClr val="0070C0"/>
                </a:solidFill>
              </a:rPr>
              <a:t>decision trees</a:t>
            </a:r>
            <a:r>
              <a:rPr lang="en-US" sz="1600"/>
              <a:t>, at each branching, the input set is split in 2.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Compare entropy before and after the split.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E.g. start with a </a:t>
            </a:r>
            <a:r>
              <a:rPr lang="en-US" sz="1600">
                <a:highlight>
                  <a:srgbClr val="FFFF00"/>
                </a:highlight>
              </a:rPr>
              <a:t>messy set </a:t>
            </a:r>
            <a:r>
              <a:rPr lang="en-US" sz="1600"/>
              <a:t>with entropy one (half/half,  p=q).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In the worst case</a:t>
            </a:r>
            <a:r>
              <a:rPr lang="en-US" sz="1600"/>
              <a:t>, it could be </a:t>
            </a:r>
            <a:r>
              <a:rPr lang="en-US" sz="1600">
                <a:highlight>
                  <a:srgbClr val="FFFF00"/>
                </a:highlight>
              </a:rPr>
              <a:t>split</a:t>
            </a:r>
            <a:r>
              <a:rPr lang="en-US" sz="1600"/>
              <a:t> into 2 messy sets where half of the items are labeled 1 and the other half have Label 2 in each set. Hence the entropy of each of the two resulting sets is 1.  In this scenario, the messiness has not changed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We can not sum the entropies of the two sets. 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solution, often used in mathematics, is to compute the </a:t>
            </a:r>
            <a:r>
              <a:rPr lang="en-US" sz="1600">
                <a:highlight>
                  <a:srgbClr val="FFFF00"/>
                </a:highlight>
              </a:rPr>
              <a:t>mean entropy </a:t>
            </a:r>
            <a:r>
              <a:rPr lang="en-US" sz="1600"/>
              <a:t>of the two sets. In this case, the mean is one.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However, in decision trees, a </a:t>
            </a:r>
            <a:r>
              <a:rPr lang="en-US" sz="1600">
                <a:highlight>
                  <a:srgbClr val="FFFF00"/>
                </a:highlight>
              </a:rPr>
              <a:t>weighted sum </a:t>
            </a:r>
            <a:r>
              <a:rPr lang="en-US" sz="1600"/>
              <a:t>of entropies is computed instead (weighted by the size of the two subsets)</a:t>
            </a:r>
            <a:endParaRPr/>
          </a:p>
        </p:txBody>
      </p:sp>
      <p:sp>
        <p:nvSpPr>
          <p:cNvPr id="148" name="Google Shape;148;p1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IT MEANS … </a:t>
            </a:r>
            <a:endParaRPr/>
          </a:p>
        </p:txBody>
      </p:sp>
      <p:sp>
        <p:nvSpPr>
          <p:cNvPr id="155" name="Google Shape;155;p1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56" name="Google Shape;156;p1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7" name="Google Shape;15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89" y="973872"/>
            <a:ext cx="4398311" cy="46804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/>
          <p:nvPr/>
        </p:nvSpPr>
        <p:spPr>
          <a:xfrm>
            <a:off x="129540" y="1585206"/>
            <a:ext cx="87782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aseline="-25000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and N</a:t>
            </a:r>
            <a:r>
              <a:rPr baseline="-25000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are the number of items of each sets after the split and E</a:t>
            </a:r>
            <a:r>
              <a:rPr baseline="-25000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and E</a:t>
            </a:r>
            <a:r>
              <a:rPr baseline="-25000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are their respective entropy.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gives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more importance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to the set which is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larger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GENERALIZATION</a:t>
            </a:r>
            <a:endParaRPr/>
          </a:p>
        </p:txBody>
      </p:sp>
      <p:pic>
        <p:nvPicPr>
          <p:cNvPr id="164" name="Google Shape;16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98" y="1733705"/>
            <a:ext cx="709612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66" name="Google Shape;166;p1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166098" y="989457"/>
            <a:ext cx="84064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you have more than 2 labels, you can generalize the Entropy formula as follows: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INFORMATION GAIN</a:t>
            </a:r>
            <a:endParaRPr/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1600"/>
              <a:t>Definition</a:t>
            </a:r>
            <a:r>
              <a:rPr lang="en-US" sz="1600"/>
              <a:t>: </a:t>
            </a:r>
            <a:r>
              <a:rPr lang="en-US" sz="1600">
                <a:solidFill>
                  <a:srgbClr val="0070C0"/>
                </a:solidFill>
              </a:rPr>
              <a:t>Information gain </a:t>
            </a:r>
            <a:r>
              <a:rPr lang="en-US" sz="1600"/>
              <a:t>(IG) measures how much “information” a feature gives us about the class.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Why it matters ?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Decision Trees algorithm will </a:t>
            </a:r>
            <a:r>
              <a:rPr lang="en-US" sz="1600" u="sng"/>
              <a:t>always</a:t>
            </a:r>
            <a:r>
              <a:rPr lang="en-US" sz="1600"/>
              <a:t> try to </a:t>
            </a:r>
            <a:r>
              <a:rPr lang="en-US" sz="1600">
                <a:highlight>
                  <a:srgbClr val="FFFF00"/>
                </a:highlight>
              </a:rPr>
              <a:t>maximize</a:t>
            </a:r>
            <a:r>
              <a:rPr lang="en-US" sz="1600"/>
              <a:t> </a:t>
            </a:r>
            <a:r>
              <a:rPr lang="en-US" sz="1600">
                <a:solidFill>
                  <a:srgbClr val="0070C0"/>
                </a:solidFill>
              </a:rPr>
              <a:t>Information gain</a:t>
            </a:r>
            <a:r>
              <a:rPr lang="en-US" sz="1600"/>
              <a:t>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An attribute with </a:t>
            </a:r>
            <a:r>
              <a:rPr lang="en-US" sz="1600">
                <a:highlight>
                  <a:srgbClr val="FFFF00"/>
                </a:highlight>
              </a:rPr>
              <a:t>highest Information gain will be tested/split first</a:t>
            </a:r>
            <a:r>
              <a:rPr lang="en-US" sz="1600"/>
              <a:t>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Information gain = entropy(parent) – [weighted average] * entropy(children)</a:t>
            </a:r>
            <a:endParaRPr/>
          </a:p>
        </p:txBody>
      </p:sp>
      <p:sp>
        <p:nvSpPr>
          <p:cNvPr id="174" name="Google Shape;174;p1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75" name="Google Shape;175;p1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USING IMPURITY (ENTROPY)</a:t>
            </a:r>
            <a:endParaRPr/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0" y="891539"/>
            <a:ext cx="3999609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STEP – 1</a:t>
            </a:r>
            <a:r>
              <a:rPr lang="en-US" sz="1600"/>
              <a:t> - Calculate entropy of the target. </a:t>
            </a:r>
            <a:endParaRPr sz="1600">
              <a:highlight>
                <a:srgbClr val="FFFF00"/>
              </a:highlight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current dataset </a:t>
            </a:r>
            <a:r>
              <a:rPr lang="en-US" sz="1600">
                <a:solidFill>
                  <a:srgbClr val="0070C0"/>
                </a:solidFill>
              </a:rPr>
              <a:t>S</a:t>
            </a:r>
            <a:r>
              <a:rPr lang="en-US" sz="1600"/>
              <a:t>. 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compute the </a:t>
            </a:r>
            <a:r>
              <a:rPr lang="en-US" sz="1600">
                <a:solidFill>
                  <a:srgbClr val="0070C0"/>
                </a:solidFill>
              </a:rPr>
              <a:t>Entropy H(S)</a:t>
            </a:r>
            <a:r>
              <a:rPr lang="en-US" sz="1600"/>
              <a:t> on </a:t>
            </a:r>
            <a:r>
              <a:rPr lang="en-US" sz="1600">
                <a:solidFill>
                  <a:srgbClr val="0070C0"/>
                </a:solidFill>
              </a:rPr>
              <a:t>S</a:t>
            </a:r>
            <a:r>
              <a:rPr lang="en-US" sz="1600"/>
              <a:t> as follows:</a:t>
            </a:r>
            <a:endParaRPr/>
          </a:p>
          <a:p>
            <a:pPr indent="0" lvl="1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where K is the number of classes, </a:t>
            </a:r>
            <a:endParaRPr/>
          </a:p>
          <a:p>
            <a:pPr indent="0" lvl="1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solidFill>
                  <a:srgbClr val="0070C0"/>
                </a:solidFill>
              </a:rPr>
              <a:t>p(y</a:t>
            </a:r>
            <a:r>
              <a:rPr baseline="-25000" lang="en-US" sz="1600">
                <a:solidFill>
                  <a:srgbClr val="0070C0"/>
                </a:solidFill>
              </a:rPr>
              <a:t>j</a:t>
            </a:r>
            <a:r>
              <a:rPr lang="en-US" sz="1600">
                <a:solidFill>
                  <a:srgbClr val="0070C0"/>
                </a:solidFill>
              </a:rPr>
              <a:t>) </a:t>
            </a:r>
            <a:r>
              <a:rPr lang="en-US" sz="1600"/>
              <a:t>is the proportion of number of </a:t>
            </a:r>
            <a:endParaRPr/>
          </a:p>
          <a:p>
            <a:pPr indent="0" lvl="1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elements of </a:t>
            </a:r>
            <a:r>
              <a:rPr lang="en-US" sz="1600">
                <a:solidFill>
                  <a:srgbClr val="0070C0"/>
                </a:solidFill>
              </a:rPr>
              <a:t>p(y</a:t>
            </a:r>
            <a:r>
              <a:rPr baseline="-25000" lang="en-US" sz="1600">
                <a:solidFill>
                  <a:srgbClr val="0070C0"/>
                </a:solidFill>
              </a:rPr>
              <a:t>j</a:t>
            </a:r>
            <a:r>
              <a:rPr lang="en-US" sz="1600">
                <a:solidFill>
                  <a:srgbClr val="0070C0"/>
                </a:solidFill>
              </a:rPr>
              <a:t>)</a:t>
            </a:r>
            <a:r>
              <a:rPr lang="en-US" sz="1600"/>
              <a:t> class to the number of entire elements in output of </a:t>
            </a:r>
            <a:r>
              <a:rPr lang="en-US" sz="1600">
                <a:solidFill>
                  <a:srgbClr val="0070C0"/>
                </a:solidFill>
              </a:rPr>
              <a:t>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H(S)</a:t>
            </a:r>
            <a:r>
              <a:rPr lang="en-US" sz="1600"/>
              <a:t> tell us how </a:t>
            </a:r>
            <a:r>
              <a:rPr lang="en-US" sz="1600">
                <a:highlight>
                  <a:srgbClr val="FFFF00"/>
                </a:highlight>
              </a:rPr>
              <a:t>uncertain</a:t>
            </a:r>
            <a:r>
              <a:rPr lang="en-US" sz="1600"/>
              <a:t> our dataset is. </a:t>
            </a:r>
            <a:endParaRPr/>
          </a:p>
          <a:p>
            <a:pPr indent="0" lvl="1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50"/>
              <a:buNone/>
            </a:pPr>
            <a:r>
              <a:rPr lang="en-US" sz="1450"/>
              <a:t>It ranges from 0 to 1, which 0 is the case when the output contains only one class (</a:t>
            </a:r>
            <a:r>
              <a:rPr lang="en-US" sz="1450">
                <a:solidFill>
                  <a:srgbClr val="0070C0"/>
                </a:solidFill>
              </a:rPr>
              <a:t>pure</a:t>
            </a:r>
            <a:r>
              <a:rPr lang="en-US" sz="1450"/>
              <a:t>), whereas 1 is the most uncertain case.</a:t>
            </a:r>
            <a:endParaRPr/>
          </a:p>
        </p:txBody>
      </p:sp>
      <p:sp>
        <p:nvSpPr>
          <p:cNvPr id="182" name="Google Shape;182;p1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83" name="Google Shape;183;p1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356" y="1052097"/>
            <a:ext cx="2705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5105" y="1914189"/>
            <a:ext cx="4599433" cy="11778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/>
          <p:nvPr/>
        </p:nvSpPr>
        <p:spPr>
          <a:xfrm>
            <a:off x="4127234" y="2734253"/>
            <a:ext cx="14158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H(S)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0 – pure set 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7434755" y="2742879"/>
            <a:ext cx="16821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H(S)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1 – most uncertain</a:t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7461848" y="3003148"/>
            <a:ext cx="16821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the proportion of each class is equal to others’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4382098" y="3663527"/>
            <a:ext cx="458535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the number of YES is equal to the number of NO on the considered subset, then it’s easy to see that there is a big chance that it can’t be fully classified (that’s why we call it the most uncertain case).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USING IMPURITY (ENTROPY)</a:t>
            </a:r>
            <a:endParaRPr/>
          </a:p>
        </p:txBody>
      </p:sp>
      <p:sp>
        <p:nvSpPr>
          <p:cNvPr id="195" name="Google Shape;195;p1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STEP – 2  </a:t>
            </a:r>
            <a:r>
              <a:rPr lang="en-US" sz="1600"/>
              <a:t>The dataset is then split on the different attributes. The </a:t>
            </a:r>
            <a:r>
              <a:rPr lang="en-US" sz="1600">
                <a:solidFill>
                  <a:srgbClr val="0070C0"/>
                </a:solidFill>
              </a:rPr>
              <a:t>entropy</a:t>
            </a:r>
            <a:r>
              <a:rPr lang="en-US" sz="1600"/>
              <a:t> for each branch is calculated. Then it is added proportionally, to get </a:t>
            </a:r>
            <a:r>
              <a:rPr lang="en-US" sz="1600">
                <a:solidFill>
                  <a:srgbClr val="0070C0"/>
                </a:solidFill>
              </a:rPr>
              <a:t>total entropy </a:t>
            </a:r>
            <a:r>
              <a:rPr lang="en-US" sz="1600"/>
              <a:t>for the split. The resulting entropy is </a:t>
            </a:r>
            <a:r>
              <a:rPr lang="en-US" sz="1600">
                <a:highlight>
                  <a:srgbClr val="FFFF00"/>
                </a:highlight>
              </a:rPr>
              <a:t>subtracted</a:t>
            </a:r>
            <a:r>
              <a:rPr lang="en-US" sz="1600"/>
              <a:t> from the entropy before the split. The result is the </a:t>
            </a:r>
            <a:r>
              <a:rPr lang="en-US" sz="1600">
                <a:solidFill>
                  <a:srgbClr val="0070C0"/>
                </a:solidFill>
              </a:rPr>
              <a:t>Information Gain,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or decrease </a:t>
            </a:r>
            <a:r>
              <a:rPr lang="en-US" sz="1600"/>
              <a:t>in entropy.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Information Gain </a:t>
            </a:r>
            <a:r>
              <a:rPr lang="en-US" sz="1600"/>
              <a:t>is computed separately on each </a:t>
            </a:r>
            <a:r>
              <a:rPr lang="en-US" sz="1600">
                <a:solidFill>
                  <a:srgbClr val="0070C0"/>
                </a:solidFill>
              </a:rPr>
              <a:t>feature</a:t>
            </a:r>
            <a:r>
              <a:rPr lang="en-US" sz="1600"/>
              <a:t> of the current dataset S,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value indicates how much the </a:t>
            </a:r>
            <a:r>
              <a:rPr lang="en-US" sz="1600">
                <a:solidFill>
                  <a:srgbClr val="0070C0"/>
                </a:solidFill>
              </a:rPr>
              <a:t>uncertainty</a:t>
            </a:r>
            <a:r>
              <a:rPr lang="en-US" sz="1600"/>
              <a:t> in S was reduced after </a:t>
            </a:r>
            <a:r>
              <a:rPr lang="en-US" sz="1600">
                <a:highlight>
                  <a:srgbClr val="FFFF00"/>
                </a:highlight>
              </a:rPr>
              <a:t>splitting S using feature A</a:t>
            </a:r>
            <a:r>
              <a:rPr lang="en-US" sz="1600"/>
              <a:t>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Lastly,  split the current dataset </a:t>
            </a:r>
            <a:r>
              <a:rPr lang="en-US" sz="1600">
                <a:solidFill>
                  <a:srgbClr val="0070C0"/>
                </a:solidFill>
              </a:rPr>
              <a:t>S</a:t>
            </a:r>
            <a:r>
              <a:rPr lang="en-US" sz="1600"/>
              <a:t> using the </a:t>
            </a:r>
            <a:r>
              <a:rPr lang="en-US" sz="1600">
                <a:highlight>
                  <a:srgbClr val="FFFF00"/>
                </a:highlight>
              </a:rPr>
              <a:t>feature which has the highest Information Gain</a:t>
            </a:r>
            <a:r>
              <a:rPr lang="en-US" sz="1600"/>
              <a:t>.</a:t>
            </a:r>
            <a:endParaRPr/>
          </a:p>
          <a:p>
            <a:pPr indent="0" lvl="1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8" name="Google Shape;1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4065" y="3970973"/>
            <a:ext cx="29622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USING IMPURITY (ENTROPY)</a:t>
            </a:r>
            <a:endParaRPr/>
          </a:p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STEP – 3</a:t>
            </a:r>
            <a:r>
              <a:rPr lang="en-US" sz="1600"/>
              <a:t>  Choose attribute with the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largest</a:t>
            </a:r>
            <a:r>
              <a:rPr lang="en-US" sz="1600">
                <a:solidFill>
                  <a:srgbClr val="0070C0"/>
                </a:solidFill>
              </a:rPr>
              <a:t> information gain </a:t>
            </a:r>
            <a:r>
              <a:rPr lang="en-US" sz="1600"/>
              <a:t>as the decision node, divide the dataset by its branches and repeat the same process on every branch.</a:t>
            </a:r>
            <a:endParaRPr/>
          </a:p>
        </p:txBody>
      </p:sp>
      <p:sp>
        <p:nvSpPr>
          <p:cNvPr id="205" name="Google Shape;205;p1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06" name="Google Shape;206;p1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DATASET</a:t>
            </a:r>
            <a:endParaRPr/>
          </a:p>
        </p:txBody>
      </p:sp>
      <p:graphicFrame>
        <p:nvGraphicFramePr>
          <p:cNvPr id="212" name="Google Shape;212;p18"/>
          <p:cNvGraphicFramePr/>
          <p:nvPr/>
        </p:nvGraphicFramePr>
        <p:xfrm>
          <a:off x="91440" y="1418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59525"/>
                <a:gridCol w="1145250"/>
                <a:gridCol w="940275"/>
                <a:gridCol w="793625"/>
                <a:gridCol w="750500"/>
                <a:gridCol w="668025"/>
              </a:tblGrid>
              <a:tr h="24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Weather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Temperature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Humidity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Injure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Mood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RUN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clear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&lt;10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&lt;70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slightly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shower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20~30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fit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stressed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YES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storm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10~20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fit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shower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10~20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slightly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stressed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YES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clear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70~80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fit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lazy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YES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storm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20~30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fit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stressed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clear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70~80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severe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clear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10~20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&lt;70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severe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stressed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shower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10~20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70~80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slightly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shower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fit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YES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storm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20~30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70~80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slightly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clear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10~20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&lt;70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slightly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happy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?</a:t>
                      </a:r>
                      <a:endParaRPr/>
                    </a:p>
                  </a:txBody>
                  <a:tcPr marT="44600" marB="44600" marR="89225" marL="89225" anchor="ctr">
                    <a:lnL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1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14" name="Google Shape;214;p1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248656" y="1796529"/>
            <a:ext cx="1803180" cy="2583201"/>
          </a:xfrm>
          <a:prstGeom prst="rightBrace">
            <a:avLst>
              <a:gd fmla="val 8333" name="adj1"/>
              <a:gd fmla="val 512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Training data</a:t>
            </a:r>
            <a:endParaRPr/>
          </a:p>
        </p:txBody>
      </p:sp>
      <p:cxnSp>
        <p:nvCxnSpPr>
          <p:cNvPr id="216" name="Google Shape;216;p18"/>
          <p:cNvCxnSpPr/>
          <p:nvPr/>
        </p:nvCxnSpPr>
        <p:spPr>
          <a:xfrm rot="10800000">
            <a:off x="5248656" y="4635534"/>
            <a:ext cx="180318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18"/>
          <p:cNvSpPr txBox="1"/>
          <p:nvPr/>
        </p:nvSpPr>
        <p:spPr>
          <a:xfrm>
            <a:off x="6371823" y="4376827"/>
            <a:ext cx="102412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Test data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 rot="-5400000">
            <a:off x="2120248" y="-1064116"/>
            <a:ext cx="496096" cy="440740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2000160" y="1110750"/>
            <a:ext cx="9975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features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565488" y="1292704"/>
            <a:ext cx="183046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Target/label/prediction</a:t>
            </a:r>
            <a:endParaRPr/>
          </a:p>
        </p:txBody>
      </p:sp>
      <p:cxnSp>
        <p:nvCxnSpPr>
          <p:cNvPr id="221" name="Google Shape;221;p18"/>
          <p:cNvCxnSpPr/>
          <p:nvPr/>
        </p:nvCxnSpPr>
        <p:spPr>
          <a:xfrm rot="10800000">
            <a:off x="5248656" y="1540667"/>
            <a:ext cx="180318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HOW THE ALGORITHM WORKS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104769" y="959818"/>
            <a:ext cx="8914137" cy="13950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weather</a:t>
            </a:r>
            <a:endParaRPr/>
          </a:p>
          <a:p>
            <a:pPr indent="-1143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clear</a:t>
            </a:r>
            <a:endParaRPr/>
          </a:p>
          <a:p>
            <a:pPr indent="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shower</a:t>
            </a:r>
            <a:endParaRPr/>
          </a:p>
          <a:p>
            <a:pPr indent="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storm</a:t>
            </a:r>
            <a:endParaRPr/>
          </a:p>
          <a:p>
            <a:pPr indent="0" lvl="2" marL="2286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1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29" name="Google Shape;229;p1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7" y="2373585"/>
            <a:ext cx="2848136" cy="60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2112" y="2397911"/>
            <a:ext cx="2848136" cy="60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5755" y="2397911"/>
            <a:ext cx="2783151" cy="57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7" y="3139396"/>
            <a:ext cx="2848136" cy="712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4034546"/>
            <a:ext cx="2861783" cy="63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7360" y="3174518"/>
            <a:ext cx="2882888" cy="72105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6171368" y="4352862"/>
            <a:ext cx="18304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Continues 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HOW DID IT WORK ON PREVIOUS DATASET</a:t>
            </a:r>
            <a:endParaRPr/>
          </a:p>
        </p:txBody>
      </p:sp>
      <p:pic>
        <p:nvPicPr>
          <p:cNvPr id="242" name="Google Shape;24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3560" y="1020704"/>
            <a:ext cx="5139988" cy="25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44" name="Google Shape;244;p2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0" y="891540"/>
            <a:ext cx="399592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H(S)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would be the entire original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Entropy H(S) 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-p(YES)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p(YES) – p(NO)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p(NO)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-(4/11)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(4/11) – (7/11)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(7/11)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0.9457</a:t>
            </a:r>
            <a:endParaRPr/>
          </a:p>
        </p:txBody>
      </p:sp>
      <p:pic>
        <p:nvPicPr>
          <p:cNvPr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2281" y="1198058"/>
            <a:ext cx="1982822" cy="585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HOW DID IT WORK ON PREVIOUS DATASET</a:t>
            </a:r>
            <a:endParaRPr/>
          </a:p>
        </p:txBody>
      </p:sp>
      <p:pic>
        <p:nvPicPr>
          <p:cNvPr id="252" name="Google Shape;252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096" y="1015874"/>
            <a:ext cx="3970236" cy="199681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-1" y="891540"/>
            <a:ext cx="4077285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Next, we will compute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Information Gain 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 each feature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weather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feature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 possible values: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clear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shower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storm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clear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	-    p(clear) = 4/11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YES  1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Gill Sans"/>
              <a:buChar char="-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Entropy H(clear)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-p(YES) log2p(YES) – p(NO) log2p(NO)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-(1/4)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(1/4) – (3/4)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0.8113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shower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	-    p(shower) = 4/11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YES  3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Gill Sans"/>
              <a:buChar char="-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Entropy H(Shower)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-p(YES) log2p(YES) – p(NO) log2p(NO)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-(3/4)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(3/4) – (1/4)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0.8113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151376" y="3017520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storm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	-    p(storm) = 3/11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YES  0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Gill Sans"/>
              <a:buChar char="-"/>
            </a:pP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Entropy H(storm)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-p(YES) log2p(YES) – p(NO) log2p(NO)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-(0/3)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(0/3) – (3/3) log</a:t>
            </a:r>
            <a:r>
              <a:rPr baseline="-25000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=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234794" y="1627631"/>
            <a:ext cx="3456194" cy="1509391"/>
          </a:xfrm>
          <a:prstGeom prst="bracketPair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34794" y="3137023"/>
            <a:ext cx="3456194" cy="1509391"/>
          </a:xfrm>
          <a:prstGeom prst="bracketPair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174096" y="3063043"/>
            <a:ext cx="3662312" cy="1509391"/>
          </a:xfrm>
          <a:prstGeom prst="bracketPair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– HOW DID IT WORK ON PREVIOUS DATASET</a:t>
            </a:r>
            <a:endParaRPr/>
          </a:p>
        </p:txBody>
      </p:sp>
      <p:sp>
        <p:nvSpPr>
          <p:cNvPr id="265" name="Google Shape;265;p2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113413" y="1548546"/>
            <a:ext cx="6973187" cy="781110"/>
          </a:xfrm>
          <a:prstGeom prst="bracketPair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6645" y="984454"/>
            <a:ext cx="64412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 now we can compute the Information Gain on the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Weather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feature as follow</a:t>
            </a:r>
            <a:endParaRPr/>
          </a:p>
        </p:txBody>
      </p:sp>
      <p:pic>
        <p:nvPicPr>
          <p:cNvPr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93" y="1617659"/>
            <a:ext cx="66198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/>
          <p:nvPr/>
        </p:nvSpPr>
        <p:spPr>
          <a:xfrm>
            <a:off x="-1" y="2398769"/>
            <a:ext cx="804348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Continue repeat this process with other features, you will likely end up with results like this: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IG (Weather, S)	= 0.3557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IG (Temperature, S)	= 0.1498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IG (Humidity, S)	= 0.2093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IG (Injure, S)		= 0.2093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IG (Mood, S)	= 0.2275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4669104" y="2816028"/>
            <a:ext cx="4337331" cy="10208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71801" y="23710"/>
                </a:lnTo>
              </a:path>
            </a:pathLst>
          </a:custGeom>
          <a:solidFill>
            <a:schemeClr val="accent1"/>
          </a:solidFill>
          <a:ln cap="flat" cmpd="sng" w="12700">
            <a:solidFill>
              <a:srgbClr val="B376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From the results above, IG on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Weather</a:t>
            </a: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has the highest value, so use </a:t>
            </a:r>
            <a:r>
              <a:rPr lang="en-US" sz="1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Weather</a:t>
            </a: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as a splitting condition will have the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highest chance </a:t>
            </a: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to reduce the uncertainty of dataset S, and may lead to a </a:t>
            </a:r>
            <a:r>
              <a:rPr b="1"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good classification </a:t>
            </a:r>
            <a:r>
              <a:rPr lang="en-US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 the end.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EXAMPLE - ENTROPY OF TARGET</a:t>
            </a:r>
            <a:endParaRPr/>
          </a:p>
        </p:txBody>
      </p:sp>
      <p:sp>
        <p:nvSpPr>
          <p:cNvPr id="277" name="Google Shape;277;p23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8 records with </a:t>
            </a:r>
            <a:r>
              <a:rPr lang="en-US" sz="1600">
                <a:solidFill>
                  <a:srgbClr val="0070C0"/>
                </a:solidFill>
              </a:rPr>
              <a:t>negative</a:t>
            </a:r>
            <a:r>
              <a:rPr lang="en-US" sz="1600"/>
              <a:t> class and 8 records with </a:t>
            </a:r>
            <a:r>
              <a:rPr lang="en-US" sz="1600">
                <a:solidFill>
                  <a:srgbClr val="0070C0"/>
                </a:solidFill>
              </a:rPr>
              <a:t>positive</a:t>
            </a:r>
            <a:r>
              <a:rPr lang="en-US" sz="1600"/>
              <a:t> class. So, we can directly estimate </a:t>
            </a:r>
            <a:r>
              <a:rPr lang="en-US" sz="1600">
                <a:highlight>
                  <a:srgbClr val="FFFF00"/>
                </a:highlight>
              </a:rPr>
              <a:t>the entropy of target </a:t>
            </a:r>
            <a:r>
              <a:rPr lang="en-US" sz="1600"/>
              <a:t>as 1.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IG for the entire data set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E(8, 8) = -1 * </a:t>
            </a:r>
            <a:r>
              <a:rPr lang="en-US" sz="1600">
                <a:solidFill>
                  <a:srgbClr val="FF0000"/>
                </a:solidFill>
              </a:rPr>
              <a:t>[ (</a:t>
            </a:r>
            <a:r>
              <a:rPr lang="en-US" sz="1600"/>
              <a:t> </a:t>
            </a:r>
            <a:r>
              <a:rPr lang="en-US" sz="1600">
                <a:solidFill>
                  <a:srgbClr val="0070C0"/>
                </a:solidFill>
              </a:rPr>
              <a:t>p(+ve)</a:t>
            </a:r>
            <a:r>
              <a:rPr lang="en-US" sz="1600"/>
              <a:t> * </a:t>
            </a:r>
            <a:r>
              <a:rPr lang="en-US" sz="1600">
                <a:solidFill>
                  <a:srgbClr val="0070C0"/>
                </a:solidFill>
              </a:rPr>
              <a:t>log( p(+ve) ) </a:t>
            </a:r>
            <a:r>
              <a:rPr lang="en-US" sz="1600">
                <a:solidFill>
                  <a:srgbClr val="FF0000"/>
                </a:solidFill>
              </a:rPr>
              <a:t>) </a:t>
            </a:r>
            <a:r>
              <a:rPr lang="en-US" sz="1600"/>
              <a:t>+  </a:t>
            </a:r>
            <a:r>
              <a:rPr lang="en-US" sz="1600">
                <a:solidFill>
                  <a:srgbClr val="FF0000"/>
                </a:solidFill>
              </a:rPr>
              <a:t>( </a:t>
            </a:r>
            <a:r>
              <a:rPr lang="en-US" sz="1600">
                <a:solidFill>
                  <a:srgbClr val="0070C0"/>
                </a:solidFill>
              </a:rPr>
              <a:t>p(-ve) </a:t>
            </a:r>
            <a:r>
              <a:rPr lang="en-US" sz="1600"/>
              <a:t>* </a:t>
            </a:r>
            <a:r>
              <a:rPr lang="en-US" sz="1600">
                <a:solidFill>
                  <a:srgbClr val="0070C0"/>
                </a:solidFill>
              </a:rPr>
              <a:t>log( p(-ve) ) </a:t>
            </a:r>
            <a:r>
              <a:rPr lang="en-US" sz="1600">
                <a:solidFill>
                  <a:srgbClr val="FF0000"/>
                </a:solidFill>
              </a:rPr>
              <a:t>) ]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          = -1 * </a:t>
            </a:r>
            <a:r>
              <a:rPr lang="en-US" sz="1600">
                <a:solidFill>
                  <a:srgbClr val="FF0000"/>
                </a:solidFill>
              </a:rPr>
              <a:t>[ ( </a:t>
            </a:r>
            <a:r>
              <a:rPr lang="en-US" sz="1600"/>
              <a:t>8/16) * log</a:t>
            </a:r>
            <a:r>
              <a:rPr baseline="-25000" lang="en-US" sz="1600"/>
              <a:t>2</a:t>
            </a:r>
            <a:r>
              <a:rPr lang="en-US" sz="1600"/>
              <a:t>(8/16 </a:t>
            </a:r>
            <a:r>
              <a:rPr lang="en-US" sz="1600">
                <a:solidFill>
                  <a:srgbClr val="0070C0"/>
                </a:solidFill>
              </a:rPr>
              <a:t>) ) </a:t>
            </a:r>
            <a:r>
              <a:rPr lang="en-US" sz="1600">
                <a:solidFill>
                  <a:srgbClr val="FF0000"/>
                </a:solidFill>
              </a:rPr>
              <a:t>)</a:t>
            </a:r>
            <a:r>
              <a:rPr lang="en-US" sz="1600"/>
              <a:t>    +  </a:t>
            </a:r>
            <a:r>
              <a:rPr lang="en-US" sz="1600">
                <a:solidFill>
                  <a:srgbClr val="FF0000"/>
                </a:solidFill>
              </a:rPr>
              <a:t>( </a:t>
            </a:r>
            <a:r>
              <a:rPr lang="en-US" sz="1600"/>
              <a:t>(8/16) * log</a:t>
            </a:r>
            <a:r>
              <a:rPr baseline="-25000" lang="en-US" sz="1600"/>
              <a:t>2</a:t>
            </a:r>
            <a:r>
              <a:rPr lang="en-US" sz="1600"/>
              <a:t>(8/16</a:t>
            </a:r>
            <a:r>
              <a:rPr lang="en-US" sz="1600">
                <a:solidFill>
                  <a:srgbClr val="0070C0"/>
                </a:solidFill>
              </a:rPr>
              <a:t>) ) </a:t>
            </a:r>
            <a:r>
              <a:rPr lang="en-US" sz="1600">
                <a:solidFill>
                  <a:srgbClr val="FF0000"/>
                </a:solidFill>
              </a:rPr>
              <a:t>) ]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          =  1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78" name="Google Shape;278;p2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79" name="Google Shape;279;p2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0" name="Google Shape;280;p23"/>
          <p:cNvGraphicFramePr/>
          <p:nvPr/>
        </p:nvGraphicFramePr>
        <p:xfrm>
          <a:off x="274828" y="1615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710750"/>
                <a:gridCol w="790100"/>
                <a:gridCol w="609225"/>
                <a:gridCol w="609225"/>
                <a:gridCol w="609225"/>
                <a:gridCol w="609225"/>
                <a:gridCol w="609225"/>
                <a:gridCol w="609225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Variable label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5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3.0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4.2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1.4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3.0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4.2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1.4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OF TARGET</a:t>
            </a:r>
            <a:endParaRPr/>
          </a:p>
        </p:txBody>
      </p:sp>
      <p:sp>
        <p:nvSpPr>
          <p:cNvPr id="286" name="Google Shape;286;p24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A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A has value &gt;=5 for 12 records out of 16 and 4 records with value &lt;5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&gt;= 5 &amp; class == positive: 5/12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&gt;= 5 &amp; class == negative: 7/12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Entropy(5, 7) = -1 * ( (5/12)*log2(5/12) + (7/12)*log2(7/12)) = 0.9799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&lt;5 &amp; class == positive: 3/4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&lt;5 &amp; class == negative: 1/4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Entropy(3, 1) =  -1 * ( (3/4)*log2(3/4) + (1/4)*log2(1/4)) = 0.81128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Entropy(Target, A) = P(&gt;=5) * E(5,7)   + P(&lt;5) * E(3,1)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                         = (12/16) * 0.9799 + (4/16) * 0.81128 = 0.937745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IG</a:t>
            </a:r>
            <a:r>
              <a:rPr lang="en-US"/>
              <a:t> = E(Target) – E(Target, A)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= 1 – 0.937745 = </a:t>
            </a:r>
            <a:r>
              <a:rPr lang="en-US">
                <a:highlight>
                  <a:srgbClr val="FFFF00"/>
                </a:highlight>
              </a:rPr>
              <a:t>0.062255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88" name="Google Shape;288;p2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OF TARGET</a:t>
            </a:r>
            <a:endParaRPr/>
          </a:p>
        </p:txBody>
      </p:sp>
      <p:sp>
        <p:nvSpPr>
          <p:cNvPr id="294" name="Google Shape;294;p25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B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B has value &gt;=3 for 12 records out of 16 and 4 records with value &lt;3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&gt;= 3 &amp; class == positive:  8/12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&gt;= 3 &amp; class == negative:  4/12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Entropy(8,  4) = -1 * ( (8/12)*log</a:t>
            </a:r>
            <a:r>
              <a:rPr baseline="-25000" lang="en-US"/>
              <a:t>2</a:t>
            </a:r>
            <a:r>
              <a:rPr lang="en-US"/>
              <a:t>(8/12) + (4/12)*log</a:t>
            </a:r>
            <a:r>
              <a:rPr baseline="-25000" lang="en-US"/>
              <a:t>2</a:t>
            </a:r>
            <a:r>
              <a:rPr lang="en-US"/>
              <a:t>(4/12)) = 0.39054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&lt;3 &amp; class == positive:  0/4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&lt;3 &amp; class == negative: 4/4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Entropy(0, 4) =  -1 * ( (0/4)*log</a:t>
            </a:r>
            <a:r>
              <a:rPr baseline="-25000" lang="en-US"/>
              <a:t>2</a:t>
            </a:r>
            <a:r>
              <a:rPr lang="en-US"/>
              <a:t>(3/4) + (4/4)*log</a:t>
            </a:r>
            <a:r>
              <a:rPr baseline="-25000" lang="en-US"/>
              <a:t>2</a:t>
            </a:r>
            <a:r>
              <a:rPr lang="en-US"/>
              <a:t>(4/4)) = 0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Entropy(Target, B) = P(&gt;=5) * E(5,7)   + P(&lt;5) * E(3,1)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                         = (12/16) * 0.39054 + (4/16) * 0 = 0.292905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IG</a:t>
            </a:r>
            <a:r>
              <a:rPr lang="en-US"/>
              <a:t> = E(Target) – E(Target, B)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= 1 – 0.292905 = </a:t>
            </a:r>
            <a:r>
              <a:rPr lang="en-US">
                <a:highlight>
                  <a:srgbClr val="FFFF00"/>
                </a:highlight>
              </a:rPr>
              <a:t>0.707095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296" name="Google Shape;296;p2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OF TARGET</a:t>
            </a:r>
            <a:endParaRPr/>
          </a:p>
        </p:txBody>
      </p:sp>
      <p:sp>
        <p:nvSpPr>
          <p:cNvPr id="302" name="Google Shape;302;p2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C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C has value &gt;= 4.2 for 6 records out of 16 and 10 records with value &lt; 4.2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C &gt;= 4.2 &amp; class == positive:  0/6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C &gt;= 4.2 &amp; class == negative:  6/6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Entropy(0,  6) = -1 * ( (0/6)*log</a:t>
            </a:r>
            <a:r>
              <a:rPr baseline="-25000" lang="en-US"/>
              <a:t>2</a:t>
            </a:r>
            <a:r>
              <a:rPr lang="en-US"/>
              <a:t>(0/6) + (6/6)*log</a:t>
            </a:r>
            <a:r>
              <a:rPr baseline="-25000" lang="en-US"/>
              <a:t>2</a:t>
            </a:r>
            <a:r>
              <a:rPr lang="en-US"/>
              <a:t>(6/6)) = 0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C &lt;4.2 &amp; class == positive:  8/10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C &lt;4.2 &amp; class == negative:  2/10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Entropy(8, 2) = 0.72193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Entropy(Target, C) = P(&gt;=4.2) * E(0, 6)   + P(&lt;4.2) * E(8, 2)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                         = (6/16) * 0 + (10/16) * 0.72193 = 0.4512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IG</a:t>
            </a:r>
            <a:r>
              <a:rPr lang="en-US"/>
              <a:t> = E(Target) – E(Target, C)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= 1 – 0.4512 = </a:t>
            </a:r>
            <a:r>
              <a:rPr lang="en-US">
                <a:highlight>
                  <a:srgbClr val="FFFF00"/>
                </a:highlight>
              </a:rPr>
              <a:t>0. 5488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04" name="Google Shape;304;p2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OF TARGET</a:t>
            </a:r>
            <a:endParaRPr/>
          </a:p>
        </p:txBody>
      </p:sp>
      <p:sp>
        <p:nvSpPr>
          <p:cNvPr id="310" name="Google Shape;310;p2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D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D has value &gt;= 1.4 for 5 records out of 16 and 11 records with value &lt; 1.4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D &gt;= 1.4 &amp; class == positive:  0/5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D &gt;= 1.4 &amp; class == negative:  5/5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Entropy(0,  5) =  0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D &lt; 1.4 &amp; class == positive:  8/11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D &lt; 1.4 &amp; class == negative:  3/11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Entropy(8, 3) = -1 * ( (8/11)*log2(8/11) + (3/11)*log2(3/11)) = 0.84532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Entropy(Target, D) = P(&gt;= 1.4) * E(0, 5)   + P(&lt; 1.4) * E(8, 3 )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                         = 5/16 * 0 + (11/16) * 0.84532 = 0.5811575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IG</a:t>
            </a:r>
            <a:r>
              <a:rPr lang="en-US"/>
              <a:t> = E(Target) – E(Target, D)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     = 1 – 0.5811575 = </a:t>
            </a:r>
            <a:r>
              <a:rPr lang="en-US">
                <a:highlight>
                  <a:srgbClr val="FFFF00"/>
                </a:highlight>
              </a:rPr>
              <a:t>0. 41189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1" name="Google Shape;311;p2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12" name="Google Shape;312;p2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</a:t>
            </a:r>
            <a:endParaRPr/>
          </a:p>
        </p:txBody>
      </p:sp>
      <p:graphicFrame>
        <p:nvGraphicFramePr>
          <p:cNvPr id="318" name="Google Shape;318;p28"/>
          <p:cNvGraphicFramePr/>
          <p:nvPr/>
        </p:nvGraphicFramePr>
        <p:xfrm>
          <a:off x="2523744" y="932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258600"/>
                <a:gridCol w="701275"/>
                <a:gridCol w="830075"/>
                <a:gridCol w="830075"/>
                <a:gridCol w="701275"/>
                <a:gridCol w="701275"/>
                <a:gridCol w="701275"/>
                <a:gridCol w="901625"/>
                <a:gridCol w="901625"/>
              </a:tblGrid>
              <a:tr h="24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0" marB="9525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0" marB="95250" marR="9525" marL="9525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5.0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3.0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&lt;5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3.0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Gain of A = 0.062255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Gain of B= 0.7070795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hMerge="1"/>
                <a:tc hMerge="1"/>
              </a:tr>
              <a:tr h="11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0" marB="95250" marR="9525" marL="9525" anchor="b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 4.2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1.4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 4.2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1.4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Gain of C= 0.5488</a:t>
                      </a:r>
                      <a:endParaRPr/>
                    </a:p>
                  </a:txBody>
                  <a:tcPr marT="95250" marB="9525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Information Gain of D= 0.41189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319" name="Google Shape;319;p2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20" name="Google Shape;320;p2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93170" y="932510"/>
            <a:ext cx="2357422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build a decision tree.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place the attributes on the tree according to their values.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Attribute with better value than other should position as root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branch with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entropy 0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should be converted to a </a:t>
            </a:r>
            <a:r>
              <a:rPr lang="en-US" sz="14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leaf</a:t>
            </a: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node.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branch with entropy more than 0 needs further splitting.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AND THE TREE …</a:t>
            </a:r>
            <a:endParaRPr/>
          </a:p>
        </p:txBody>
      </p:sp>
      <p:pic>
        <p:nvPicPr>
          <p:cNvPr id="327" name="Google Shape;327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052" y="947863"/>
            <a:ext cx="7299733" cy="371524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29" name="Google Shape;329;p2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SHORTCOMINGS OF THE ENTROPY MEASURE</a:t>
            </a:r>
            <a:endParaRPr/>
          </a:p>
        </p:txBody>
      </p:sp>
      <p:sp>
        <p:nvSpPr>
          <p:cNvPr id="335" name="Google Shape;335;p30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information gain measure is </a:t>
            </a:r>
            <a:r>
              <a:rPr lang="en-US" sz="1600">
                <a:highlight>
                  <a:srgbClr val="FFFF00"/>
                </a:highlight>
              </a:rPr>
              <a:t>biased towards the attributes that have more number of unique values</a:t>
            </a:r>
            <a:endParaRPr sz="1600">
              <a:highlight>
                <a:srgbClr val="FFFF00"/>
              </a:highlight>
            </a:endParaRPr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Problem</a:t>
            </a:r>
            <a:r>
              <a:rPr lang="en-US" sz="1600"/>
              <a:t>: If an attribute has a large number of values probably the resulting tree will be larger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</a:t>
            </a:r>
            <a:r>
              <a:rPr b="1" lang="en-US" sz="1600"/>
              <a:t>reason</a:t>
            </a:r>
            <a:r>
              <a:rPr lang="en-US" sz="1600"/>
              <a:t> for that bias resides in the </a:t>
            </a:r>
            <a:r>
              <a:rPr lang="en-US" sz="1600">
                <a:highlight>
                  <a:srgbClr val="FFFF00"/>
                </a:highlight>
              </a:rPr>
              <a:t>weight</a:t>
            </a:r>
            <a:r>
              <a:rPr lang="en-US" sz="1600"/>
              <a:t> given to the values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336" name="Google Shape;336;p3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37" name="Google Shape;337;p3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GINI INDEX</a:t>
            </a:r>
            <a:endParaRPr/>
          </a:p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Gini Index is a metric to measure how often a randomly chosen element would be incorrectly identified.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It means an attribute with </a:t>
            </a:r>
            <a:r>
              <a:rPr lang="en-US" sz="1600">
                <a:highlight>
                  <a:srgbClr val="FFFF00"/>
                </a:highlight>
              </a:rPr>
              <a:t>lower gini index </a:t>
            </a:r>
            <a:r>
              <a:rPr lang="en-US" sz="1600"/>
              <a:t>should be preferred.</a:t>
            </a:r>
            <a:endParaRPr/>
          </a:p>
        </p:txBody>
      </p:sp>
      <p:sp>
        <p:nvSpPr>
          <p:cNvPr id="344" name="Google Shape;344;p3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45" name="Google Shape;345;p3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6" name="Google Shape;3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19287"/>
            <a:ext cx="32956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015" y="1153568"/>
            <a:ext cx="5346410" cy="343837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53" name="Google Shape;353;p3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3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INTUITION</a:t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60859" y="891540"/>
            <a:ext cx="357915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According to scikit-learn documentation, </a:t>
            </a:r>
            <a:r>
              <a:rPr lang="en-US" sz="16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gini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plays the same role as </a:t>
            </a:r>
            <a:r>
              <a:rPr lang="en-US" sz="16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entropy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As we can see, there is not much differences.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GINI INDEX</a:t>
            </a:r>
            <a:endParaRPr/>
          </a:p>
        </p:txBody>
      </p:sp>
      <p:sp>
        <p:nvSpPr>
          <p:cNvPr id="361" name="Google Shape;361;p3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33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A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A has value &gt;=5 for 12 records out of 16 and 4 records with value &lt;5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&gt;= 5 &amp; class == positive: 5/12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&gt;= 5 &amp; class == negative: 7/12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gini(5, 7) = 1- ( (5/12)^2 + (7/12)^2 ) = 0.4860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&lt;5 &amp; class == positive: 3/4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A &lt;5 &amp; class == negative: 1/4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gini(3,1) = 1- ( (3/4)^2 + (1/4)^2 ) = 0.375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By adding weight and sum each of the gini indices: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gini(Target, A) =  (12/16) * 0.4860 + (4/16) * 0.375 = 0.45825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GINI INDEX</a:t>
            </a:r>
            <a:endParaRPr/>
          </a:p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For the variable </a:t>
            </a:r>
            <a:r>
              <a:rPr lang="en-US">
                <a:solidFill>
                  <a:srgbClr val="0070C0"/>
                </a:solidFill>
                <a:highlight>
                  <a:srgbClr val="FFFF00"/>
                </a:highlight>
              </a:rPr>
              <a:t>B</a:t>
            </a:r>
            <a:r>
              <a:rPr lang="en-US"/>
              <a:t>,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var B has value &gt;=3 for 12 records out of 16 and 4 records with value &lt;3 value.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&gt;= 3 &amp; class == positive:  8/12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&gt;= 3 &amp; class == negative:  4/12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gini(8,4) = 1- ( (8/12)2 + (4/12)2 ) = 0.446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&lt;3 &amp; class == positive:  0/4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For Var B &lt;3 &amp; class == negative: 4/4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gin(0,4) = 1- ( (0/4)2 + (4/4)2 ) = 0</a:t>
            </a:r>
            <a:endParaRPr/>
          </a:p>
          <a:p>
            <a:pPr indent="-952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By adding weight and sum each of the gini indices: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gini(Target, B) =  (12/16) * 0.446 + (4/16) * 0 = </a:t>
            </a:r>
            <a:r>
              <a:rPr lang="en-US">
                <a:highlight>
                  <a:srgbClr val="FFFF00"/>
                </a:highlight>
              </a:rPr>
              <a:t>0.3345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71" name="Google Shape;371;p3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</a:t>
            </a:r>
            <a:endParaRPr/>
          </a:p>
        </p:txBody>
      </p:sp>
      <p:graphicFrame>
        <p:nvGraphicFramePr>
          <p:cNvPr id="377" name="Google Shape;377;p35"/>
          <p:cNvGraphicFramePr/>
          <p:nvPr/>
        </p:nvGraphicFramePr>
        <p:xfrm>
          <a:off x="2582265" y="941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631500"/>
                <a:gridCol w="631500"/>
                <a:gridCol w="747500"/>
                <a:gridCol w="747500"/>
                <a:gridCol w="631500"/>
                <a:gridCol w="631500"/>
                <a:gridCol w="631500"/>
                <a:gridCol w="811950"/>
                <a:gridCol w="811950"/>
              </a:tblGrid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8550" marB="0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8550" marB="0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7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5.0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3.0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&lt;5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3.0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7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Gini Index of X1 = 0.45825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Gini Index of X2= 0.3345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7040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8550" marB="0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75" marB="85575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</a:t>
                      </a:r>
                      <a:endParaRPr/>
                    </a:p>
                  </a:txBody>
                  <a:tcPr marT="8550" marB="0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  <a:tr h="3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7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 4.2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 1.4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 4.2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1.4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70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Gini Index of X3= 0.2</a:t>
                      </a:r>
                      <a:endParaRPr/>
                    </a:p>
                  </a:txBody>
                  <a:tcPr marT="85575" marB="85575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20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50" marB="0" marR="8550" marL="85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Gini Index of X4= 0.273</a:t>
                      </a:r>
                      <a:endParaRPr/>
                    </a:p>
                  </a:txBody>
                  <a:tcPr marT="8550" marB="0" marR="8550" marL="85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378" name="Google Shape;378;p3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79" name="Google Shape;379;p3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 BOUNDARIES</a:t>
            </a:r>
            <a:endParaRPr/>
          </a:p>
        </p:txBody>
      </p:sp>
      <p:sp>
        <p:nvSpPr>
          <p:cNvPr id="385" name="Google Shape;385;p3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86" name="Google Shape;386;p3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7" name="Google Shape;387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832" y="1361515"/>
            <a:ext cx="2092429" cy="301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8994" y="1269373"/>
            <a:ext cx="3597174" cy="300594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6"/>
          <p:cNvSpPr/>
          <p:nvPr/>
        </p:nvSpPr>
        <p:spPr>
          <a:xfrm>
            <a:off x="5525104" y="1432343"/>
            <a:ext cx="39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X2 </a:t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8448283" y="4013706"/>
            <a:ext cx="3545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X1</a:t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2394240" y="2132951"/>
            <a:ext cx="306592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Decision Trees divide the input space into axis-parallel rectangles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label each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rectangle</a:t>
            </a:r>
            <a:r>
              <a:rPr lang="en-U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with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one of the K classes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ENTROPY VS GINI</a:t>
            </a:r>
            <a:endParaRPr/>
          </a:p>
        </p:txBody>
      </p:sp>
      <p:sp>
        <p:nvSpPr>
          <p:cNvPr id="397" name="Google Shape;397;p3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Gini</a:t>
            </a:r>
            <a:r>
              <a:rPr lang="en-US" sz="1600"/>
              <a:t> is intended for </a:t>
            </a:r>
            <a:r>
              <a:rPr lang="en-US" sz="1600">
                <a:solidFill>
                  <a:srgbClr val="0070C0"/>
                </a:solidFill>
              </a:rPr>
              <a:t>continuous attributes</a:t>
            </a:r>
            <a:r>
              <a:rPr lang="en-US" sz="1600"/>
              <a:t>,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Entropy</a:t>
            </a:r>
            <a:r>
              <a:rPr lang="en-US" sz="1600"/>
              <a:t> for attributes that occur in </a:t>
            </a:r>
            <a:r>
              <a:rPr lang="en-US" sz="1600">
                <a:solidFill>
                  <a:srgbClr val="0070C0"/>
                </a:solidFill>
              </a:rPr>
              <a:t>classes</a:t>
            </a:r>
            <a:r>
              <a:rPr lang="en-US" sz="1600"/>
              <a:t>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Entropy may be a </a:t>
            </a:r>
            <a:r>
              <a:rPr lang="en-US" sz="1600">
                <a:solidFill>
                  <a:srgbClr val="FF0000"/>
                </a:solidFill>
              </a:rPr>
              <a:t>little slower </a:t>
            </a:r>
            <a:r>
              <a:rPr lang="en-US" sz="1600"/>
              <a:t>to compute</a:t>
            </a:r>
            <a:endParaRPr/>
          </a:p>
        </p:txBody>
      </p:sp>
      <p:sp>
        <p:nvSpPr>
          <p:cNvPr id="398" name="Google Shape;398;p3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399" name="Google Shape;399;p3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 TREE VARIATIONS</a:t>
            </a:r>
            <a:endParaRPr/>
          </a:p>
        </p:txBody>
      </p:sp>
      <p:graphicFrame>
        <p:nvGraphicFramePr>
          <p:cNvPr id="405" name="Google Shape;405;p38"/>
          <p:cNvGraphicFramePr/>
          <p:nvPr/>
        </p:nvGraphicFramePr>
        <p:xfrm>
          <a:off x="0" y="892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{7DF1352E-3CB4-4820-82A4-1065B7B883FC}</a:tableStyleId>
              </a:tblPr>
              <a:tblGrid>
                <a:gridCol w="2501150"/>
                <a:gridCol w="2400300"/>
                <a:gridCol w="2121275"/>
                <a:gridCol w="2121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Input/ predictor variables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Target/ output variable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ML 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Decision criteria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Classification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(entropy, gini)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Regression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(entropy, gini)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Regression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(</a:t>
                      </a:r>
                      <a:r>
                        <a:rPr lang="en-US" sz="1350">
                          <a:highlight>
                            <a:srgbClr val="FFFF00"/>
                          </a:highlight>
                        </a:rPr>
                        <a:t>threshold split</a:t>
                      </a:r>
                      <a:r>
                        <a:rPr lang="en-US" sz="135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Classification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(</a:t>
                      </a:r>
                      <a:r>
                        <a:rPr lang="en-US" sz="1350">
                          <a:highlight>
                            <a:srgbClr val="FFFF00"/>
                          </a:highlight>
                        </a:rPr>
                        <a:t>threshold split</a:t>
                      </a:r>
                      <a:r>
                        <a:rPr lang="en-US" sz="1350"/>
                        <a:t>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Continuous/ 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Classification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Mix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Gill Sans"/>
                        <a:buNone/>
                      </a:pPr>
                      <a:r>
                        <a:rPr lang="en-US" sz="1350"/>
                        <a:t>Continuous/ Discreet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Continuous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Regression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Mix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6" name="Google Shape;406;p3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07" name="Google Shape;407;p3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graphicFrame>
        <p:nvGraphicFramePr>
          <p:cNvPr id="413" name="Google Shape;413;p39"/>
          <p:cNvGraphicFramePr/>
          <p:nvPr/>
        </p:nvGraphicFramePr>
        <p:xfrm>
          <a:off x="161366" y="18182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909475"/>
                <a:gridCol w="16808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3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39"/>
          <p:cNvSpPr/>
          <p:nvPr/>
        </p:nvSpPr>
        <p:spPr>
          <a:xfrm>
            <a:off x="100853" y="939376"/>
            <a:ext cx="84044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relating the number of hours various students studied in an attempt to determine its effect on their test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Sort the feature (hours studied)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22" name="Google Shape;422;p4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23" name="Google Shape;423;p4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40"/>
          <p:cNvSpPr/>
          <p:nvPr/>
        </p:nvSpPr>
        <p:spPr>
          <a:xfrm>
            <a:off x="26895" y="919557"/>
            <a:ext cx="544605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1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start by calculating entropy of the data set itself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E(D) = - (3/5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(3/5) + 2/5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(2/5)) = .529 + .442 = .971</a:t>
            </a:r>
            <a:endParaRPr/>
          </a:p>
        </p:txBody>
      </p:sp>
      <p:graphicFrame>
        <p:nvGraphicFramePr>
          <p:cNvPr id="425" name="Google Shape;425;p40"/>
          <p:cNvGraphicFramePr/>
          <p:nvPr/>
        </p:nvGraphicFramePr>
        <p:xfrm>
          <a:off x="76200" y="1384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637550"/>
                <a:gridCol w="1637550"/>
                <a:gridCol w="1637550"/>
              </a:tblGrid>
              <a:tr h="1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7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Overall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31" name="Google Shape;431;p4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32" name="Google Shape;432;p4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41"/>
          <p:cNvSpPr/>
          <p:nvPr/>
        </p:nvSpPr>
        <p:spPr>
          <a:xfrm>
            <a:off x="67235" y="1002090"/>
            <a:ext cx="8713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let's iterate through and see which </a:t>
            </a: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splits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 us the maximum entropy gain. To find a split, we average two neighboring values in the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34" name="Google Shape;434;p41"/>
          <p:cNvGraphicFramePr/>
          <p:nvPr/>
        </p:nvGraphicFramePr>
        <p:xfrm>
          <a:off x="90714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29825"/>
                <a:gridCol w="1047875"/>
                <a:gridCol w="902525"/>
                <a:gridCol w="1314400"/>
              </a:tblGrid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POINT #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VALUE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(4+ 5)/2 = 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41"/>
          <p:cNvSpPr/>
          <p:nvPr/>
        </p:nvSpPr>
        <p:spPr>
          <a:xfrm>
            <a:off x="4366983" y="1486826"/>
            <a:ext cx="2074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Now we get 2 bins, as follows:</a:t>
            </a:r>
            <a:endParaRPr/>
          </a:p>
        </p:txBody>
      </p:sp>
      <p:graphicFrame>
        <p:nvGraphicFramePr>
          <p:cNvPr id="436" name="Google Shape;436;p41"/>
          <p:cNvGraphicFramePr/>
          <p:nvPr/>
        </p:nvGraphicFramePr>
        <p:xfrm>
          <a:off x="4450977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519525"/>
                <a:gridCol w="1378950"/>
                <a:gridCol w="1660075"/>
              </a:tblGrid>
              <a:tr h="19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&lt;=4.5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&gt;4.5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p41"/>
          <p:cNvSpPr/>
          <p:nvPr/>
        </p:nvSpPr>
        <p:spPr>
          <a:xfrm>
            <a:off x="4366983" y="2636664"/>
            <a:ext cx="468630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calculate entropy for each bin and find the information gain of this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&lt;= 4.5) = - (1/1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(1/1) + 0/1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(0/1)) = 0 + 0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&gt;   4.5) = - (1/4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(1/4) + 3/4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(3/4)) = .311 + .5 = .811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43" name="Google Shape;443;p4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44" name="Google Shape;444;p4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42"/>
          <p:cNvSpPr/>
          <p:nvPr/>
        </p:nvSpPr>
        <p:spPr>
          <a:xfrm>
            <a:off x="67235" y="1002090"/>
            <a:ext cx="8713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let's iterate through and see which </a:t>
            </a: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splits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 us the maximum entropy gain. To find a split, we average two neighboring values in the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46" name="Google Shape;446;p42"/>
          <p:cNvGraphicFramePr/>
          <p:nvPr/>
        </p:nvGraphicFramePr>
        <p:xfrm>
          <a:off x="90714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29825"/>
                <a:gridCol w="1047875"/>
                <a:gridCol w="902525"/>
                <a:gridCol w="1314400"/>
              </a:tblGrid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POINT #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VALUE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(4+ 5)/2 = 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47" name="Google Shape;447;p42"/>
          <p:cNvSpPr/>
          <p:nvPr/>
        </p:nvSpPr>
        <p:spPr>
          <a:xfrm>
            <a:off x="4366983" y="1486826"/>
            <a:ext cx="2074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Now we get 2 bins, as follows:</a:t>
            </a:r>
            <a:endParaRPr/>
          </a:p>
        </p:txBody>
      </p:sp>
      <p:graphicFrame>
        <p:nvGraphicFramePr>
          <p:cNvPr id="448" name="Google Shape;448;p42"/>
          <p:cNvGraphicFramePr/>
          <p:nvPr/>
        </p:nvGraphicFramePr>
        <p:xfrm>
          <a:off x="4450977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519525"/>
                <a:gridCol w="1378950"/>
                <a:gridCol w="1660075"/>
              </a:tblGrid>
              <a:tr h="19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&lt;=4.5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&gt;4.5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42"/>
          <p:cNvSpPr/>
          <p:nvPr/>
        </p:nvSpPr>
        <p:spPr>
          <a:xfrm>
            <a:off x="4366983" y="2636664"/>
            <a:ext cx="468630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calculate entropy for each bin and find the information gain of this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&lt;= 4.5) = - (1/1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(1/1) + 0/1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(0/1)) = 0 + 0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&gt;   4.5) = - (1/4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(1/4) + 3/4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(3/4)) = .311 + .5 = .811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1/5 (0) + 4/5 (.811) = .6488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Gain = .971 - .6488 = .322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55" name="Google Shape;455;p4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56" name="Google Shape;456;p4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43"/>
          <p:cNvSpPr/>
          <p:nvPr/>
        </p:nvSpPr>
        <p:spPr>
          <a:xfrm>
            <a:off x="67235" y="1002090"/>
            <a:ext cx="8713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let's iterate through and see which </a:t>
            </a: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splits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 us the maximum entropy gain. To find a split, we average two neighboring values in the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58" name="Google Shape;458;p43"/>
          <p:cNvGraphicFramePr/>
          <p:nvPr/>
        </p:nvGraphicFramePr>
        <p:xfrm>
          <a:off x="90714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29825"/>
                <a:gridCol w="1047875"/>
                <a:gridCol w="902525"/>
                <a:gridCol w="1314400"/>
              </a:tblGrid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POINT #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VALUE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(5 + 8)/2 = 6.5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59" name="Google Shape;459;p43"/>
          <p:cNvSpPr/>
          <p:nvPr/>
        </p:nvSpPr>
        <p:spPr>
          <a:xfrm>
            <a:off x="4366983" y="1486826"/>
            <a:ext cx="2074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Now we get 2 bins, as follows:</a:t>
            </a:r>
            <a:endParaRPr/>
          </a:p>
        </p:txBody>
      </p:sp>
      <p:graphicFrame>
        <p:nvGraphicFramePr>
          <p:cNvPr id="460" name="Google Shape;460;p43"/>
          <p:cNvGraphicFramePr/>
          <p:nvPr/>
        </p:nvGraphicFramePr>
        <p:xfrm>
          <a:off x="4450977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519525"/>
                <a:gridCol w="1378950"/>
                <a:gridCol w="1660075"/>
              </a:tblGrid>
              <a:tr h="19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&lt;=6.5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&gt;6.5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61" name="Google Shape;461;p43"/>
          <p:cNvSpPr/>
          <p:nvPr/>
        </p:nvSpPr>
        <p:spPr>
          <a:xfrm>
            <a:off x="4366983" y="2636664"/>
            <a:ext cx="468630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calculate entropy for each bin and find the information gain of this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&lt;= 6.5) = - (1/2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(1/2) + 1/2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(1/2))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&gt;   6.5) = - (2/2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(2/2) + 1/3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(1/3)) = .389 + .528 = .917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2/5 (1) + 3/5 (.917) = .950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Gain = .971 - .950 = .021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67" name="Google Shape;467;p4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68" name="Google Shape;468;p4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44"/>
          <p:cNvSpPr/>
          <p:nvPr/>
        </p:nvSpPr>
        <p:spPr>
          <a:xfrm>
            <a:off x="67235" y="1002090"/>
            <a:ext cx="8713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let's iterate through and see which </a:t>
            </a: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splits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 us the maximum entropy gain. To find a split, we average two neighboring values in the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70" name="Google Shape;470;p44"/>
          <p:cNvGraphicFramePr/>
          <p:nvPr/>
        </p:nvGraphicFramePr>
        <p:xfrm>
          <a:off x="90714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29825"/>
                <a:gridCol w="1047875"/>
                <a:gridCol w="902525"/>
                <a:gridCol w="1314400"/>
              </a:tblGrid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POINT #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VALUE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(8+12)/2 = 10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71" name="Google Shape;471;p44"/>
          <p:cNvSpPr/>
          <p:nvPr/>
        </p:nvSpPr>
        <p:spPr>
          <a:xfrm>
            <a:off x="4366983" y="1486826"/>
            <a:ext cx="2074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Now we get 2 bins, as follows:</a:t>
            </a:r>
            <a:endParaRPr/>
          </a:p>
        </p:txBody>
      </p:sp>
      <p:graphicFrame>
        <p:nvGraphicFramePr>
          <p:cNvPr id="472" name="Google Shape;472;p44"/>
          <p:cNvGraphicFramePr/>
          <p:nvPr/>
        </p:nvGraphicFramePr>
        <p:xfrm>
          <a:off x="4450977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519525"/>
                <a:gridCol w="1378950"/>
                <a:gridCol w="1660075"/>
              </a:tblGrid>
              <a:tr h="19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&lt;=10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&gt;10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73" name="Google Shape;473;p44"/>
          <p:cNvSpPr/>
          <p:nvPr/>
        </p:nvSpPr>
        <p:spPr>
          <a:xfrm>
            <a:off x="4366983" y="2636664"/>
            <a:ext cx="468630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calculate entropy for each bin and find the information gain of this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&lt;= 10) = - (1/3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(1/3) + 2/3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(2/3)) = .917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&gt;   10) = - (2/2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(2/2) + 0/0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(0/0))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2/5 (0) + 3/5 (.917) = ..55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Gain = .971 - .55 = .421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79" name="Google Shape;479;p4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80" name="Google Shape;480;p4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p45"/>
          <p:cNvSpPr/>
          <p:nvPr/>
        </p:nvSpPr>
        <p:spPr>
          <a:xfrm>
            <a:off x="67235" y="1002090"/>
            <a:ext cx="8713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let's iterate through and see which </a:t>
            </a:r>
            <a:r>
              <a:rPr lang="en-US" sz="1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splits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 us the maximum entropy gain. To find a split, we average two neighboring values in the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82" name="Google Shape;482;p45"/>
          <p:cNvGraphicFramePr/>
          <p:nvPr/>
        </p:nvGraphicFramePr>
        <p:xfrm>
          <a:off x="90714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829825"/>
                <a:gridCol w="1047875"/>
                <a:gridCol w="902525"/>
                <a:gridCol w="1314400"/>
              </a:tblGrid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HOURS STUDIED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GRADE 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POINT #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 VALUE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(12 + 15)/2 = 13.5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83" name="Google Shape;483;p45"/>
          <p:cNvSpPr/>
          <p:nvPr/>
        </p:nvSpPr>
        <p:spPr>
          <a:xfrm>
            <a:off x="4366983" y="1486826"/>
            <a:ext cx="20741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Now we get 2 bins, as follows:</a:t>
            </a:r>
            <a:endParaRPr/>
          </a:p>
        </p:txBody>
      </p:sp>
      <p:graphicFrame>
        <p:nvGraphicFramePr>
          <p:cNvPr id="484" name="Google Shape;484;p45"/>
          <p:cNvGraphicFramePr/>
          <p:nvPr/>
        </p:nvGraphicFramePr>
        <p:xfrm>
          <a:off x="4450977" y="1790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{65C79DF5-216B-46FA-A9F8-DA3FECE0BBE0}</a:tableStyleId>
              </a:tblPr>
              <a:tblGrid>
                <a:gridCol w="1519525"/>
                <a:gridCol w="1378950"/>
                <a:gridCol w="1660075"/>
              </a:tblGrid>
              <a:tr h="19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TEST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cap="none">
                          <a:solidFill>
                            <a:srgbClr val="1517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THAN </a:t>
                      </a:r>
                      <a:r>
                        <a:rPr b="1" lang="en-US" sz="1100" cap="none">
                          <a:solidFill>
                            <a:srgbClr val="15171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&lt;=13.5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9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&gt;13.5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57150" marB="57150" marR="114300" marL="114300">
                    <a:lnL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C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85" name="Google Shape;485;p45"/>
          <p:cNvSpPr/>
          <p:nvPr/>
        </p:nvSpPr>
        <p:spPr>
          <a:xfrm>
            <a:off x="4366983" y="2636664"/>
            <a:ext cx="468630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calculate entropy for each bin and find the information gain of this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&lt;= 13.5) = - (2/2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(2/2) + 2/2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(2/2))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E(D &gt;   13.5) = - (1/1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(1/1) + 0/1 log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(0/1))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aseline="-25000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net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4/5 (1) = .80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Gain = .971 - .80 = .117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NUMERIC VARIABLES - ENTROPY-BASED DISCRETIZATION</a:t>
            </a:r>
            <a:endParaRPr/>
          </a:p>
        </p:txBody>
      </p:sp>
      <p:sp>
        <p:nvSpPr>
          <p:cNvPr id="491" name="Google Shape;491;p4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Step 3 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After calculating everything, we find that our best split is </a:t>
            </a:r>
            <a:r>
              <a:rPr lang="en-US">
                <a:highlight>
                  <a:srgbClr val="FFFF00"/>
                </a:highlight>
              </a:rPr>
              <a:t>split 3</a:t>
            </a:r>
            <a:r>
              <a:rPr lang="en-US"/>
              <a:t>, which gives us the best information gain of .421. We will partition the data there!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According to the algorithm, we now can further bin our attributes in the bins we just created. This process will continue until we satisfy a termination criteria.</a:t>
            </a:r>
            <a:endParaRPr/>
          </a:p>
        </p:txBody>
      </p:sp>
      <p:sp>
        <p:nvSpPr>
          <p:cNvPr id="492" name="Google Shape;492;p4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493" name="Google Shape;493;p4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499" name="Google Shape;499;p4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criterion</a:t>
            </a:r>
            <a:r>
              <a:rPr lang="en-US" sz="1600">
                <a:solidFill>
                  <a:srgbClr val="0070C0"/>
                </a:solidFill>
              </a:rPr>
              <a:t>=’gini’, splitter=’best’, max_depth=None, min_samples_split=2, min_samples_leaf=1, min_weight_fraction_leaf=0.0, max_features=None, random_state=None, max_leaf_nodes=None, min_impurity_decrease=0.0, min_impurity_split=None, class_weight=None,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criterion</a:t>
            </a:r>
            <a:r>
              <a:rPr lang="en-US" sz="1600">
                <a:solidFill>
                  <a:srgbClr val="0070C0"/>
                </a:solidFill>
              </a:rPr>
              <a:t> : string, optional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default=”gini”)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The function to measure the quality of a split.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Supported criteria are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solidFill>
                  <a:schemeClr val="dk1"/>
                </a:solidFill>
              </a:rPr>
              <a:t>“</a:t>
            </a:r>
            <a:r>
              <a:rPr lang="en-US" sz="1450">
                <a:solidFill>
                  <a:srgbClr val="0070C0"/>
                </a:solidFill>
              </a:rPr>
              <a:t>gini</a:t>
            </a:r>
            <a:r>
              <a:rPr lang="en-US" sz="1450">
                <a:solidFill>
                  <a:schemeClr val="dk1"/>
                </a:solidFill>
              </a:rPr>
              <a:t>” for the Gini impurity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solidFill>
                  <a:schemeClr val="dk1"/>
                </a:solidFill>
              </a:rPr>
              <a:t>“</a:t>
            </a:r>
            <a:r>
              <a:rPr lang="en-US" sz="1450">
                <a:solidFill>
                  <a:srgbClr val="0070C0"/>
                </a:solidFill>
              </a:rPr>
              <a:t>entropy</a:t>
            </a:r>
            <a:r>
              <a:rPr lang="en-US" sz="1450">
                <a:solidFill>
                  <a:schemeClr val="dk1"/>
                </a:solidFill>
              </a:rPr>
              <a:t>” for the information gain.</a:t>
            </a:r>
            <a:endParaRPr/>
          </a:p>
        </p:txBody>
      </p:sp>
      <p:sp>
        <p:nvSpPr>
          <p:cNvPr id="500" name="Google Shape;500;p4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01" name="Google Shape;501;p4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07" name="Google Shape;507;p48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sklearn.tree.DecisionTreeClassifier(criterion=’gini’, splitter=’best’,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max_depth</a:t>
            </a:r>
            <a:r>
              <a:rPr lang="en-US" sz="1600">
                <a:solidFill>
                  <a:srgbClr val="0070C0"/>
                </a:solidFill>
              </a:rPr>
              <a:t>=None, min_samples_split=2, min_samples_leaf=1, min_weight_fraction_leaf=0.0, max_features=None, random_state=None, max_leaf_nodes=None, min_impurity_decrease=0.0, min_impurity_split=None, class_weight=None,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max_depth </a:t>
            </a:r>
            <a:r>
              <a:rPr lang="en-US" sz="1600">
                <a:solidFill>
                  <a:srgbClr val="0070C0"/>
                </a:solidFill>
              </a:rPr>
              <a:t>: int or None, optional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default=None</a:t>
            </a:r>
            <a:r>
              <a:rPr lang="en-US" sz="1600">
                <a:solidFill>
                  <a:srgbClr val="0070C0"/>
                </a:solidFill>
              </a:rPr>
              <a:t>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The maximum depth of the tree.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None, then nodes are expanded until all leaves are pure or until all leaves contain less than </a:t>
            </a:r>
            <a:r>
              <a:rPr lang="en-US" sz="1600">
                <a:solidFill>
                  <a:srgbClr val="0070C0"/>
                </a:solidFill>
              </a:rPr>
              <a:t>min_samples_split samples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508" name="Google Shape;508;p4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09" name="Google Shape;509;p4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15" name="Google Shape;515;p49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sklearn.tree.DecisionTreeClassifier(criterion=’gini’, splitter=’best’, max_depth=None,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min_samples_split</a:t>
            </a:r>
            <a:r>
              <a:rPr lang="en-US" sz="1600">
                <a:solidFill>
                  <a:srgbClr val="0070C0"/>
                </a:solidFill>
              </a:rPr>
              <a:t>=2, min_samples_leaf=1, min_weight_fraction_leaf=0.0, max_features=None, random_state=None, max_leaf_nodes=None, min_impurity_decrease=0.0, min_impurity_split=None, class_weight=None,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min_samples_split </a:t>
            </a:r>
            <a:r>
              <a:rPr lang="en-US" sz="1600">
                <a:solidFill>
                  <a:srgbClr val="0070C0"/>
                </a:solidFill>
              </a:rPr>
              <a:t>: int, float, optional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default=2</a:t>
            </a:r>
            <a:r>
              <a:rPr lang="en-US" sz="1600">
                <a:solidFill>
                  <a:srgbClr val="0070C0"/>
                </a:solidFill>
              </a:rPr>
              <a:t>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The minimum number of samples required to split an internal node: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int</a:t>
            </a:r>
            <a:r>
              <a:rPr lang="en-US" sz="1600">
                <a:solidFill>
                  <a:schemeClr val="dk1"/>
                </a:solidFill>
              </a:rPr>
              <a:t>, then consider </a:t>
            </a:r>
            <a:r>
              <a:rPr lang="en-US" sz="1600">
                <a:solidFill>
                  <a:srgbClr val="0070C0"/>
                </a:solidFill>
              </a:rPr>
              <a:t>min_samples_split </a:t>
            </a:r>
            <a:r>
              <a:rPr lang="en-US" sz="1600">
                <a:solidFill>
                  <a:schemeClr val="dk1"/>
                </a:solidFill>
              </a:rPr>
              <a:t>as the minimum number.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float</a:t>
            </a:r>
            <a:r>
              <a:rPr lang="en-US" sz="1600">
                <a:solidFill>
                  <a:schemeClr val="dk1"/>
                </a:solidFill>
              </a:rPr>
              <a:t>, then </a:t>
            </a:r>
            <a:r>
              <a:rPr lang="en-US" sz="1600">
                <a:solidFill>
                  <a:srgbClr val="0070C0"/>
                </a:solidFill>
              </a:rPr>
              <a:t>min_samples_split </a:t>
            </a:r>
            <a:r>
              <a:rPr lang="en-US" sz="1600">
                <a:solidFill>
                  <a:schemeClr val="dk1"/>
                </a:solidFill>
              </a:rPr>
              <a:t>is a fraction and ceil (min_samples_split * n_samples) are the minimum number of samples for each split.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516" name="Google Shape;516;p4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17" name="Google Shape;517;p4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23" name="Google Shape;523;p50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sklearn.tree.DecisionTreeClassifier(criterion=’gini’, splitter=’best’, max_depth=None, min_samples_split=2,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min_samples_leaf</a:t>
            </a:r>
            <a:r>
              <a:rPr lang="en-US" sz="1600">
                <a:solidFill>
                  <a:srgbClr val="0070C0"/>
                </a:solidFill>
              </a:rPr>
              <a:t>=1, min_weight_fraction_leaf=0.0, max_features=None, random_state=None, max_leaf_nodes=None, min_impurity_decrease=0.0, min_impurity_split=None, class_weight=None,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min_samples_leaf </a:t>
            </a:r>
            <a:r>
              <a:rPr lang="en-US" sz="1600">
                <a:solidFill>
                  <a:srgbClr val="0070C0"/>
                </a:solidFill>
              </a:rPr>
              <a:t>: int, float, optional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default=1</a:t>
            </a:r>
            <a:r>
              <a:rPr lang="en-US" sz="1600">
                <a:solidFill>
                  <a:srgbClr val="0070C0"/>
                </a:solidFill>
              </a:rPr>
              <a:t>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The minimum number of samples required to be at a leaf node.  A split point at any depth will only be considered if it leaves at least min_samples_leaf training samples in each of the left and right branches. This may have the effect of smoothing the model, especially in regression.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int, then consider min_samples_leaf as the minimum number.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float, then min_samples_leaf is a fraction and ceil(min_samples_leaf * n_samples) are the minimum number of samples for each node.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524" name="Google Shape;524;p5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25" name="Google Shape;525;p5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31" name="Google Shape;531;p51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sklearn.tree.DecisionTreeClassifier(criterion=’gini’, splitter=’best’, max_depth=None, min_samples_split=2, min_samples_leaf=1, min_weight_fraction_leaf=0.0,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max_features</a:t>
            </a:r>
            <a:r>
              <a:rPr lang="en-US" sz="1600">
                <a:solidFill>
                  <a:srgbClr val="0070C0"/>
                </a:solidFill>
              </a:rPr>
              <a:t>=None, random_state=None, max_leaf_nodes=None, min_impurity_decrease=0.0, min_impurity_split=None, class_weight=None,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max_features </a:t>
            </a:r>
            <a:r>
              <a:rPr lang="en-US" sz="1600">
                <a:solidFill>
                  <a:srgbClr val="0070C0"/>
                </a:solidFill>
              </a:rPr>
              <a:t>: int, float, string or None, optional 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default=None</a:t>
            </a:r>
            <a:r>
              <a:rPr lang="en-US" sz="1600">
                <a:solidFill>
                  <a:srgbClr val="0070C0"/>
                </a:solidFill>
              </a:rPr>
              <a:t>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The number of features to consider when looking for the best split: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int, then consider max_features features at each split.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float, then max_features is a fraction and int(max_features * n_features) features are considered at each split.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“auto”, then max_features=sqrt(n_features).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“sqrt”, then max_features=sqrt(n_features).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“log2”, then max_features=log2(n_features).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If None, then max_features=n_features.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532" name="Google Shape;532;p5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33" name="Google Shape;533;p5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39" name="Google Shape;539;p52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sklearn.tree.DecisionTreeClassifier(criterion=’gini’, splitter=’best’, max_depth=None, min_samples_split=2, min_samples_leaf=1, min_weight_fraction_leaf=0.0,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max_features</a:t>
            </a:r>
            <a:r>
              <a:rPr lang="en-US" sz="1600">
                <a:solidFill>
                  <a:srgbClr val="0070C0"/>
                </a:solidFill>
              </a:rPr>
              <a:t>=None, random_state=None, max_leaf_nodes=None, min_impurity_decrease=0.0, min_impurity_split=None, 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class_weight</a:t>
            </a:r>
            <a:r>
              <a:rPr lang="en-US" sz="1600">
                <a:solidFill>
                  <a:srgbClr val="0070C0"/>
                </a:solidFill>
              </a:rPr>
              <a:t>=None, presort=False)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>
              <a:solidFill>
                <a:srgbClr val="0070C0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chemeClr val="dk1"/>
                </a:solidFill>
              </a:rPr>
              <a:t>Weights associated with classes in the form {class_label: weight}.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chemeClr val="dk1"/>
                </a:solidFill>
              </a:rPr>
              <a:t>If not given, all classes are supposed to have weight one.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chemeClr val="dk1"/>
                </a:solidFill>
              </a:rPr>
              <a:t>For multi-output problems, a list of dicts can be provided in the same order as the columns of y.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chemeClr val="dk1"/>
                </a:solidFill>
              </a:rPr>
              <a:t>for </a:t>
            </a:r>
            <a:r>
              <a:rPr lang="en-US" sz="1600">
                <a:solidFill>
                  <a:srgbClr val="0070C0"/>
                </a:solidFill>
              </a:rPr>
              <a:t>multioutput</a:t>
            </a:r>
            <a:r>
              <a:rPr lang="en-US" sz="1600">
                <a:solidFill>
                  <a:schemeClr val="dk1"/>
                </a:solidFill>
              </a:rPr>
              <a:t> (including </a:t>
            </a:r>
            <a:r>
              <a:rPr lang="en-US" sz="1600">
                <a:solidFill>
                  <a:srgbClr val="0070C0"/>
                </a:solidFill>
              </a:rPr>
              <a:t>multilabel</a:t>
            </a:r>
            <a:r>
              <a:rPr lang="en-US" sz="1600">
                <a:solidFill>
                  <a:schemeClr val="dk1"/>
                </a:solidFill>
              </a:rPr>
              <a:t>) weights should be defined for each class of every column in its own dict. For example, for four-class multilabel classification weights should be [{0: 1, 1: 1}, {0: 1, 1: 5}, {0: 1, 1: 1}, {0: 1, 1: 1}] instead of [{1:1}, {2:5}, {3:1}, {4:1}].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>
                <a:solidFill>
                  <a:schemeClr val="dk1"/>
                </a:solidFill>
              </a:rPr>
              <a:t>The “</a:t>
            </a:r>
            <a:r>
              <a:rPr lang="en-US" sz="1600">
                <a:solidFill>
                  <a:srgbClr val="0070C0"/>
                </a:solidFill>
              </a:rPr>
              <a:t>balanced</a:t>
            </a:r>
            <a:r>
              <a:rPr lang="en-US" sz="1600">
                <a:solidFill>
                  <a:schemeClr val="dk1"/>
                </a:solidFill>
              </a:rPr>
              <a:t>” mode uses the values of y to </a:t>
            </a:r>
            <a:r>
              <a:rPr lang="en-US" sz="1600">
                <a:solidFill>
                  <a:schemeClr val="dk1"/>
                </a:solidFill>
                <a:highlight>
                  <a:srgbClr val="FFFF00"/>
                </a:highlight>
              </a:rPr>
              <a:t>automatically adjust weights inversely proportional to class frequencies </a:t>
            </a:r>
            <a:r>
              <a:rPr lang="en-US" sz="1600">
                <a:solidFill>
                  <a:schemeClr val="dk1"/>
                </a:solidFill>
              </a:rPr>
              <a:t>in the input data as n_samples / (n_classes * np.bincount(y))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86296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540" name="Google Shape;540;p5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41" name="Google Shape;541;p5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ATTRIBUTES</a:t>
            </a:r>
            <a:endParaRPr/>
          </a:p>
        </p:txBody>
      </p:sp>
      <p:sp>
        <p:nvSpPr>
          <p:cNvPr id="547" name="Google Shape;547;p53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classes_ </a:t>
            </a:r>
            <a:r>
              <a:rPr lang="en-US"/>
              <a:t>:  array of shape = [n_classes] or a list of such arrays,  The classes labels (single output problem), or a list of arrays of class labels (multi-output problem).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feature_importances</a:t>
            </a:r>
            <a:r>
              <a:rPr lang="en-US"/>
              <a:t>_ : array of shape = [n_features] , Return the feature importances.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max_features_ </a:t>
            </a:r>
            <a:r>
              <a:rPr lang="en-US"/>
              <a:t>: int,  The inferred value of max_features.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n_classes_ </a:t>
            </a:r>
            <a:r>
              <a:rPr lang="en-US"/>
              <a:t>: int or list,  The number of classes (for single output problems), or a list containing the number of classes for each output (for multi-output problems).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n_features</a:t>
            </a:r>
            <a:r>
              <a:rPr lang="en-US"/>
              <a:t>_ : int, The number of features when fit is performed.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solidFill>
                  <a:srgbClr val="0070C0"/>
                </a:solidFill>
              </a:rPr>
              <a:t>n_outputs</a:t>
            </a:r>
            <a:r>
              <a:rPr lang="en-US"/>
              <a:t>_ : int,  The number of outputs when fit is performed.</a:t>
            </a:r>
            <a:endParaRPr/>
          </a:p>
        </p:txBody>
      </p:sp>
      <p:sp>
        <p:nvSpPr>
          <p:cNvPr id="548" name="Google Shape;548;p5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49" name="Google Shape;549;p5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REGRESSION WITH DECISION TREES</a:t>
            </a:r>
            <a:endParaRPr/>
          </a:p>
        </p:txBody>
      </p:sp>
      <p:sp>
        <p:nvSpPr>
          <p:cNvPr id="555" name="Google Shape;555;p54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Replacing </a:t>
            </a:r>
            <a:r>
              <a:rPr lang="en-US" sz="1600">
                <a:solidFill>
                  <a:srgbClr val="0070C0"/>
                </a:solidFill>
              </a:rPr>
              <a:t>INFORMATION GAIN </a:t>
            </a:r>
            <a:r>
              <a:rPr lang="en-US" sz="1600"/>
              <a:t>with </a:t>
            </a:r>
            <a:r>
              <a:rPr lang="en-US" sz="1600">
                <a:solidFill>
                  <a:srgbClr val="0070C0"/>
                </a:solidFill>
              </a:rPr>
              <a:t>Standard Deviation Reduction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decision tree is built top-down from a root node and involves partitioning the data into subsets that contain instances with similar values (homogeneous)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We use </a:t>
            </a:r>
            <a:r>
              <a:rPr lang="en-US" sz="1600">
                <a:solidFill>
                  <a:srgbClr val="0070C0"/>
                </a:solidFill>
              </a:rPr>
              <a:t>standard deviation </a:t>
            </a:r>
            <a:r>
              <a:rPr lang="en-US" sz="1600"/>
              <a:t>to calculate the homogeneity of a numeric sample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If the numeric sample is completely homogeneous, it’s </a:t>
            </a:r>
            <a:r>
              <a:rPr lang="en-US" sz="1600">
                <a:solidFill>
                  <a:srgbClr val="0070C0"/>
                </a:solidFill>
              </a:rPr>
              <a:t>S.D</a:t>
            </a:r>
            <a:r>
              <a:rPr lang="en-US" sz="1600"/>
              <a:t> = 0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556" name="Google Shape;556;p5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57" name="Google Shape;557;p5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STANDARD DEVIATION REDUCTION</a:t>
            </a:r>
            <a:endParaRPr/>
          </a:p>
        </p:txBody>
      </p:sp>
      <p:sp>
        <p:nvSpPr>
          <p:cNvPr id="563" name="Google Shape;563;p55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SD reduction is based on the decrease in the SD after a dataset is split on an attribute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Constructing a decision tree is all about finding attribute that returns the highest SD reduction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split is done on the feature which returns </a:t>
            </a:r>
            <a:r>
              <a:rPr lang="en-US" sz="1600">
                <a:highlight>
                  <a:srgbClr val="FFFF00"/>
                </a:highlight>
              </a:rPr>
              <a:t>max SD reduction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Dataset is divided based on the values of the selected feature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branch set with SD &gt; 0 needs further splitting, the process is repeated on the non-leaf branches, until all data is processed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When the number of instances is more than 1 at a leaf node, we calculate the average as the final value for the prediction</a:t>
            </a:r>
            <a:endParaRPr/>
          </a:p>
        </p:txBody>
      </p:sp>
      <p:sp>
        <p:nvSpPr>
          <p:cNvPr id="564" name="Google Shape;564;p5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65" name="Google Shape;565;p5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71" name="Google Shape;571;p5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sklearn.tree.DecisionTreeRegressor(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criterion</a:t>
            </a:r>
            <a:r>
              <a:rPr lang="en-US" sz="1600">
                <a:solidFill>
                  <a:srgbClr val="0070C0"/>
                </a:solidFill>
              </a:rPr>
              <a:t>=’mse’,  splitter=’best’, max_depth=None, min_samples_split=2, min_samples_leaf=1, min_weight_fraction_leaf=0.0, max_features=None, random_state=None, max_leaf_nodes=None, min_impurity_decrease=0.0, min_impurity_split=None, presort=False)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criterion</a:t>
            </a:r>
            <a:r>
              <a:rPr lang="en-US" sz="1600"/>
              <a:t> : string, optional (</a:t>
            </a:r>
            <a:r>
              <a:rPr lang="en-US" sz="1600">
                <a:highlight>
                  <a:srgbClr val="FFFF00"/>
                </a:highlight>
              </a:rPr>
              <a:t>default=”mse”)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function to measure the quality of a split.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Supported criteria are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“</a:t>
            </a:r>
            <a:r>
              <a:rPr lang="en-US" sz="1450">
                <a:solidFill>
                  <a:srgbClr val="0070C0"/>
                </a:solidFill>
              </a:rPr>
              <a:t>mse</a:t>
            </a:r>
            <a:r>
              <a:rPr lang="en-US" sz="1450"/>
              <a:t>” for the mean squared error, which is equal to variance reduction as feature selection criterion and minimizes the L2 loss using the mean of each terminal node,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“</a:t>
            </a:r>
            <a:r>
              <a:rPr lang="en-US" sz="1450">
                <a:solidFill>
                  <a:srgbClr val="0070C0"/>
                </a:solidFill>
              </a:rPr>
              <a:t>friedman_mse</a:t>
            </a:r>
            <a:r>
              <a:rPr lang="en-US" sz="1450"/>
              <a:t>”, which uses mean squared error with Friedman’s improvement score for potential splits, and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“</a:t>
            </a:r>
            <a:r>
              <a:rPr lang="en-US" sz="1450">
                <a:solidFill>
                  <a:srgbClr val="0070C0"/>
                </a:solidFill>
              </a:rPr>
              <a:t>mae</a:t>
            </a:r>
            <a:r>
              <a:rPr lang="en-US" sz="1450"/>
              <a:t>” for the mean absolute error, which minimizes the L1 loss using the median of each terminal node.</a:t>
            </a:r>
            <a:endParaRPr/>
          </a:p>
        </p:txBody>
      </p:sp>
      <p:sp>
        <p:nvSpPr>
          <p:cNvPr id="572" name="Google Shape;572;p5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73" name="Google Shape;573;p5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SCIKIT LEARN PARAMETERS</a:t>
            </a:r>
            <a:endParaRPr/>
          </a:p>
        </p:txBody>
      </p:sp>
      <p:sp>
        <p:nvSpPr>
          <p:cNvPr id="579" name="Google Shape;579;p5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class sklearn.tree.DecisionTreeRegressor(</a:t>
            </a:r>
            <a:r>
              <a:rPr lang="en-US" sz="1600">
                <a:solidFill>
                  <a:srgbClr val="0070C0"/>
                </a:solidFill>
                <a:highlight>
                  <a:srgbClr val="FFFF00"/>
                </a:highlight>
              </a:rPr>
              <a:t>criterion</a:t>
            </a:r>
            <a:r>
              <a:rPr lang="en-US" sz="1600">
                <a:solidFill>
                  <a:srgbClr val="0070C0"/>
                </a:solidFill>
              </a:rPr>
              <a:t>=’mse’,  splitter=’best’, max_depth=None, min_samples_split=2, min_samples_leaf=1, min_weight_fraction_leaf=0.0, max_features=None, random_state=None, max_leaf_nodes=None, min_impurity_decrease=0.0, min_impurity_split=None, presort=False)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max_depth : int or None, optional (default=None)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min_samples_split : int, float, optional (default=2)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min_samples_leaf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min_weight_fraction_leaf : float, optional (default=0.)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max_features : int, float, string or None, optional (default=None)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580" name="Google Shape;580;p5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81" name="Google Shape;581;p5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8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ATTRIBUTES</a:t>
            </a:r>
            <a:endParaRPr/>
          </a:p>
        </p:txBody>
      </p:sp>
      <p:sp>
        <p:nvSpPr>
          <p:cNvPr id="587" name="Google Shape;587;p58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feature_importances</a:t>
            </a:r>
            <a:r>
              <a:rPr lang="en-US" sz="1600"/>
              <a:t>_ : array of shape = [n_features] - Return the feature importances.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max_features_ : int, - The inferred value of max_features.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n_features_ : int - The number of features when fit is performed.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n_outputs_ : int - The number of outputs when fit is performed.</a:t>
            </a:r>
            <a:endParaRPr/>
          </a:p>
        </p:txBody>
      </p:sp>
      <p:sp>
        <p:nvSpPr>
          <p:cNvPr id="588" name="Google Shape;588;p58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89" name="Google Shape;589;p58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USE CASES</a:t>
            </a:r>
            <a:endParaRPr/>
          </a:p>
        </p:txBody>
      </p:sp>
      <p:sp>
        <p:nvSpPr>
          <p:cNvPr id="595" name="Google Shape;595;p59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Building knowledge management platforms for customer service that improve first call resolution, average handling time, and customer satisfaction rates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In finance, forecasting future outcomes and assigning probabilities to those outcomes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Binomial option pricing predictions and real option analysis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Customer’s willingness to purchase a given product in a given setting, i.e. offline and online both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Product planning; for example, Gerber Products, Inc. used decision trees to decide whether to continue planning PVC for manufacturing toys or not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General business decision-making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Loan approval</a:t>
            </a:r>
            <a:endParaRPr/>
          </a:p>
        </p:txBody>
      </p:sp>
      <p:sp>
        <p:nvSpPr>
          <p:cNvPr id="596" name="Google Shape;596;p59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597" name="Google Shape;597;p59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ADVANTAGES </a:t>
            </a:r>
            <a:endParaRPr/>
          </a:p>
        </p:txBody>
      </p:sp>
      <p:sp>
        <p:nvSpPr>
          <p:cNvPr id="603" name="Google Shape;603;p60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highlight>
                  <a:srgbClr val="FFFF00"/>
                </a:highlight>
              </a:rPr>
              <a:t>Simple</a:t>
            </a:r>
            <a:r>
              <a:rPr lang="en-US" sz="1600"/>
              <a:t> to understand and to interpret. Trees can be visualized.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Requires </a:t>
            </a:r>
            <a:r>
              <a:rPr lang="en-US" sz="1600">
                <a:highlight>
                  <a:srgbClr val="FFFF00"/>
                </a:highlight>
              </a:rPr>
              <a:t>little data </a:t>
            </a:r>
            <a:r>
              <a:rPr lang="en-US" sz="1600"/>
              <a:t>preparation. 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Other techniques often require 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data normalization, 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dummy variables need to be created 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blank values to be removed.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Able to </a:t>
            </a:r>
            <a:r>
              <a:rPr lang="en-US" sz="1600">
                <a:highlight>
                  <a:srgbClr val="FFFF00"/>
                </a:highlight>
              </a:rPr>
              <a:t>handle both numerical and categorical </a:t>
            </a:r>
            <a:r>
              <a:rPr lang="en-US" sz="1600"/>
              <a:t>data.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Able to handle </a:t>
            </a:r>
            <a:r>
              <a:rPr lang="en-US" sz="1600">
                <a:highlight>
                  <a:srgbClr val="FFFF00"/>
                </a:highlight>
              </a:rPr>
              <a:t>multi-output</a:t>
            </a:r>
            <a:r>
              <a:rPr lang="en-US" sz="1600"/>
              <a:t> problems.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Resistant to outliers, hence require little data preprocessing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Highly flexible </a:t>
            </a:r>
            <a:r>
              <a:rPr lang="en-US" sz="1600">
                <a:solidFill>
                  <a:srgbClr val="0070C0"/>
                </a:solidFill>
              </a:rPr>
              <a:t>hypothesis space</a:t>
            </a:r>
            <a:r>
              <a:rPr lang="en-US" sz="1600"/>
              <a:t>, as the # of nodes (or depth) of tree increases, decision tree can represent increasingly complex decision boundaries</a:t>
            </a:r>
            <a:endParaRPr/>
          </a:p>
        </p:txBody>
      </p:sp>
      <p:sp>
        <p:nvSpPr>
          <p:cNvPr id="604" name="Google Shape;604;p60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05" name="Google Shape;605;p60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1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DISADVANTAGES </a:t>
            </a:r>
            <a:endParaRPr/>
          </a:p>
        </p:txBody>
      </p:sp>
      <p:sp>
        <p:nvSpPr>
          <p:cNvPr id="611" name="Google Shape;611;p61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Prone to </a:t>
            </a:r>
            <a:r>
              <a:rPr lang="en-US">
                <a:solidFill>
                  <a:srgbClr val="0070C0"/>
                </a:solidFill>
              </a:rPr>
              <a:t>overfitting</a:t>
            </a:r>
            <a:r>
              <a:rPr lang="en-US"/>
              <a:t> (</a:t>
            </a:r>
            <a:r>
              <a:rPr lang="en-US">
                <a:highlight>
                  <a:srgbClr val="FFFF00"/>
                </a:highlight>
              </a:rPr>
              <a:t>overly-complex</a:t>
            </a:r>
            <a:r>
              <a:rPr lang="en-US"/>
              <a:t> )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Can create biased learned trees if some classes dominate.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It is therefore recommended to balance the dataset prior to fitting with the decision tree.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Decision trees can be </a:t>
            </a:r>
            <a:r>
              <a:rPr lang="en-US">
                <a:highlight>
                  <a:srgbClr val="FFFF00"/>
                </a:highlight>
              </a:rPr>
              <a:t>unstable</a:t>
            </a:r>
            <a:r>
              <a:rPr lang="en-US"/>
              <a:t> because small variations in the data might result in a </a:t>
            </a:r>
            <a:r>
              <a:rPr lang="en-US">
                <a:highlight>
                  <a:srgbClr val="FFFF00"/>
                </a:highlight>
              </a:rPr>
              <a:t>completely different tree </a:t>
            </a:r>
            <a:r>
              <a:rPr lang="en-US"/>
              <a:t>being generated.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 This problem is mitigated by using decision trees within an </a:t>
            </a:r>
            <a:r>
              <a:rPr lang="en-US">
                <a:solidFill>
                  <a:srgbClr val="0070C0"/>
                </a:solidFill>
              </a:rPr>
              <a:t>ensemble</a:t>
            </a:r>
            <a:r>
              <a:rPr lang="en-US"/>
              <a:t>.</a:t>
            </a:r>
            <a:endParaRPr/>
          </a:p>
          <a:p>
            <a:pPr indent="-952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12" name="Google Shape;612;p61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13" name="Google Shape;613;p61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2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DECISION TREE - OVERFITTING</a:t>
            </a:r>
            <a:endParaRPr/>
          </a:p>
        </p:txBody>
      </p:sp>
      <p:sp>
        <p:nvSpPr>
          <p:cNvPr id="619" name="Google Shape;619;p62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>
                <a:solidFill>
                  <a:srgbClr val="0070C0"/>
                </a:solidFill>
              </a:rPr>
              <a:t>Overfitting</a:t>
            </a:r>
            <a:r>
              <a:rPr lang="en-US" sz="1600"/>
              <a:t> is a significant practical difficulty for </a:t>
            </a:r>
            <a:r>
              <a:rPr lang="en-US" sz="1600">
                <a:solidFill>
                  <a:srgbClr val="0070C0"/>
                </a:solidFill>
              </a:rPr>
              <a:t>decision tree </a:t>
            </a:r>
            <a:r>
              <a:rPr lang="en-US" sz="1600"/>
              <a:t>models and many other predictive models.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Overfitting happens when the learning algorithm continues to develop hypotheses that reduce training set error at the cost of an increased test set error.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There are several approaches to avoiding </a:t>
            </a:r>
            <a:r>
              <a:rPr lang="en-US" sz="1600">
                <a:solidFill>
                  <a:srgbClr val="0070C0"/>
                </a:solidFill>
              </a:rPr>
              <a:t>overfitting</a:t>
            </a:r>
            <a:r>
              <a:rPr lang="en-US" sz="1600"/>
              <a:t> in building decision trees. 		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solidFill>
                  <a:srgbClr val="0070C0"/>
                </a:solidFill>
              </a:rPr>
              <a:t>Pre-pruning</a:t>
            </a:r>
            <a:r>
              <a:rPr lang="en-US" sz="1450"/>
              <a:t> that stop growing the tree earlier, before it perfectly classifies the training set.</a:t>
            </a:r>
            <a:endParaRPr/>
          </a:p>
          <a:p>
            <a:pPr indent="-171450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>
                <a:solidFill>
                  <a:srgbClr val="0070C0"/>
                </a:solidFill>
              </a:rPr>
              <a:t>Post-pruning</a:t>
            </a:r>
            <a:r>
              <a:rPr lang="en-US" sz="1450"/>
              <a:t> that allows the tree to perfectly classify the training set, and then post prune the tree. </a:t>
            </a:r>
            <a:endParaRPr/>
          </a:p>
          <a:p>
            <a:pPr indent="-79375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None/>
            </a:pPr>
            <a:r>
              <a:t/>
            </a:r>
            <a:endParaRPr sz="145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Practically, the </a:t>
            </a:r>
            <a:r>
              <a:rPr lang="en-US" sz="1600">
                <a:highlight>
                  <a:srgbClr val="FFFF00"/>
                </a:highlight>
              </a:rPr>
              <a:t>second approach </a:t>
            </a:r>
            <a:r>
              <a:rPr lang="en-US" sz="1600"/>
              <a:t>of post-pruning overfit trees is </a:t>
            </a:r>
            <a:r>
              <a:rPr lang="en-US" sz="1600">
                <a:highlight>
                  <a:srgbClr val="FFFF00"/>
                </a:highlight>
              </a:rPr>
              <a:t>more successful </a:t>
            </a:r>
            <a:r>
              <a:rPr lang="en-US" sz="1600"/>
              <a:t>because it is </a:t>
            </a:r>
            <a:r>
              <a:rPr i="1" lang="en-US" sz="1600">
                <a:solidFill>
                  <a:srgbClr val="FF0000"/>
                </a:solidFill>
              </a:rPr>
              <a:t>not easy to precisely estimate when to stop growing the tree</a:t>
            </a:r>
            <a:r>
              <a:rPr lang="en-US" sz="1600"/>
              <a:t>. </a:t>
            </a:r>
            <a:endParaRPr/>
          </a:p>
        </p:txBody>
      </p:sp>
      <p:sp>
        <p:nvSpPr>
          <p:cNvPr id="620" name="Google Shape;620;p62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21" name="Google Shape;621;p62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3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TIPS ON PRACTICAL USE</a:t>
            </a:r>
            <a:endParaRPr/>
          </a:p>
        </p:txBody>
      </p:sp>
      <p:sp>
        <p:nvSpPr>
          <p:cNvPr id="627" name="Google Shape;627;p63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Decision trees tend to </a:t>
            </a:r>
            <a:r>
              <a:rPr lang="en-US" sz="1600">
                <a:solidFill>
                  <a:srgbClr val="0070C0"/>
                </a:solidFill>
              </a:rPr>
              <a:t>overfit</a:t>
            </a:r>
            <a:r>
              <a:rPr lang="en-US" sz="1600"/>
              <a:t> on data with a </a:t>
            </a:r>
            <a:r>
              <a:rPr lang="en-US" sz="1600">
                <a:highlight>
                  <a:srgbClr val="FFFF00"/>
                </a:highlight>
              </a:rPr>
              <a:t>large number of features</a:t>
            </a:r>
            <a:r>
              <a:rPr lang="en-US" sz="1600"/>
              <a:t>. Getting the right ratio of samples to number of features is important, since a tree with few samples in high dimensional space is very likely to overfit.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Consider performing dimensionality reduction (</a:t>
            </a:r>
            <a:r>
              <a:rPr lang="en-US" sz="1600">
                <a:solidFill>
                  <a:srgbClr val="0070C0"/>
                </a:solidFill>
              </a:rPr>
              <a:t>PCA</a:t>
            </a:r>
            <a:r>
              <a:rPr lang="en-US" sz="1600"/>
              <a:t>, </a:t>
            </a:r>
            <a:r>
              <a:rPr lang="en-US" sz="1600">
                <a:solidFill>
                  <a:srgbClr val="0070C0"/>
                </a:solidFill>
              </a:rPr>
              <a:t>ICA</a:t>
            </a:r>
            <a:r>
              <a:rPr lang="en-US" sz="1600"/>
              <a:t>, or </a:t>
            </a:r>
            <a:r>
              <a:rPr lang="en-US" sz="1600">
                <a:solidFill>
                  <a:srgbClr val="0070C0"/>
                </a:solidFill>
              </a:rPr>
              <a:t>Feature selection</a:t>
            </a:r>
            <a:r>
              <a:rPr lang="en-US" sz="1600"/>
              <a:t>) beforehand to give your tree a better chance of finding features that are discriminative.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Visualize your tree as you are training by using the export function.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Use </a:t>
            </a:r>
            <a:r>
              <a:rPr lang="en-US" sz="1600">
                <a:solidFill>
                  <a:srgbClr val="0070C0"/>
                </a:solidFill>
              </a:rPr>
              <a:t>max_depth=3 </a:t>
            </a:r>
            <a:r>
              <a:rPr lang="en-US" sz="1600"/>
              <a:t>as an initial tree depth to get a feel for how the tree is fitting to your data and then increase the depth.</a:t>
            </a:r>
            <a:endParaRPr/>
          </a:p>
          <a:p>
            <a:pPr indent="-7747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Remember that the number of samples required to populate the tree doubles for each additional level the tree grows too. Use </a:t>
            </a:r>
            <a:r>
              <a:rPr lang="en-US" sz="1600">
                <a:solidFill>
                  <a:srgbClr val="0070C0"/>
                </a:solidFill>
              </a:rPr>
              <a:t>max_depth </a:t>
            </a:r>
            <a:r>
              <a:rPr lang="en-US" sz="1600"/>
              <a:t>to control the size of the tree to prevent overfitting.</a:t>
            </a:r>
            <a:endParaRPr/>
          </a:p>
        </p:txBody>
      </p:sp>
      <p:sp>
        <p:nvSpPr>
          <p:cNvPr id="628" name="Google Shape;628;p63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29" name="Google Shape;629;p63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STEPS </a:t>
            </a:r>
            <a:endParaRPr/>
          </a:p>
        </p:txBody>
      </p:sp>
      <p:sp>
        <p:nvSpPr>
          <p:cNvPr id="635" name="Google Shape;635;p64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The important step of </a:t>
            </a:r>
            <a:r>
              <a:rPr lang="en-US" sz="1600">
                <a:solidFill>
                  <a:srgbClr val="0070C0"/>
                </a:solidFill>
              </a:rPr>
              <a:t>tree pruning </a:t>
            </a:r>
            <a:r>
              <a:rPr lang="en-US" sz="1600"/>
              <a:t>is to define a criterion be used to determine the correct final tree size using one of the following methods: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 sz="1600"/>
              <a:t>Use a </a:t>
            </a:r>
            <a:r>
              <a:rPr lang="en-US" sz="1600">
                <a:highlight>
                  <a:srgbClr val="FFFF00"/>
                </a:highlight>
              </a:rPr>
              <a:t>distinct dataset </a:t>
            </a:r>
            <a:r>
              <a:rPr lang="en-US" sz="1600"/>
              <a:t>from the training set (called validation set), to evaluate the effect of post-pruning nodes from the tree.</a:t>
            </a:r>
            <a:endParaRPr/>
          </a:p>
          <a:p>
            <a:pPr indent="-2413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Font typeface="Gill Sans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 sz="1600"/>
              <a:t>Build the tree by using the training set, then apply a </a:t>
            </a:r>
            <a:r>
              <a:rPr lang="en-US" sz="1600">
                <a:highlight>
                  <a:srgbClr val="FFFF00"/>
                </a:highlight>
              </a:rPr>
              <a:t>statistical test </a:t>
            </a:r>
            <a:r>
              <a:rPr lang="en-US" sz="1600"/>
              <a:t>to estimate whether pruning or expanding a particular node is likely to produce an improvement beyond the training set.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Error estimation</a:t>
            </a:r>
            <a:endParaRPr/>
          </a:p>
          <a:p>
            <a:pPr indent="-171450" lvl="2" marL="5143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Char char="•"/>
            </a:pPr>
            <a:r>
              <a:rPr lang="en-US" sz="1450"/>
              <a:t>Significance testing (e.g., Chi-square test)</a:t>
            </a:r>
            <a:endParaRPr/>
          </a:p>
          <a:p>
            <a:pPr indent="-79375" lvl="1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50"/>
              <a:buNone/>
            </a:pPr>
            <a:r>
              <a:t/>
            </a:r>
            <a:endParaRPr sz="1450"/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lang="en-US" sz="1600">
                <a:highlight>
                  <a:srgbClr val="FFFF00"/>
                </a:highlight>
              </a:rPr>
              <a:t>Minimum Description Length principle </a:t>
            </a:r>
            <a:r>
              <a:rPr lang="en-US" sz="1600"/>
              <a:t>: Use an explicit measure of the complexity for encoding the training set and the decision tree, stopping growth of the tree when this encoding size (size(tree) + size(misclassifications(tree)) is minimized.</a:t>
            </a:r>
            <a:endParaRPr/>
          </a:p>
        </p:txBody>
      </p:sp>
      <p:sp>
        <p:nvSpPr>
          <p:cNvPr id="636" name="Google Shape;636;p64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37" name="Google Shape;637;p64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5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643" name="Google Shape;643;p65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5725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644" name="Google Shape;644;p65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45" name="Google Shape;645;p65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6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TIPS ON PRACTICAL USE</a:t>
            </a:r>
            <a:endParaRPr/>
          </a:p>
        </p:txBody>
      </p:sp>
      <p:sp>
        <p:nvSpPr>
          <p:cNvPr id="651" name="Google Shape;651;p66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 </a:t>
            </a:r>
            <a:r>
              <a:rPr lang="en-US" sz="1600">
                <a:solidFill>
                  <a:srgbClr val="0070C0"/>
                </a:solidFill>
              </a:rPr>
              <a:t>min_samples_split </a:t>
            </a:r>
            <a:r>
              <a:rPr lang="en-US" sz="1600"/>
              <a:t>or </a:t>
            </a:r>
            <a:r>
              <a:rPr lang="en-US" sz="1600">
                <a:solidFill>
                  <a:srgbClr val="0070C0"/>
                </a:solidFill>
              </a:rPr>
              <a:t>min_samples_leaf </a:t>
            </a:r>
            <a:r>
              <a:rPr lang="en-US" sz="1600"/>
              <a:t>to ensure that multiple samples inform every decision in the tree, by controlling which splits will be considered.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very small number will usually mean the tree will overfit, whereas a large number will prevent the tree from learning the data.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Try </a:t>
            </a:r>
            <a:r>
              <a:rPr lang="en-US" sz="1600">
                <a:solidFill>
                  <a:srgbClr val="0070C0"/>
                </a:solidFill>
              </a:rPr>
              <a:t>min_samples_leaf=5</a:t>
            </a:r>
            <a:r>
              <a:rPr lang="en-US" sz="1600"/>
              <a:t> as an initial value. If the sample size varies greatly, a float number can be used as percentage in these two parameters.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While </a:t>
            </a:r>
            <a:r>
              <a:rPr lang="en-US" sz="1600">
                <a:solidFill>
                  <a:srgbClr val="0070C0"/>
                </a:solidFill>
              </a:rPr>
              <a:t>min_samples_split </a:t>
            </a:r>
            <a:r>
              <a:rPr lang="en-US" sz="1600"/>
              <a:t>can create arbitrarily small leaves, min_samples_leaf guarantees that each leaf has a minimum size, avoiding low-variance, over-fit leaf nodes in regression problems. </a:t>
            </a:r>
            <a:endParaRPr/>
          </a:p>
          <a:p>
            <a:pPr indent="-698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For classification with few classes, min_samples_leaf=1 is often the best choice.</a:t>
            </a:r>
            <a:endParaRPr/>
          </a:p>
        </p:txBody>
      </p:sp>
      <p:sp>
        <p:nvSpPr>
          <p:cNvPr id="652" name="Google Shape;652;p66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53" name="Google Shape;653;p66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7"/>
          <p:cNvSpPr txBox="1"/>
          <p:nvPr>
            <p:ph type="title"/>
          </p:nvPr>
        </p:nvSpPr>
        <p:spPr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Gill Sans"/>
              <a:buNone/>
            </a:pPr>
            <a:r>
              <a:rPr lang="en-US"/>
              <a:t>TIPS ON PRACTICAL USE</a:t>
            </a:r>
            <a:endParaRPr/>
          </a:p>
        </p:txBody>
      </p:sp>
      <p:sp>
        <p:nvSpPr>
          <p:cNvPr id="659" name="Google Shape;659;p67"/>
          <p:cNvSpPr txBox="1"/>
          <p:nvPr>
            <p:ph idx="1" type="body"/>
          </p:nvPr>
        </p:nvSpPr>
        <p:spPr>
          <a:xfrm>
            <a:off x="0" y="891539"/>
            <a:ext cx="9144000" cy="397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Balance</a:t>
            </a:r>
            <a:r>
              <a:rPr lang="en-US"/>
              <a:t> your dataset before training to prevent the tree from being </a:t>
            </a:r>
            <a:r>
              <a:rPr lang="en-US">
                <a:highlight>
                  <a:srgbClr val="FFFF00"/>
                </a:highlight>
              </a:rPr>
              <a:t>biased</a:t>
            </a:r>
            <a:r>
              <a:rPr lang="en-US"/>
              <a:t> toward the classes that are dominant. 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>
                <a:highlight>
                  <a:srgbClr val="FFFF00"/>
                </a:highlight>
              </a:rPr>
              <a:t>Class balancing </a:t>
            </a:r>
            <a:r>
              <a:rPr lang="en-US"/>
              <a:t>can be done by sampling an equal number of samples from each class, or preferably by normalizing the sum of the sample weights (sample_weight) for each class to the same value. 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Also note that weight-based pre-pruning criteria, such as </a:t>
            </a:r>
            <a:r>
              <a:rPr lang="en-US">
                <a:solidFill>
                  <a:srgbClr val="0070C0"/>
                </a:solidFill>
              </a:rPr>
              <a:t>min_weight_fraction_leaf</a:t>
            </a:r>
            <a:r>
              <a:rPr lang="en-US"/>
              <a:t>, will then be less biased toward dominant classes than criteria that are not aware of the sample weights, like </a:t>
            </a:r>
            <a:r>
              <a:rPr lang="en-US">
                <a:solidFill>
                  <a:srgbClr val="0070C0"/>
                </a:solidFill>
              </a:rPr>
              <a:t>min_samples_leaf</a:t>
            </a:r>
            <a:r>
              <a:rPr lang="en-US"/>
              <a:t>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If the samples are weighted, it will be easier to optimize the tree structure using weight-based pre-pruning criterion such as </a:t>
            </a:r>
            <a:r>
              <a:rPr lang="en-US">
                <a:solidFill>
                  <a:srgbClr val="0070C0"/>
                </a:solidFill>
              </a:rPr>
              <a:t>min_weight_fraction_leaf</a:t>
            </a:r>
            <a:r>
              <a:rPr lang="en-US"/>
              <a:t>, which ensure that leaf nodes contain at least a fraction of the overall sum of the sample weights.</a:t>
            </a:r>
            <a:endParaRPr/>
          </a:p>
          <a:p>
            <a:pPr indent="-85725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300"/>
              <a:buChar char="•"/>
            </a:pPr>
            <a:r>
              <a:rPr lang="en-US"/>
              <a:t>If the input matrix X is very sparse, it is recommended to convert to sparse csc_matrix before calling fit and sparse csr_matrix before calling predict. Training time can be orders of magnitude faster for a sparse matrix input compared to a dense matrix when features have zero values in most of the samples.</a:t>
            </a:r>
            <a:endParaRPr/>
          </a:p>
        </p:txBody>
      </p:sp>
      <p:sp>
        <p:nvSpPr>
          <p:cNvPr id="660" name="Google Shape;660;p67"/>
          <p:cNvSpPr txBox="1"/>
          <p:nvPr>
            <p:ph idx="10" type="dt"/>
          </p:nvPr>
        </p:nvSpPr>
        <p:spPr>
          <a:xfrm>
            <a:off x="0" y="4853965"/>
            <a:ext cx="742384" cy="2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8/18/2022</a:t>
            </a:r>
            <a:endParaRPr/>
          </a:p>
        </p:txBody>
      </p:sp>
      <p:sp>
        <p:nvSpPr>
          <p:cNvPr id="661" name="Google Shape;661;p67"/>
          <p:cNvSpPr txBox="1"/>
          <p:nvPr>
            <p:ph idx="12" type="sldNum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no.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