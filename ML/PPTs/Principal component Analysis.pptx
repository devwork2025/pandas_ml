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6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8" d="100"/>
          <a:sy n="68" d="100"/>
        </p:scale>
        <p:origin x="-143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03E64-0648-452E-AA49-A7433CFC220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48F4C-171E-4451-B807-807B2129ECC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12F86A-AEA9-46D9-89DD-C3A09A879F43}" type="slidenum">
              <a:rPr lang="en-US"/>
              <a:pPr/>
              <a:t>5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9F9FE1-B1A2-44DE-BB45-57D2FA08DDCA}" type="slidenum">
              <a:rPr lang="en-US"/>
              <a:pPr/>
              <a:t>6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E9411D-3EA6-480E-BCFB-4997C7492D29}" type="slidenum">
              <a:rPr lang="en-US"/>
              <a:pPr/>
              <a:t>7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2A184D-B288-45DB-8992-A973E290897D}" type="slidenum">
              <a:rPr lang="en-US"/>
              <a:pPr/>
              <a:t>8</a:t>
            </a:fld>
            <a:endParaRPr 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087F9B-198C-4BDB-A691-1124D7924DFE}" type="slidenum">
              <a:rPr lang="en-US"/>
              <a:pPr/>
              <a:t>12</a:t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667C0A-2BA3-4A56-8B9E-EE6B8E0C1F55}" type="slidenum">
              <a:rPr lang="en-US"/>
              <a:pPr/>
              <a:t>15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CAD1B4-5666-4FE4-B6E5-19BF9EEC2CB4}" type="slidenum">
              <a:rPr lang="en-US"/>
              <a:pPr/>
              <a:t>16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497B7-0FAD-4C79-90F7-7CE983DC2FB0}" type="slidenum">
              <a:rPr lang="en-US"/>
              <a:pPr/>
              <a:t>17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4C551E-8023-4789-A66C-AEC06E1FD6E5}" type="slidenum">
              <a:rPr lang="en-US"/>
              <a:pPr/>
              <a:t>18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920" y="4343400"/>
            <a:ext cx="5028161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7345E98-B420-4FCB-9997-C6DFD2BE25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D89E56D-1FC2-45F3-BEA2-1CA55CD1B9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859A71A-7C3B-46B5-9AF5-D8996989E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D5BFB-53C1-4BFE-9D53-16AD0728B79E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6BAA-8F4B-443A-8E77-ABFD3C5AD8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otago.ac.nz/cosc453/student_tutorials/principal_components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Microsoft_Office_Excel_97-2003_Worksheet3.xls"/><Relationship Id="rId4" Type="http://schemas.openxmlformats.org/officeDocument/2006/relationships/oleObject" Target="../embeddings/Microsoft_Office_Excel_97-2003_Worksheet2.xls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Microsoft_Office_Excel_97-2003_Worksheet4.xls"/><Relationship Id="rId4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Principal component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Amrita </a:t>
            </a:r>
            <a:r>
              <a:rPr lang="en-US" dirty="0" err="1" smtClean="0"/>
              <a:t>Helwade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of PCA :</a:t>
            </a:r>
          </a:p>
          <a:p>
            <a:pPr lvl="1"/>
            <a:r>
              <a:rPr lang="en-US" dirty="0" smtClean="0"/>
              <a:t>Identify patterns</a:t>
            </a:r>
          </a:p>
          <a:p>
            <a:pPr lvl="1"/>
            <a:r>
              <a:rPr lang="en-US" dirty="0" smtClean="0"/>
              <a:t>Detect correlation between variables</a:t>
            </a:r>
          </a:p>
          <a:p>
            <a:pPr lvl="1"/>
            <a:r>
              <a:rPr lang="en-US" dirty="0" smtClean="0"/>
              <a:t>If strong co-relation found we can reduce the dimensionality</a:t>
            </a:r>
          </a:p>
          <a:p>
            <a:pPr lvl="1"/>
            <a:r>
              <a:rPr lang="en-US" dirty="0" smtClean="0"/>
              <a:t>Learn relationship between X and Y</a:t>
            </a:r>
          </a:p>
          <a:p>
            <a:pPr lvl="1"/>
            <a:r>
              <a:rPr lang="en-US" dirty="0" smtClean="0"/>
              <a:t>Find the principal axis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An exploratory technique used to reduce the dimensionality of the data set to 2D or 3D</a:t>
            </a:r>
            <a:endParaRPr lang="sv-SE" dirty="0" smtClean="0"/>
          </a:p>
          <a:p>
            <a:pPr>
              <a:lnSpc>
                <a:spcPct val="90000"/>
              </a:lnSpc>
            </a:pPr>
            <a:r>
              <a:rPr lang="sv-SE" dirty="0" smtClean="0"/>
              <a:t>Can be used to: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Reduce number of dimensions in data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Find patterns in high-dimensional data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Visualize data of high dimensionality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Example applications: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Face recognition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Image compression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Gene expression analysis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Does the data set ‘span’ the whole of d dimensional space?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For a matrix of </a:t>
            </a:r>
            <a:r>
              <a:rPr lang="en-US" i="1" dirty="0" smtClean="0"/>
              <a:t>m</a:t>
            </a:r>
            <a:r>
              <a:rPr lang="en-US" dirty="0" smtClean="0"/>
              <a:t> samples x </a:t>
            </a:r>
            <a:r>
              <a:rPr lang="en-US" i="1" dirty="0" smtClean="0"/>
              <a:t>n</a:t>
            </a:r>
            <a:r>
              <a:rPr lang="en-US" dirty="0" smtClean="0"/>
              <a:t> genes, create a new covariance matrix of size </a:t>
            </a:r>
            <a:r>
              <a:rPr lang="en-US" i="1" dirty="0" smtClean="0"/>
              <a:t>n</a:t>
            </a:r>
            <a:r>
              <a:rPr lang="en-US" dirty="0" smtClean="0"/>
              <a:t> x </a:t>
            </a:r>
            <a:r>
              <a:rPr lang="en-US" i="1" dirty="0" smtClean="0"/>
              <a:t>n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Transform some large number of variables into a smaller number of uncorrelated variables called principal components (PCs).</a:t>
            </a:r>
          </a:p>
          <a:p>
            <a:pPr>
              <a:lnSpc>
                <a:spcPct val="90000"/>
              </a:lnSpc>
            </a:pPr>
            <a:r>
              <a:rPr lang="da-DK" dirty="0" smtClean="0"/>
              <a:t>developed to capture as much of the variation in data as possible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373D0-8500-4AD5-96EC-A24C1960CAA9}" type="slidenum">
              <a:rPr lang="en-US"/>
              <a:pPr/>
              <a:t>5</a:t>
            </a:fld>
            <a:endParaRPr lang="en-US"/>
          </a:p>
        </p:txBody>
      </p:sp>
      <p:sp>
        <p:nvSpPr>
          <p:cNvPr id="70658" name="Line 2"/>
          <p:cNvSpPr>
            <a:spLocks noChangeShapeType="1"/>
          </p:cNvSpPr>
          <p:nvPr/>
        </p:nvSpPr>
        <p:spPr bwMode="auto">
          <a:xfrm rot="-10800000">
            <a:off x="4229100" y="1619250"/>
            <a:ext cx="0" cy="499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8080375" y="4403725"/>
            <a:ext cx="557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ea typeface="PMingLiU" pitchFamily="18" charset="-120"/>
              </a:rPr>
              <a:t>X1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4308475" y="1431925"/>
            <a:ext cx="557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ea typeface="PMingLiU" pitchFamily="18" charset="-120"/>
              </a:rPr>
              <a:t>X2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1371600" y="152400"/>
            <a:ext cx="6705600" cy="217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TW" sz="3600" b="1">
                <a:ea typeface="PMingLiU" pitchFamily="18" charset="-120"/>
              </a:rPr>
              <a:t>Principal Component Analysis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zh-TW">
                <a:latin typeface="Tahoma" pitchFamily="34" charset="0"/>
                <a:ea typeface="PMingLiU" pitchFamily="18" charset="-120"/>
              </a:rPr>
              <a:t>See online tutorials such as </a:t>
            </a:r>
            <a:r>
              <a:rPr lang="en-US" altLang="zh-TW">
                <a:latin typeface="Tahoma" pitchFamily="34" charset="0"/>
                <a:ea typeface="PMingLiU" pitchFamily="18" charset="-120"/>
                <a:hlinkClick r:id="rId3"/>
              </a:rPr>
              <a:t>http://www.cs.otago.ac.nz/cosc453/student_tutorials/principal_components.pdf</a:t>
            </a:r>
            <a:r>
              <a:rPr lang="en-US" altLang="zh-TW">
                <a:latin typeface="Tahoma" pitchFamily="34" charset="0"/>
                <a:ea typeface="PMingLiU" pitchFamily="18" charset="-120"/>
              </a:rPr>
              <a:t> </a:t>
            </a:r>
          </a:p>
          <a:p>
            <a:pPr eaLnBrk="0" hangingPunct="0"/>
            <a:endParaRPr lang="en-US" altLang="zh-TW">
              <a:ea typeface="PMingLiU" pitchFamily="18" charset="-12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152400" y="3276600"/>
            <a:ext cx="19812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dirty="0">
                <a:latin typeface="Tahoma" pitchFamily="34" charset="0"/>
                <a:ea typeface="PMingLiU" pitchFamily="18" charset="-120"/>
              </a:rPr>
              <a:t>Note: Y1 is the first </a:t>
            </a:r>
            <a:r>
              <a:rPr lang="en-US" altLang="zh-TW" dirty="0" err="1">
                <a:latin typeface="Tahoma" pitchFamily="34" charset="0"/>
                <a:ea typeface="PMingLiU" pitchFamily="18" charset="-120"/>
              </a:rPr>
              <a:t>eigen</a:t>
            </a:r>
            <a:r>
              <a:rPr lang="en-US" altLang="zh-TW" dirty="0">
                <a:latin typeface="Tahoma" pitchFamily="34" charset="0"/>
                <a:ea typeface="PMingLiU" pitchFamily="18" charset="-120"/>
              </a:rPr>
              <a:t> vector, </a:t>
            </a:r>
            <a:br>
              <a:rPr lang="en-US" altLang="zh-TW" dirty="0">
                <a:latin typeface="Tahoma" pitchFamily="34" charset="0"/>
                <a:ea typeface="PMingLiU" pitchFamily="18" charset="-120"/>
              </a:rPr>
            </a:br>
            <a:r>
              <a:rPr lang="en-US" altLang="zh-TW" dirty="0">
                <a:latin typeface="Tahoma" pitchFamily="34" charset="0"/>
                <a:ea typeface="PMingLiU" pitchFamily="18" charset="-120"/>
              </a:rPr>
              <a:t>Y2 is the second.  Y2 ignorable.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28700" y="2076450"/>
            <a:ext cx="7105650" cy="4133850"/>
            <a:chOff x="648" y="1308"/>
            <a:chExt cx="4476" cy="2604"/>
          </a:xfrm>
        </p:grpSpPr>
        <p:sp>
          <p:nvSpPr>
            <p:cNvPr id="70664" name="Line 8"/>
            <p:cNvSpPr>
              <a:spLocks noChangeShapeType="1"/>
            </p:cNvSpPr>
            <p:nvPr/>
          </p:nvSpPr>
          <p:spPr bwMode="auto">
            <a:xfrm>
              <a:off x="648" y="2748"/>
              <a:ext cx="44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5" name="Line 9"/>
            <p:cNvSpPr>
              <a:spLocks noChangeShapeType="1"/>
            </p:cNvSpPr>
            <p:nvPr/>
          </p:nvSpPr>
          <p:spPr bwMode="auto">
            <a:xfrm rot="406919" flipV="1">
              <a:off x="1260" y="1308"/>
              <a:ext cx="3228" cy="260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6" name="Line 10"/>
            <p:cNvSpPr>
              <a:spLocks noChangeShapeType="1"/>
            </p:cNvSpPr>
            <p:nvPr/>
          </p:nvSpPr>
          <p:spPr bwMode="auto">
            <a:xfrm flipH="1" flipV="1">
              <a:off x="1692" y="1764"/>
              <a:ext cx="1968" cy="19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667" name="Text Box 11"/>
            <p:cNvSpPr txBox="1">
              <a:spLocks noChangeArrowheads="1"/>
            </p:cNvSpPr>
            <p:nvPr/>
          </p:nvSpPr>
          <p:spPr bwMode="auto">
            <a:xfrm>
              <a:off x="4718" y="1334"/>
              <a:ext cx="3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>
                  <a:solidFill>
                    <a:schemeClr val="tx2"/>
                  </a:solidFill>
                  <a:ea typeface="PMingLiU" pitchFamily="18" charset="-120"/>
                </a:rPr>
                <a:t>Y1</a:t>
              </a:r>
            </a:p>
          </p:txBody>
        </p:sp>
        <p:sp>
          <p:nvSpPr>
            <p:cNvPr id="70668" name="Text Box 12"/>
            <p:cNvSpPr txBox="1">
              <a:spLocks noChangeArrowheads="1"/>
            </p:cNvSpPr>
            <p:nvPr/>
          </p:nvSpPr>
          <p:spPr bwMode="auto">
            <a:xfrm>
              <a:off x="1274" y="1622"/>
              <a:ext cx="3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>
                  <a:solidFill>
                    <a:schemeClr val="tx2"/>
                  </a:solidFill>
                  <a:ea typeface="PMingLiU" pitchFamily="18" charset="-120"/>
                </a:rPr>
                <a:t>Y2</a:t>
              </a:r>
            </a:p>
          </p:txBody>
        </p:sp>
        <p:sp>
          <p:nvSpPr>
            <p:cNvPr id="70669" name="Text Box 13"/>
            <p:cNvSpPr txBox="1">
              <a:spLocks noChangeArrowheads="1"/>
            </p:cNvSpPr>
            <p:nvPr/>
          </p:nvSpPr>
          <p:spPr bwMode="auto">
            <a:xfrm>
              <a:off x="3110" y="187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0" name="Text Box 14"/>
            <p:cNvSpPr txBox="1">
              <a:spLocks noChangeArrowheads="1"/>
            </p:cNvSpPr>
            <p:nvPr/>
          </p:nvSpPr>
          <p:spPr bwMode="auto">
            <a:xfrm>
              <a:off x="3206" y="197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1" name="Text Box 15"/>
            <p:cNvSpPr txBox="1">
              <a:spLocks noChangeArrowheads="1"/>
            </p:cNvSpPr>
            <p:nvPr/>
          </p:nvSpPr>
          <p:spPr bwMode="auto">
            <a:xfrm>
              <a:off x="3024" y="211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2" name="Text Box 16"/>
            <p:cNvSpPr txBox="1">
              <a:spLocks noChangeArrowheads="1"/>
            </p:cNvSpPr>
            <p:nvPr/>
          </p:nvSpPr>
          <p:spPr bwMode="auto">
            <a:xfrm>
              <a:off x="3398" y="216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3" name="Text Box 17"/>
            <p:cNvSpPr txBox="1">
              <a:spLocks noChangeArrowheads="1"/>
            </p:cNvSpPr>
            <p:nvPr/>
          </p:nvSpPr>
          <p:spPr bwMode="auto">
            <a:xfrm>
              <a:off x="3744" y="206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4" name="Text Box 18"/>
            <p:cNvSpPr txBox="1">
              <a:spLocks noChangeArrowheads="1"/>
            </p:cNvSpPr>
            <p:nvPr/>
          </p:nvSpPr>
          <p:spPr bwMode="auto">
            <a:xfrm>
              <a:off x="3600" y="177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5" name="Text Box 19"/>
            <p:cNvSpPr txBox="1">
              <a:spLocks noChangeArrowheads="1"/>
            </p:cNvSpPr>
            <p:nvPr/>
          </p:nvSpPr>
          <p:spPr bwMode="auto">
            <a:xfrm>
              <a:off x="3120" y="2208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6" name="Text Box 20"/>
            <p:cNvSpPr txBox="1">
              <a:spLocks noChangeArrowheads="1"/>
            </p:cNvSpPr>
            <p:nvPr/>
          </p:nvSpPr>
          <p:spPr bwMode="auto">
            <a:xfrm>
              <a:off x="2928" y="235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7" name="Text Box 21"/>
            <p:cNvSpPr txBox="1">
              <a:spLocks noChangeArrowheads="1"/>
            </p:cNvSpPr>
            <p:nvPr/>
          </p:nvSpPr>
          <p:spPr bwMode="auto">
            <a:xfrm>
              <a:off x="3024" y="2448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8" name="Text Box 22"/>
            <p:cNvSpPr txBox="1">
              <a:spLocks noChangeArrowheads="1"/>
            </p:cNvSpPr>
            <p:nvPr/>
          </p:nvSpPr>
          <p:spPr bwMode="auto">
            <a:xfrm>
              <a:off x="2880" y="2640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79" name="Text Box 23"/>
            <p:cNvSpPr txBox="1">
              <a:spLocks noChangeArrowheads="1"/>
            </p:cNvSpPr>
            <p:nvPr/>
          </p:nvSpPr>
          <p:spPr bwMode="auto">
            <a:xfrm>
              <a:off x="1718" y="283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0" name="Text Box 24"/>
            <p:cNvSpPr txBox="1">
              <a:spLocks noChangeArrowheads="1"/>
            </p:cNvSpPr>
            <p:nvPr/>
          </p:nvSpPr>
          <p:spPr bwMode="auto">
            <a:xfrm>
              <a:off x="1814" y="293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1" name="Text Box 25"/>
            <p:cNvSpPr txBox="1">
              <a:spLocks noChangeArrowheads="1"/>
            </p:cNvSpPr>
            <p:nvPr/>
          </p:nvSpPr>
          <p:spPr bwMode="auto">
            <a:xfrm>
              <a:off x="1632" y="307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2" name="Text Box 26"/>
            <p:cNvSpPr txBox="1">
              <a:spLocks noChangeArrowheads="1"/>
            </p:cNvSpPr>
            <p:nvPr/>
          </p:nvSpPr>
          <p:spPr bwMode="auto">
            <a:xfrm>
              <a:off x="2006" y="312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3" name="Text Box 27"/>
            <p:cNvSpPr txBox="1">
              <a:spLocks noChangeArrowheads="1"/>
            </p:cNvSpPr>
            <p:nvPr/>
          </p:nvSpPr>
          <p:spPr bwMode="auto">
            <a:xfrm>
              <a:off x="2352" y="302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4" name="Text Box 28"/>
            <p:cNvSpPr txBox="1">
              <a:spLocks noChangeArrowheads="1"/>
            </p:cNvSpPr>
            <p:nvPr/>
          </p:nvSpPr>
          <p:spPr bwMode="auto">
            <a:xfrm>
              <a:off x="1728" y="3168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5" name="Text Box 29"/>
            <p:cNvSpPr txBox="1">
              <a:spLocks noChangeArrowheads="1"/>
            </p:cNvSpPr>
            <p:nvPr/>
          </p:nvSpPr>
          <p:spPr bwMode="auto">
            <a:xfrm>
              <a:off x="2342" y="2548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6" name="Text Box 30"/>
            <p:cNvSpPr txBox="1">
              <a:spLocks noChangeArrowheads="1"/>
            </p:cNvSpPr>
            <p:nvPr/>
          </p:nvSpPr>
          <p:spPr bwMode="auto">
            <a:xfrm>
              <a:off x="2438" y="264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7" name="Text Box 31"/>
            <p:cNvSpPr txBox="1">
              <a:spLocks noChangeArrowheads="1"/>
            </p:cNvSpPr>
            <p:nvPr/>
          </p:nvSpPr>
          <p:spPr bwMode="auto">
            <a:xfrm>
              <a:off x="2256" y="2784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8" name="Text Box 32"/>
            <p:cNvSpPr txBox="1">
              <a:spLocks noChangeArrowheads="1"/>
            </p:cNvSpPr>
            <p:nvPr/>
          </p:nvSpPr>
          <p:spPr bwMode="auto">
            <a:xfrm>
              <a:off x="2630" y="283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89" name="Text Box 33"/>
            <p:cNvSpPr txBox="1">
              <a:spLocks noChangeArrowheads="1"/>
            </p:cNvSpPr>
            <p:nvPr/>
          </p:nvSpPr>
          <p:spPr bwMode="auto">
            <a:xfrm>
              <a:off x="2976" y="273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90" name="Text Box 34"/>
            <p:cNvSpPr txBox="1">
              <a:spLocks noChangeArrowheads="1"/>
            </p:cNvSpPr>
            <p:nvPr/>
          </p:nvSpPr>
          <p:spPr bwMode="auto">
            <a:xfrm>
              <a:off x="2352" y="2880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91" name="Text Box 35"/>
            <p:cNvSpPr txBox="1">
              <a:spLocks noChangeArrowheads="1"/>
            </p:cNvSpPr>
            <p:nvPr/>
          </p:nvSpPr>
          <p:spPr bwMode="auto">
            <a:xfrm>
              <a:off x="3552" y="225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92" name="Text Box 36"/>
            <p:cNvSpPr txBox="1">
              <a:spLocks noChangeArrowheads="1"/>
            </p:cNvSpPr>
            <p:nvPr/>
          </p:nvSpPr>
          <p:spPr bwMode="auto">
            <a:xfrm>
              <a:off x="3840" y="2016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  <p:sp>
          <p:nvSpPr>
            <p:cNvPr id="70693" name="Text Box 37"/>
            <p:cNvSpPr txBox="1">
              <a:spLocks noChangeArrowheads="1"/>
            </p:cNvSpPr>
            <p:nvPr/>
          </p:nvSpPr>
          <p:spPr bwMode="auto">
            <a:xfrm>
              <a:off x="3312" y="2352"/>
              <a:ext cx="1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sz="1400">
                  <a:latin typeface="Tahoma" pitchFamily="34" charset="0"/>
                  <a:ea typeface="PMingLiU" pitchFamily="18" charset="-120"/>
                </a:rPr>
                <a:t>x</a:t>
              </a:r>
            </a:p>
          </p:txBody>
        </p:sp>
      </p:grpSp>
      <p:sp>
        <p:nvSpPr>
          <p:cNvPr id="70694" name="Text Box 38"/>
          <p:cNvSpPr txBox="1">
            <a:spLocks noChangeArrowheads="1"/>
          </p:cNvSpPr>
          <p:nvPr/>
        </p:nvSpPr>
        <p:spPr bwMode="auto">
          <a:xfrm>
            <a:off x="5546725" y="4605338"/>
            <a:ext cx="27289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latin typeface="Tahoma" pitchFamily="34" charset="0"/>
                <a:ea typeface="PMingLiU" pitchFamily="18" charset="-120"/>
              </a:rPr>
              <a:t>Key observation:</a:t>
            </a:r>
          </a:p>
          <a:p>
            <a:r>
              <a:rPr lang="en-US" altLang="zh-TW">
                <a:latin typeface="Tahoma" pitchFamily="34" charset="0"/>
                <a:ea typeface="PMingLiU" pitchFamily="18" charset="-120"/>
              </a:rPr>
              <a:t>variance = largest!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78C41-C258-445B-9B09-1BE13E5E365D}" type="slidenum">
              <a:rPr lang="en-US"/>
              <a:pPr/>
              <a:t>6</a:t>
            </a:fld>
            <a:endParaRPr 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TW" sz="4000">
                <a:ea typeface="PMingLiU" pitchFamily="18" charset="-120"/>
              </a:rPr>
              <a:t>Principal Component Analysis: one attribute first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3813175" cy="4114800"/>
          </a:xfrm>
        </p:spPr>
        <p:txBody>
          <a:bodyPr/>
          <a:lstStyle/>
          <a:p>
            <a:r>
              <a:rPr lang="en-US" altLang="zh-TW" sz="2800">
                <a:ea typeface="PMingLiU" pitchFamily="18" charset="-120"/>
              </a:rPr>
              <a:t>Question: how much spread is in the data along the axis? (distance to the mean)</a:t>
            </a:r>
          </a:p>
          <a:p>
            <a:r>
              <a:rPr lang="en-US" altLang="zh-TW" sz="2800">
                <a:ea typeface="PMingLiU" pitchFamily="18" charset="-120"/>
              </a:rPr>
              <a:t>Variance=Standard deviation^2</a:t>
            </a:r>
          </a:p>
          <a:p>
            <a:endParaRPr lang="en-US" altLang="zh-TW" sz="2800">
              <a:ea typeface="PMingLiU" pitchFamily="18" charset="-120"/>
            </a:endParaRPr>
          </a:p>
          <a:p>
            <a:endParaRPr lang="zh-TW" altLang="en-US" sz="2800">
              <a:ea typeface="PMingLiU" pitchFamily="18" charset="-120"/>
            </a:endParaRP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>
            <p:ph sz="quarter" idx="2"/>
          </p:nvPr>
        </p:nvGraphicFramePr>
        <p:xfrm>
          <a:off x="6934200" y="914400"/>
          <a:ext cx="1524000" cy="5486400"/>
        </p:xfrm>
        <a:graphic>
          <a:graphicData uri="http://schemas.openxmlformats.org/drawingml/2006/table">
            <a:tbl>
              <a:tblPr/>
              <a:tblGrid>
                <a:gridCol w="1524000"/>
              </a:tblGrid>
              <a:tr h="17621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Temperature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42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28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24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18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28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28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078" name="Object 38"/>
          <p:cNvGraphicFramePr>
            <a:graphicFrameLocks noChangeAspect="1"/>
          </p:cNvGraphicFramePr>
          <p:nvPr>
            <p:ph sz="quarter" idx="3"/>
          </p:nvPr>
        </p:nvGraphicFramePr>
        <p:xfrm>
          <a:off x="2519363" y="4316413"/>
          <a:ext cx="2932112" cy="1550987"/>
        </p:xfrm>
        <a:graphic>
          <a:graphicData uri="http://schemas.openxmlformats.org/presentationml/2006/ole">
            <p:oleObj spid="_x0000_s1026" name="Equation" r:id="rId4" imgW="1143000" imgH="6346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DE63C-98D9-4043-AB60-2DA5BCD44C5E}" type="slidenum">
              <a:rPr lang="en-US"/>
              <a:pPr/>
              <a:t>7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PMingLiU" pitchFamily="18" charset="-120"/>
              </a:rPr>
              <a:t>Now consider two dimensions</a:t>
            </a:r>
          </a:p>
        </p:txBody>
      </p:sp>
      <p:graphicFrame>
        <p:nvGraphicFramePr>
          <p:cNvPr id="89091" name="Group 3"/>
          <p:cNvGraphicFramePr>
            <a:graphicFrameLocks noGrp="1"/>
          </p:cNvGraphicFramePr>
          <p:nvPr>
            <p:ph sz="half" idx="1"/>
          </p:nvPr>
        </p:nvGraphicFramePr>
        <p:xfrm>
          <a:off x="4714876" y="1214422"/>
          <a:ext cx="3962400" cy="5486400"/>
        </p:xfrm>
        <a:graphic>
          <a:graphicData uri="http://schemas.openxmlformats.org/drawingml/2006/table">
            <a:tbl>
              <a:tblPr/>
              <a:tblGrid>
                <a:gridCol w="2163763"/>
                <a:gridCol w="1798637"/>
              </a:tblGrid>
              <a:tr h="32543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X=Temperature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Y=Humidity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9141" name="Text Box 53"/>
          <p:cNvSpPr txBox="1">
            <a:spLocks noChangeArrowheads="1"/>
          </p:cNvSpPr>
          <p:nvPr/>
        </p:nvSpPr>
        <p:spPr bwMode="auto">
          <a:xfrm>
            <a:off x="593725" y="27003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TW" altLang="en-US">
              <a:latin typeface="Tahoma" pitchFamily="34" charset="0"/>
              <a:ea typeface="PMingLiU" pitchFamily="18" charset="-120"/>
            </a:endParaRPr>
          </a:p>
        </p:txBody>
      </p:sp>
      <p:graphicFrame>
        <p:nvGraphicFramePr>
          <p:cNvPr id="89142" name="Object 54"/>
          <p:cNvGraphicFramePr>
            <a:graphicFrameLocks noChangeAspect="1"/>
          </p:cNvGraphicFramePr>
          <p:nvPr>
            <p:ph sz="half" idx="2"/>
          </p:nvPr>
        </p:nvGraphicFramePr>
        <p:xfrm>
          <a:off x="682625" y="4840288"/>
          <a:ext cx="3378200" cy="1109662"/>
        </p:xfrm>
        <a:graphic>
          <a:graphicData uri="http://schemas.openxmlformats.org/presentationml/2006/ole">
            <p:oleObj spid="_x0000_s2050" name="Equation" r:id="rId4" imgW="1726920" imgH="596880" progId="Equation.3">
              <p:embed/>
            </p:oleObj>
          </a:graphicData>
        </a:graphic>
      </p:graphicFrame>
      <p:sp>
        <p:nvSpPr>
          <p:cNvPr id="89143" name="Text Box 55"/>
          <p:cNvSpPr txBox="1">
            <a:spLocks noChangeArrowheads="1"/>
          </p:cNvSpPr>
          <p:nvPr/>
        </p:nvSpPr>
        <p:spPr bwMode="auto">
          <a:xfrm>
            <a:off x="669925" y="1862138"/>
            <a:ext cx="4078288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latin typeface="Tahoma" pitchFamily="34" charset="0"/>
                <a:ea typeface="PMingLiU" pitchFamily="18" charset="-120"/>
              </a:rPr>
              <a:t>Covariance: measures the</a:t>
            </a:r>
            <a:br>
              <a:rPr lang="en-US" altLang="zh-TW">
                <a:latin typeface="Tahoma" pitchFamily="34" charset="0"/>
                <a:ea typeface="PMingLiU" pitchFamily="18" charset="-120"/>
              </a:rPr>
            </a:br>
            <a:r>
              <a:rPr lang="en-US" altLang="zh-TW">
                <a:latin typeface="Tahoma" pitchFamily="34" charset="0"/>
                <a:ea typeface="PMingLiU" pitchFamily="18" charset="-120"/>
              </a:rPr>
              <a:t>correlation between X and Y</a:t>
            </a:r>
          </a:p>
          <a:p>
            <a:pPr>
              <a:buFontTx/>
              <a:buChar char="•"/>
            </a:pPr>
            <a:r>
              <a:rPr lang="en-US" altLang="zh-TW">
                <a:latin typeface="Tahoma" pitchFamily="34" charset="0"/>
                <a:ea typeface="PMingLiU" pitchFamily="18" charset="-120"/>
              </a:rPr>
              <a:t> cov(X,Y)=0: independent</a:t>
            </a:r>
          </a:p>
          <a:p>
            <a:pPr>
              <a:buFontTx/>
              <a:buChar char="•"/>
            </a:pPr>
            <a:r>
              <a:rPr lang="en-US" altLang="zh-TW">
                <a:latin typeface="Tahoma" pitchFamily="34" charset="0"/>
                <a:ea typeface="PMingLiU" pitchFamily="18" charset="-120"/>
              </a:rPr>
              <a:t>Cov(X,Y)&gt;0: move same dir</a:t>
            </a:r>
          </a:p>
          <a:p>
            <a:pPr>
              <a:buFontTx/>
              <a:buChar char="•"/>
            </a:pPr>
            <a:r>
              <a:rPr lang="en-US" altLang="zh-TW">
                <a:latin typeface="Tahoma" pitchFamily="34" charset="0"/>
                <a:ea typeface="PMingLiU" pitchFamily="18" charset="-120"/>
              </a:rPr>
              <a:t>Cov(X,Y)&lt;0: move oppo dir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06E9-03AC-4713-8D1F-2A07C1859FEB}" type="slidenum">
              <a:rPr lang="en-US"/>
              <a:pPr/>
              <a:t>8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>
            <a:normAutofit fontScale="90000"/>
          </a:bodyPr>
          <a:lstStyle/>
          <a:p>
            <a:r>
              <a:rPr lang="sv-SE" sz="4000"/>
              <a:t>More than two attributes: covariance matrix</a:t>
            </a:r>
            <a:endParaRPr lang="en-US" altLang="zh-TW" sz="4000">
              <a:ea typeface="PMingLiU" pitchFamily="18" charset="-12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r>
              <a:rPr lang="sv-SE"/>
              <a:t>Contains covariance values between all possible dimensions (=attributes):</a:t>
            </a:r>
          </a:p>
          <a:p>
            <a:endParaRPr lang="sv-SE"/>
          </a:p>
          <a:p>
            <a:endParaRPr lang="sv-SE"/>
          </a:p>
          <a:p>
            <a:r>
              <a:rPr lang="sv-SE"/>
              <a:t>Example for three attributes (x,y,z):</a:t>
            </a:r>
          </a:p>
          <a:p>
            <a:endParaRPr lang="zh-TW" altLang="en-US">
              <a:ea typeface="PMingLiU" pitchFamily="18" charset="-120"/>
            </a:endParaRP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1689100" y="2590800"/>
          <a:ext cx="5232400" cy="638175"/>
        </p:xfrm>
        <a:graphic>
          <a:graphicData uri="http://schemas.openxmlformats.org/presentationml/2006/ole">
            <p:oleObj spid="_x0000_s3074" name="Equation" r:id="rId4" imgW="2082600" imgH="253800" progId="Equation.3">
              <p:embed/>
            </p:oleObj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1219200" y="4343400"/>
          <a:ext cx="5935663" cy="1787525"/>
        </p:xfrm>
        <a:graphic>
          <a:graphicData uri="http://schemas.openxmlformats.org/presentationml/2006/ole">
            <p:oleObj spid="_x0000_s3075" name="Equation" r:id="rId5" imgW="2361960" imgH="711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D684-0789-48B7-A48D-5EF56D30861D}" type="slidenum">
              <a:rPr lang="en-US"/>
              <a:pPr/>
              <a:t>9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4000"/>
              <a:t>Eigenvalues &amp; eigenvectors</a:t>
            </a:r>
            <a:endParaRPr lang="en-US" sz="40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8229600" cy="4495800"/>
          </a:xfrm>
        </p:spPr>
        <p:txBody>
          <a:bodyPr/>
          <a:lstStyle/>
          <a:p>
            <a:r>
              <a:rPr lang="sv-SE" sz="2800"/>
              <a:t>Vectors </a:t>
            </a:r>
            <a:r>
              <a:rPr lang="sv-SE" sz="2800" b="1"/>
              <a:t>x</a:t>
            </a:r>
            <a:r>
              <a:rPr lang="sv-SE" sz="2800"/>
              <a:t> having same direction as </a:t>
            </a:r>
            <a:r>
              <a:rPr lang="sv-SE" sz="2800" i="1"/>
              <a:t>A</a:t>
            </a:r>
            <a:r>
              <a:rPr lang="sv-SE" sz="2800" b="1"/>
              <a:t>x</a:t>
            </a:r>
            <a:r>
              <a:rPr lang="sv-SE" sz="2800"/>
              <a:t> are  called </a:t>
            </a:r>
            <a:r>
              <a:rPr lang="sv-SE" sz="2800" i="1"/>
              <a:t>eigenvectors</a:t>
            </a:r>
            <a:r>
              <a:rPr lang="sv-SE" sz="2800"/>
              <a:t> of </a:t>
            </a:r>
            <a:r>
              <a:rPr lang="sv-SE" sz="2800" i="1"/>
              <a:t>A</a:t>
            </a:r>
            <a:r>
              <a:rPr lang="sv-SE" sz="2800"/>
              <a:t> (</a:t>
            </a:r>
            <a:r>
              <a:rPr lang="sv-SE" sz="2800" i="1"/>
              <a:t>A</a:t>
            </a:r>
            <a:r>
              <a:rPr lang="sv-SE" sz="2800"/>
              <a:t> is an n by n matrix).</a:t>
            </a:r>
          </a:p>
          <a:p>
            <a:r>
              <a:rPr lang="sv-SE" sz="2800"/>
              <a:t>In the equation </a:t>
            </a:r>
            <a:r>
              <a:rPr lang="sv-SE" sz="2800" i="1"/>
              <a:t>A</a:t>
            </a:r>
            <a:r>
              <a:rPr lang="sv-SE" sz="2800" b="1"/>
              <a:t>x</a:t>
            </a:r>
            <a:r>
              <a:rPr lang="sv-SE" sz="2800"/>
              <a:t>=</a:t>
            </a:r>
            <a:r>
              <a:rPr lang="sv-SE" sz="2800">
                <a:sym typeface="Symbol" pitchFamily="18" charset="2"/>
              </a:rPr>
              <a:t></a:t>
            </a:r>
            <a:r>
              <a:rPr lang="sv-SE" sz="2800" b="1">
                <a:sym typeface="Symbol" pitchFamily="18" charset="2"/>
              </a:rPr>
              <a:t>x</a:t>
            </a:r>
            <a:r>
              <a:rPr lang="sv-SE" sz="2800">
                <a:sym typeface="Symbol" pitchFamily="18" charset="2"/>
              </a:rPr>
              <a:t>,  is called an </a:t>
            </a:r>
            <a:r>
              <a:rPr lang="sv-SE" sz="2800" i="1">
                <a:sym typeface="Symbol" pitchFamily="18" charset="2"/>
              </a:rPr>
              <a:t>eigenvalue</a:t>
            </a:r>
            <a:r>
              <a:rPr lang="sv-SE" sz="2800">
                <a:sym typeface="Symbol" pitchFamily="18" charset="2"/>
              </a:rPr>
              <a:t> of </a:t>
            </a:r>
            <a:r>
              <a:rPr lang="sv-SE" sz="2800" i="1">
                <a:sym typeface="Symbol" pitchFamily="18" charset="2"/>
              </a:rPr>
              <a:t>A</a:t>
            </a:r>
            <a:r>
              <a:rPr lang="sv-SE" sz="2800">
                <a:sym typeface="Symbol" pitchFamily="18" charset="2"/>
              </a:rPr>
              <a:t>.</a:t>
            </a:r>
          </a:p>
          <a:p>
            <a:pPr lvl="1"/>
            <a:endParaRPr lang="sv-SE" sz="2400"/>
          </a:p>
          <a:p>
            <a:endParaRPr lang="en-US" sz="2800"/>
          </a:p>
        </p:txBody>
      </p:sp>
      <p:graphicFrame>
        <p:nvGraphicFramePr>
          <p:cNvPr id="7175" name="Object 7"/>
          <p:cNvGraphicFramePr>
            <a:graphicFrameLocks noChangeAspect="1"/>
          </p:cNvGraphicFramePr>
          <p:nvPr>
            <p:ph sz="half" idx="2"/>
          </p:nvPr>
        </p:nvGraphicFramePr>
        <p:xfrm>
          <a:off x="2362200" y="4038600"/>
          <a:ext cx="3810000" cy="1001713"/>
        </p:xfrm>
        <a:graphic>
          <a:graphicData uri="http://schemas.openxmlformats.org/presentationml/2006/ole">
            <p:oleObj spid="_x0000_s4098" name="Equation" r:id="rId3" imgW="173988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BE22-49BD-40F5-B9DE-22D85445DF39}" type="slidenum">
              <a:rPr lang="en-US"/>
              <a:pPr/>
              <a:t>10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/>
              <a:t>Eigenvalues &amp; eigenvectors</a:t>
            </a:r>
            <a:endParaRPr lang="en-US" sz="36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1"/>
              <a:t>A</a:t>
            </a:r>
            <a:r>
              <a:rPr lang="sv-SE" b="1"/>
              <a:t>x</a:t>
            </a:r>
            <a:r>
              <a:rPr lang="sv-SE"/>
              <a:t>=</a:t>
            </a:r>
            <a:r>
              <a:rPr lang="sv-SE">
                <a:sym typeface="Symbol" pitchFamily="18" charset="2"/>
              </a:rPr>
              <a:t></a:t>
            </a:r>
            <a:r>
              <a:rPr lang="sv-SE" b="1">
                <a:sym typeface="Symbol" pitchFamily="18" charset="2"/>
              </a:rPr>
              <a:t>x  </a:t>
            </a:r>
            <a:r>
              <a:rPr lang="sv-SE">
                <a:sym typeface="Symbol" pitchFamily="18" charset="2"/>
              </a:rPr>
              <a:t>(</a:t>
            </a:r>
            <a:r>
              <a:rPr lang="sv-SE" i="1">
                <a:sym typeface="Symbol" pitchFamily="18" charset="2"/>
              </a:rPr>
              <a:t>A</a:t>
            </a:r>
            <a:r>
              <a:rPr lang="sv-SE">
                <a:sym typeface="Symbol" pitchFamily="18" charset="2"/>
              </a:rPr>
              <a:t>-I)</a:t>
            </a:r>
            <a:r>
              <a:rPr lang="sv-SE" b="1">
                <a:sym typeface="Symbol" pitchFamily="18" charset="2"/>
              </a:rPr>
              <a:t>x</a:t>
            </a:r>
            <a:r>
              <a:rPr lang="sv-SE">
                <a:sym typeface="Symbol" pitchFamily="18" charset="2"/>
              </a:rPr>
              <a:t>=0</a:t>
            </a:r>
          </a:p>
          <a:p>
            <a:r>
              <a:rPr lang="sv-SE">
                <a:sym typeface="Symbol" pitchFamily="18" charset="2"/>
              </a:rPr>
              <a:t>How to calculate </a:t>
            </a:r>
            <a:r>
              <a:rPr lang="sv-SE" b="1">
                <a:sym typeface="Symbol" pitchFamily="18" charset="2"/>
              </a:rPr>
              <a:t>x</a:t>
            </a:r>
            <a:r>
              <a:rPr lang="sv-SE">
                <a:sym typeface="Symbol" pitchFamily="18" charset="2"/>
              </a:rPr>
              <a:t> and :</a:t>
            </a:r>
          </a:p>
          <a:p>
            <a:pPr lvl="1"/>
            <a:r>
              <a:rPr lang="sv-SE"/>
              <a:t>Calculate </a:t>
            </a:r>
            <a:r>
              <a:rPr lang="sv-SE" i="1"/>
              <a:t>det</a:t>
            </a:r>
            <a:r>
              <a:rPr lang="sv-SE">
                <a:sym typeface="Symbol" pitchFamily="18" charset="2"/>
              </a:rPr>
              <a:t>(</a:t>
            </a:r>
            <a:r>
              <a:rPr lang="sv-SE" i="1">
                <a:sym typeface="Symbol" pitchFamily="18" charset="2"/>
              </a:rPr>
              <a:t>A</a:t>
            </a:r>
            <a:r>
              <a:rPr lang="sv-SE">
                <a:sym typeface="Symbol" pitchFamily="18" charset="2"/>
              </a:rPr>
              <a:t>-</a:t>
            </a:r>
            <a:r>
              <a:rPr lang="sv-SE" i="1">
                <a:sym typeface="Symbol" pitchFamily="18" charset="2"/>
              </a:rPr>
              <a:t>I</a:t>
            </a:r>
            <a:r>
              <a:rPr lang="sv-SE">
                <a:sym typeface="Symbol" pitchFamily="18" charset="2"/>
              </a:rPr>
              <a:t>), yields a polynomial (degree n)</a:t>
            </a:r>
          </a:p>
          <a:p>
            <a:pPr lvl="1"/>
            <a:r>
              <a:rPr lang="sv-SE"/>
              <a:t>Determine roots to </a:t>
            </a:r>
            <a:r>
              <a:rPr lang="sv-SE" i="1"/>
              <a:t>det</a:t>
            </a:r>
            <a:r>
              <a:rPr lang="sv-SE">
                <a:sym typeface="Symbol" pitchFamily="18" charset="2"/>
              </a:rPr>
              <a:t>(</a:t>
            </a:r>
            <a:r>
              <a:rPr lang="sv-SE" i="1">
                <a:sym typeface="Symbol" pitchFamily="18" charset="2"/>
              </a:rPr>
              <a:t>A</a:t>
            </a:r>
            <a:r>
              <a:rPr lang="sv-SE">
                <a:sym typeface="Symbol" pitchFamily="18" charset="2"/>
              </a:rPr>
              <a:t>-</a:t>
            </a:r>
            <a:r>
              <a:rPr lang="sv-SE" i="1">
                <a:sym typeface="Symbol" pitchFamily="18" charset="2"/>
              </a:rPr>
              <a:t>I</a:t>
            </a:r>
            <a:r>
              <a:rPr lang="sv-SE">
                <a:sym typeface="Symbol" pitchFamily="18" charset="2"/>
              </a:rPr>
              <a:t>)</a:t>
            </a:r>
            <a:r>
              <a:rPr lang="sv-SE"/>
              <a:t>=0, roots are eigenvalues </a:t>
            </a:r>
            <a:r>
              <a:rPr lang="sv-SE">
                <a:sym typeface="Symbol" pitchFamily="18" charset="2"/>
              </a:rPr>
              <a:t></a:t>
            </a:r>
          </a:p>
          <a:p>
            <a:pPr lvl="1"/>
            <a:r>
              <a:rPr lang="sv-SE">
                <a:sym typeface="Symbol" pitchFamily="18" charset="2"/>
              </a:rPr>
              <a:t>Solve (</a:t>
            </a:r>
            <a:r>
              <a:rPr lang="sv-SE" i="1">
                <a:sym typeface="Symbol" pitchFamily="18" charset="2"/>
              </a:rPr>
              <a:t>A</a:t>
            </a:r>
            <a:r>
              <a:rPr lang="sv-SE">
                <a:sym typeface="Symbol" pitchFamily="18" charset="2"/>
              </a:rPr>
              <a:t>- </a:t>
            </a:r>
            <a:r>
              <a:rPr lang="sv-SE" i="1">
                <a:sym typeface="Symbol" pitchFamily="18" charset="2"/>
              </a:rPr>
              <a:t>I</a:t>
            </a:r>
            <a:r>
              <a:rPr lang="sv-SE">
                <a:sym typeface="Symbol" pitchFamily="18" charset="2"/>
              </a:rPr>
              <a:t>) </a:t>
            </a:r>
            <a:r>
              <a:rPr lang="sv-SE" b="1">
                <a:sym typeface="Symbol" pitchFamily="18" charset="2"/>
              </a:rPr>
              <a:t>x</a:t>
            </a:r>
            <a:r>
              <a:rPr lang="sv-SE">
                <a:sym typeface="Symbol" pitchFamily="18" charset="2"/>
              </a:rPr>
              <a:t>=0 for each  to obtain eigenvectors </a:t>
            </a:r>
            <a:r>
              <a:rPr lang="sv-SE" b="1">
                <a:sym typeface="Symbol" pitchFamily="18" charset="2"/>
              </a:rPr>
              <a:t>x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B04-300C-405F-9BDC-E81D15E3BB9B}" type="slidenum">
              <a:rPr lang="en-US"/>
              <a:pPr/>
              <a:t>11</a:t>
            </a:fld>
            <a:endParaRPr 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da-DK"/>
              <a:t>Principal components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153400" cy="5105400"/>
          </a:xfrm>
        </p:spPr>
        <p:txBody>
          <a:bodyPr/>
          <a:lstStyle/>
          <a:p>
            <a:r>
              <a:rPr lang="da-DK"/>
              <a:t>1. principal component (PC1)</a:t>
            </a:r>
          </a:p>
          <a:p>
            <a:pPr lvl="1"/>
            <a:r>
              <a:rPr lang="da-DK"/>
              <a:t>The eigenvalue with the largest absolute value will indicate that the data have the largest variance along its eigenvector, the direction along which there is greatest variation</a:t>
            </a:r>
          </a:p>
          <a:p>
            <a:r>
              <a:rPr lang="da-DK"/>
              <a:t>2. principal component (PC2)</a:t>
            </a:r>
          </a:p>
          <a:p>
            <a:pPr lvl="1"/>
            <a:r>
              <a:rPr lang="da-DK"/>
              <a:t>the direction with maximum variation left in data,  orthogonal to the 1. PC </a:t>
            </a:r>
          </a:p>
          <a:p>
            <a:r>
              <a:rPr lang="da-DK"/>
              <a:t>In general, only few directions manage to capture most of the variability in the data.</a:t>
            </a:r>
          </a:p>
          <a:p>
            <a:pPr lvl="1"/>
            <a:endParaRPr lang="da-DK"/>
          </a:p>
          <a:p>
            <a:endParaRPr lang="da-DK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AF0A4-C15E-46C5-A392-18884B1BA69C}" type="slidenum">
              <a:rPr lang="en-US"/>
              <a:pPr/>
              <a:t>12</a:t>
            </a:fld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PMingLiU" pitchFamily="18" charset="-120"/>
              </a:rPr>
              <a:t>Steps of PCA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3962400" cy="4495800"/>
          </a:xfrm>
        </p:spPr>
        <p:txBody>
          <a:bodyPr>
            <a:normAutofit fontScale="92500"/>
          </a:bodyPr>
          <a:lstStyle/>
          <a:p>
            <a:r>
              <a:rPr lang="en-US" altLang="zh-TW">
                <a:ea typeface="PMingLiU" pitchFamily="18" charset="-120"/>
              </a:rPr>
              <a:t>Let      be the mean vector (taking the mean of all rows)</a:t>
            </a:r>
          </a:p>
          <a:p>
            <a:r>
              <a:rPr lang="en-US" altLang="zh-TW">
                <a:ea typeface="PMingLiU" pitchFamily="18" charset="-120"/>
              </a:rPr>
              <a:t>Adjust the original data by the mean</a:t>
            </a:r>
          </a:p>
          <a:p>
            <a:pPr lvl="1">
              <a:buFontTx/>
              <a:buNone/>
            </a:pPr>
            <a:r>
              <a:rPr lang="en-US" altLang="zh-TW">
                <a:ea typeface="PMingLiU" pitchFamily="18" charset="-120"/>
              </a:rPr>
              <a:t>X</a:t>
            </a:r>
            <a:r>
              <a:rPr lang="en-US" altLang="zh-TW">
                <a:latin typeface="Tahoma"/>
                <a:ea typeface="PMingLiU" pitchFamily="18" charset="-120"/>
              </a:rPr>
              <a:t>’</a:t>
            </a:r>
            <a:r>
              <a:rPr lang="en-US" altLang="zh-TW">
                <a:ea typeface="PMingLiU" pitchFamily="18" charset="-120"/>
              </a:rPr>
              <a:t> = X </a:t>
            </a:r>
            <a:r>
              <a:rPr lang="en-US" altLang="zh-TW">
                <a:latin typeface="Tahoma"/>
                <a:ea typeface="PMingLiU" pitchFamily="18" charset="-120"/>
              </a:rPr>
              <a:t>–</a:t>
            </a:r>
            <a:r>
              <a:rPr lang="en-US" altLang="zh-TW">
                <a:ea typeface="PMingLiU" pitchFamily="18" charset="-120"/>
              </a:rPr>
              <a:t> </a:t>
            </a:r>
          </a:p>
          <a:p>
            <a:r>
              <a:rPr lang="en-US" altLang="zh-TW">
                <a:ea typeface="PMingLiU" pitchFamily="18" charset="-120"/>
              </a:rPr>
              <a:t>Compute the covariance matrix C of adjusted X</a:t>
            </a:r>
          </a:p>
          <a:p>
            <a:r>
              <a:rPr lang="en-US" altLang="zh-TW">
                <a:ea typeface="PMingLiU" pitchFamily="18" charset="-120"/>
              </a:rPr>
              <a:t>Find the eigenvectors and eigenvalues of C.</a:t>
            </a:r>
          </a:p>
          <a:p>
            <a:endParaRPr lang="zh-TW" altLang="en-US">
              <a:ea typeface="PMingLiU" pitchFamily="18" charset="-120"/>
            </a:endParaRPr>
          </a:p>
        </p:txBody>
      </p:sp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2362200" y="3581400"/>
          <a:ext cx="422275" cy="457200"/>
        </p:xfrm>
        <a:graphic>
          <a:graphicData uri="http://schemas.openxmlformats.org/presentationml/2006/ole">
            <p:oleObj spid="_x0000_s5122" name="Equation" r:id="rId4" imgW="152280" imgH="164880" progId="Equation.3">
              <p:embed/>
            </p:oleObj>
          </a:graphicData>
        </a:graphic>
      </p:graphicFrame>
      <p:sp>
        <p:nvSpPr>
          <p:cNvPr id="9728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524000"/>
            <a:ext cx="3813175" cy="4114800"/>
          </a:xfrm>
        </p:spPr>
        <p:txBody>
          <a:bodyPr/>
          <a:lstStyle/>
          <a:p>
            <a:r>
              <a:rPr lang="sv-SE" sz="2400"/>
              <a:t>For matrix </a:t>
            </a:r>
            <a:r>
              <a:rPr lang="sv-SE" sz="2400" i="1"/>
              <a:t>C, v</a:t>
            </a:r>
            <a:r>
              <a:rPr lang="sv-SE" sz="2400"/>
              <a:t>ectors </a:t>
            </a:r>
            <a:r>
              <a:rPr lang="sv-SE" sz="2400" b="1"/>
              <a:t>e</a:t>
            </a:r>
            <a:r>
              <a:rPr lang="sv-SE" sz="2400"/>
              <a:t> (=column vector) having same direction as </a:t>
            </a:r>
            <a:r>
              <a:rPr lang="sv-SE" sz="2400" i="1"/>
              <a:t>C</a:t>
            </a:r>
            <a:r>
              <a:rPr lang="sv-SE" sz="2400" b="1"/>
              <a:t>e</a:t>
            </a:r>
            <a:r>
              <a:rPr lang="sv-SE" sz="2400"/>
              <a:t> :</a:t>
            </a:r>
          </a:p>
          <a:p>
            <a:pPr lvl="1"/>
            <a:r>
              <a:rPr lang="sv-SE" sz="2000" i="1"/>
              <a:t>eigenvectors</a:t>
            </a:r>
            <a:r>
              <a:rPr lang="sv-SE" sz="2000"/>
              <a:t> of </a:t>
            </a:r>
            <a:r>
              <a:rPr lang="sv-SE" sz="2000" i="1"/>
              <a:t>C</a:t>
            </a:r>
            <a:r>
              <a:rPr lang="sv-SE" sz="2000"/>
              <a:t> is  </a:t>
            </a:r>
            <a:r>
              <a:rPr lang="sv-SE" sz="2000" b="1"/>
              <a:t>e </a:t>
            </a:r>
            <a:r>
              <a:rPr lang="sv-SE" sz="2000"/>
              <a:t>such that</a:t>
            </a:r>
            <a:r>
              <a:rPr lang="sv-SE" sz="2000" b="1"/>
              <a:t> </a:t>
            </a:r>
            <a:r>
              <a:rPr lang="sv-SE" sz="2000" i="1"/>
              <a:t>C</a:t>
            </a:r>
            <a:r>
              <a:rPr lang="sv-SE" sz="2000" b="1"/>
              <a:t>e</a:t>
            </a:r>
            <a:r>
              <a:rPr lang="sv-SE" sz="2000"/>
              <a:t>=</a:t>
            </a:r>
            <a:r>
              <a:rPr lang="sv-SE" sz="2000">
                <a:sym typeface="Symbol" pitchFamily="18" charset="2"/>
              </a:rPr>
              <a:t></a:t>
            </a:r>
            <a:r>
              <a:rPr lang="sv-SE" sz="2000" b="1">
                <a:sym typeface="Symbol" pitchFamily="18" charset="2"/>
              </a:rPr>
              <a:t>e</a:t>
            </a:r>
            <a:r>
              <a:rPr lang="sv-SE" sz="2000">
                <a:sym typeface="Symbol" pitchFamily="18" charset="2"/>
              </a:rPr>
              <a:t>, </a:t>
            </a:r>
          </a:p>
          <a:p>
            <a:pPr lvl="1"/>
            <a:r>
              <a:rPr lang="sv-SE" sz="2000">
                <a:sym typeface="Symbol" pitchFamily="18" charset="2"/>
              </a:rPr>
              <a:t> is called an </a:t>
            </a:r>
            <a:r>
              <a:rPr lang="sv-SE" sz="2000" i="1">
                <a:sym typeface="Symbol" pitchFamily="18" charset="2"/>
              </a:rPr>
              <a:t>eigenvalue</a:t>
            </a:r>
            <a:r>
              <a:rPr lang="sv-SE" sz="2000">
                <a:sym typeface="Symbol" pitchFamily="18" charset="2"/>
              </a:rPr>
              <a:t> of </a:t>
            </a:r>
            <a:r>
              <a:rPr lang="sv-SE" sz="2000" i="1">
                <a:sym typeface="Symbol" pitchFamily="18" charset="2"/>
              </a:rPr>
              <a:t>C</a:t>
            </a:r>
            <a:r>
              <a:rPr lang="sv-SE" sz="2000">
                <a:sym typeface="Symbol" pitchFamily="18" charset="2"/>
              </a:rPr>
              <a:t>.</a:t>
            </a:r>
          </a:p>
          <a:p>
            <a:r>
              <a:rPr lang="sv-SE" sz="2400" i="1"/>
              <a:t>C</a:t>
            </a:r>
            <a:r>
              <a:rPr lang="sv-SE" sz="2400" b="1"/>
              <a:t>e</a:t>
            </a:r>
            <a:r>
              <a:rPr lang="sv-SE" sz="2400"/>
              <a:t>=</a:t>
            </a:r>
            <a:r>
              <a:rPr lang="sv-SE" sz="2400">
                <a:sym typeface="Symbol" pitchFamily="18" charset="2"/>
              </a:rPr>
              <a:t></a:t>
            </a:r>
            <a:r>
              <a:rPr lang="sv-SE" sz="2400" b="1">
                <a:sym typeface="Symbol" pitchFamily="18" charset="2"/>
              </a:rPr>
              <a:t>e  </a:t>
            </a:r>
            <a:r>
              <a:rPr lang="sv-SE" sz="2400">
                <a:sym typeface="Symbol" pitchFamily="18" charset="2"/>
              </a:rPr>
              <a:t>(</a:t>
            </a:r>
            <a:r>
              <a:rPr lang="sv-SE" sz="2400" i="1">
                <a:sym typeface="Symbol" pitchFamily="18" charset="2"/>
              </a:rPr>
              <a:t>C</a:t>
            </a:r>
            <a:r>
              <a:rPr lang="sv-SE" sz="2400">
                <a:sym typeface="Symbol" pitchFamily="18" charset="2"/>
              </a:rPr>
              <a:t>-</a:t>
            </a:r>
            <a:r>
              <a:rPr lang="sv-SE" sz="2000">
                <a:sym typeface="Symbol" pitchFamily="18" charset="2"/>
              </a:rPr>
              <a:t>I)</a:t>
            </a:r>
            <a:r>
              <a:rPr lang="sv-SE" sz="2000" b="1">
                <a:sym typeface="Symbol" pitchFamily="18" charset="2"/>
              </a:rPr>
              <a:t>e</a:t>
            </a:r>
            <a:r>
              <a:rPr lang="sv-SE" sz="2000">
                <a:sym typeface="Symbol" pitchFamily="18" charset="2"/>
              </a:rPr>
              <a:t>=0</a:t>
            </a:r>
          </a:p>
          <a:p>
            <a:pPr lvl="1"/>
            <a:endParaRPr lang="sv-SE" sz="2000" b="1">
              <a:sym typeface="Symbol" pitchFamily="18" charset="2"/>
            </a:endParaRPr>
          </a:p>
          <a:p>
            <a:pPr lvl="1"/>
            <a:r>
              <a:rPr lang="sv-SE" sz="2000" b="1">
                <a:sym typeface="Symbol" pitchFamily="18" charset="2"/>
              </a:rPr>
              <a:t>Most data mining packages do this for you.</a:t>
            </a:r>
            <a:endParaRPr lang="en-US" altLang="zh-TW" sz="2000">
              <a:ea typeface="PMingLiU" pitchFamily="18" charset="-120"/>
            </a:endParaRPr>
          </a:p>
          <a:p>
            <a:endParaRPr lang="sv-SE" sz="2000">
              <a:sym typeface="Symbol" pitchFamily="18" charset="2"/>
            </a:endParaRPr>
          </a:p>
          <a:p>
            <a:endParaRPr lang="zh-TW" altLang="en-US">
              <a:ea typeface="PMingLiU" pitchFamily="18" charset="-120"/>
            </a:endParaRPr>
          </a:p>
        </p:txBody>
      </p:sp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1600200" y="1295400"/>
          <a:ext cx="422275" cy="457200"/>
        </p:xfrm>
        <a:graphic>
          <a:graphicData uri="http://schemas.openxmlformats.org/presentationml/2006/ole">
            <p:oleObj spid="_x0000_s5123" name="Equation" r:id="rId5" imgW="152280" imgH="164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8F66-C340-46E6-9000-86093C79C71B}" type="slidenum">
              <a:rPr lang="en-US"/>
              <a:pPr/>
              <a:t>13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en-US"/>
              <a:t>Eigenvalues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5257800"/>
          </a:xfrm>
        </p:spPr>
        <p:txBody>
          <a:bodyPr/>
          <a:lstStyle/>
          <a:p>
            <a:r>
              <a:rPr lang="en-US"/>
              <a:t>Calculate eigenvalues </a:t>
            </a:r>
            <a:r>
              <a:rPr lang="sv-SE">
                <a:sym typeface="Symbol" pitchFamily="18" charset="2"/>
              </a:rPr>
              <a:t></a:t>
            </a:r>
            <a:r>
              <a:rPr lang="en-US"/>
              <a:t> and eigenvectors </a:t>
            </a:r>
            <a:r>
              <a:rPr lang="en-US" b="1"/>
              <a:t>x</a:t>
            </a:r>
            <a:r>
              <a:rPr lang="en-US"/>
              <a:t> for covariance matrix:</a:t>
            </a:r>
          </a:p>
          <a:p>
            <a:pPr lvl="1"/>
            <a:r>
              <a:rPr lang="en-US"/>
              <a:t>Eigenvalues </a:t>
            </a:r>
            <a:r>
              <a:rPr lang="sv-SE">
                <a:sym typeface="Symbol" pitchFamily="18" charset="2"/>
              </a:rPr>
              <a:t></a:t>
            </a:r>
            <a:r>
              <a:rPr lang="en-US" i="1" baseline="-25000"/>
              <a:t>j</a:t>
            </a:r>
            <a:r>
              <a:rPr lang="en-US"/>
              <a:t> are used for calculation of [% of total variance] (</a:t>
            </a:r>
            <a:r>
              <a:rPr lang="en-US" i="1"/>
              <a:t>V</a:t>
            </a:r>
            <a:r>
              <a:rPr lang="en-US" i="1" baseline="-25000"/>
              <a:t>j</a:t>
            </a:r>
            <a:r>
              <a:rPr lang="en-US"/>
              <a:t>) for each component</a:t>
            </a:r>
            <a:r>
              <a:rPr lang="en-US" i="1"/>
              <a:t> j</a:t>
            </a:r>
            <a:r>
              <a:rPr lang="en-US"/>
              <a:t>: 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>
              <a:buFontTx/>
              <a:buNone/>
            </a:pPr>
            <a:endParaRPr lang="en-US"/>
          </a:p>
          <a:p>
            <a:pPr lvl="1"/>
            <a:endParaRPr lang="en-US"/>
          </a:p>
        </p:txBody>
      </p:sp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1143000" y="3886200"/>
          <a:ext cx="6276975" cy="1590675"/>
        </p:xfrm>
        <a:graphic>
          <a:graphicData uri="http://schemas.openxmlformats.org/presentationml/2006/ole">
            <p:oleObj spid="_x0000_s6146" name="Equation" r:id="rId3" imgW="1981080" imgH="647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4FE70-92F9-462F-866F-BA35312F4573}" type="slidenum">
              <a:rPr lang="en-US"/>
              <a:pPr/>
              <a:t>14</a:t>
            </a:fld>
            <a:endParaRPr 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Principal components - Variance</a:t>
            </a: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1358900" y="1989138"/>
          <a:ext cx="6613525" cy="3100387"/>
        </p:xfrm>
        <a:graphic>
          <a:graphicData uri="http://schemas.openxmlformats.org/presentationml/2006/ole">
            <p:oleObj spid="_x0000_s7170" name="Chart" r:id="rId3" imgW="4667278" imgH="2524285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72309-972D-4161-A80B-51AF2C551AC3}" type="slidenum">
              <a:rPr lang="en-US"/>
              <a:pPr/>
              <a:t>15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467600" cy="762000"/>
          </a:xfrm>
        </p:spPr>
        <p:txBody>
          <a:bodyPr/>
          <a:lstStyle/>
          <a:p>
            <a:r>
              <a:rPr lang="en-US" altLang="zh-TW">
                <a:ea typeface="PMingLiU" pitchFamily="18" charset="-120"/>
              </a:rPr>
              <a:t>Transformed Data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304800" y="1066800"/>
            <a:ext cx="8610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TW" sz="2800">
                <a:ea typeface="PMingLiU" pitchFamily="18" charset="-120"/>
              </a:rPr>
              <a:t>Eigenvalues </a:t>
            </a:r>
            <a:r>
              <a:rPr lang="sv-SE" sz="2800">
                <a:sym typeface="Symbol" pitchFamily="18" charset="2"/>
              </a:rPr>
              <a:t></a:t>
            </a:r>
            <a:r>
              <a:rPr lang="en-US" altLang="zh-TW" sz="2800" i="1" baseline="-25000">
                <a:ea typeface="PMingLiU" pitchFamily="18" charset="-120"/>
              </a:rPr>
              <a:t>j</a:t>
            </a:r>
            <a:r>
              <a:rPr lang="en-US" altLang="zh-TW" sz="2800">
                <a:ea typeface="PMingLiU" pitchFamily="18" charset="-120"/>
              </a:rPr>
              <a:t> corresponds to variance on each component</a:t>
            </a:r>
            <a:r>
              <a:rPr lang="en-US" altLang="zh-TW" sz="2800" i="1">
                <a:ea typeface="PMingLiU" pitchFamily="18" charset="-120"/>
              </a:rPr>
              <a:t> j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TW" sz="2800" i="1">
                <a:ea typeface="PMingLiU" pitchFamily="18" charset="-120"/>
              </a:rPr>
              <a:t>Thus, sort by </a:t>
            </a:r>
            <a:r>
              <a:rPr lang="sv-SE" sz="2800">
                <a:sym typeface="Symbol" pitchFamily="18" charset="2"/>
              </a:rPr>
              <a:t></a:t>
            </a:r>
            <a:r>
              <a:rPr lang="en-US" altLang="zh-TW" sz="2800" i="1" baseline="-25000">
                <a:ea typeface="PMingLiU" pitchFamily="18" charset="-120"/>
              </a:rPr>
              <a:t>j</a:t>
            </a:r>
            <a:r>
              <a:rPr lang="en-US" altLang="zh-TW" sz="2800">
                <a:ea typeface="PMingLiU" pitchFamily="18" charset="-120"/>
              </a:rPr>
              <a:t>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TW" sz="2800">
                <a:ea typeface="PMingLiU" pitchFamily="18" charset="-120"/>
              </a:rPr>
              <a:t>Take the first </a:t>
            </a:r>
            <a:r>
              <a:rPr lang="en-US" altLang="zh-TW" sz="2800" i="1">
                <a:ea typeface="PMingLiU" pitchFamily="18" charset="-120"/>
              </a:rPr>
              <a:t>p</a:t>
            </a:r>
            <a:r>
              <a:rPr lang="en-US" altLang="zh-TW" sz="2800">
                <a:ea typeface="PMingLiU" pitchFamily="18" charset="-120"/>
              </a:rPr>
              <a:t> eigenvectors </a:t>
            </a:r>
            <a:r>
              <a:rPr lang="en-US" altLang="zh-TW" sz="2800" b="1">
                <a:ea typeface="PMingLiU" pitchFamily="18" charset="-120"/>
              </a:rPr>
              <a:t>e</a:t>
            </a:r>
            <a:r>
              <a:rPr lang="en-US" altLang="zh-TW" sz="2800" b="1" baseline="-25000">
                <a:ea typeface="PMingLiU" pitchFamily="18" charset="-120"/>
              </a:rPr>
              <a:t>i;  </a:t>
            </a:r>
            <a:r>
              <a:rPr lang="en-US" altLang="zh-TW" sz="2800">
                <a:ea typeface="PMingLiU" pitchFamily="18" charset="-120"/>
              </a:rPr>
              <a:t>where p is the number of top eigenvalues</a:t>
            </a:r>
            <a:endParaRPr lang="en-US" altLang="zh-TW" sz="2800" b="1" baseline="-25000">
              <a:ea typeface="PMingLiU" pitchFamily="18" charset="-12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TW" sz="2800">
                <a:ea typeface="PMingLiU" pitchFamily="18" charset="-120"/>
              </a:rPr>
              <a:t>These are the directions with the largest variances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TW">
              <a:ea typeface="PMingLiU" pitchFamily="18" charset="-12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en-US">
              <a:ea typeface="PMingLiU" pitchFamily="18" charset="-120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>
            <p:ph idx="1"/>
          </p:nvPr>
        </p:nvGraphicFramePr>
        <p:xfrm>
          <a:off x="2100263" y="3962400"/>
          <a:ext cx="3800475" cy="2649538"/>
        </p:xfrm>
        <a:graphic>
          <a:graphicData uri="http://schemas.openxmlformats.org/presentationml/2006/ole">
            <p:oleObj spid="_x0000_s8194" name="Equation" r:id="rId4" imgW="1384200" imgH="965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7F3EE-8D41-4FCC-877C-6A195000BB4C}" type="slidenum">
              <a:rPr lang="en-US"/>
              <a:pPr/>
              <a:t>16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>
                <a:ea typeface="PMingLiU" pitchFamily="18" charset="-120"/>
              </a:rPr>
              <a:t>An Example</a:t>
            </a:r>
          </a:p>
        </p:txBody>
      </p:sp>
      <p:graphicFrame>
        <p:nvGraphicFramePr>
          <p:cNvPr id="59395" name="Group 3"/>
          <p:cNvGraphicFramePr>
            <a:graphicFrameLocks noGrp="1"/>
          </p:cNvGraphicFramePr>
          <p:nvPr>
            <p:ph sz="half" idx="1"/>
          </p:nvPr>
        </p:nvGraphicFramePr>
        <p:xfrm>
          <a:off x="685800" y="1981200"/>
          <a:ext cx="3962400" cy="5090160"/>
        </p:xfrm>
        <a:graphic>
          <a:graphicData uri="http://schemas.openxmlformats.org/drawingml/2006/table">
            <a:tbl>
              <a:tblPr/>
              <a:tblGrid>
                <a:gridCol w="1004888"/>
                <a:gridCol w="1006475"/>
                <a:gridCol w="1147762"/>
                <a:gridCol w="803275"/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X1</a:t>
                      </a:r>
                      <a:endParaRPr kumimoji="0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X2</a:t>
                      </a:r>
                      <a:endParaRPr kumimoji="0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X1'</a:t>
                      </a:r>
                      <a:endParaRPr kumimoji="0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X2'</a:t>
                      </a:r>
                      <a:endParaRPr kumimoji="0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19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63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-5.1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9.25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74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14.9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20.25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30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87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5.9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33.25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30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23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5.9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-30.75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15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-9.1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-18.75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15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43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-9.1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-10.75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15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32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-9.1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-21.75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30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  <a:cs typeface="Arial" charset="0"/>
                        </a:rPr>
                        <a:t>73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5.9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19.25</a:t>
                      </a:r>
                      <a:endParaRPr kumimoji="0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9447" name="Object 55"/>
          <p:cNvGraphicFramePr>
            <a:graphicFrameLocks noChangeAspect="1"/>
          </p:cNvGraphicFramePr>
          <p:nvPr>
            <p:ph sz="quarter" idx="2"/>
          </p:nvPr>
        </p:nvGraphicFramePr>
        <p:xfrm>
          <a:off x="4743450" y="1992313"/>
          <a:ext cx="3605213" cy="1965325"/>
        </p:xfrm>
        <a:graphic>
          <a:graphicData uri="http://schemas.openxmlformats.org/presentationml/2006/ole">
            <p:oleObj spid="_x0000_s9218" name="Chart" r:id="rId4" imgW="4257751" imgH="2438400" progId="Excel.Sheet.8">
              <p:embed/>
            </p:oleObj>
          </a:graphicData>
        </a:graphic>
      </p:graphicFrame>
      <p:sp>
        <p:nvSpPr>
          <p:cNvPr id="59448" name="Text Box 56"/>
          <p:cNvSpPr txBox="1">
            <a:spLocks noChangeArrowheads="1"/>
          </p:cNvSpPr>
          <p:nvPr/>
        </p:nvSpPr>
        <p:spPr bwMode="auto">
          <a:xfrm>
            <a:off x="3870325" y="24717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TW" altLang="en-US">
              <a:latin typeface="Tahoma" pitchFamily="34" charset="0"/>
              <a:ea typeface="PMingLiU" pitchFamily="18" charset="-120"/>
            </a:endParaRPr>
          </a:p>
        </p:txBody>
      </p:sp>
      <p:sp>
        <p:nvSpPr>
          <p:cNvPr id="59449" name="Text Box 57"/>
          <p:cNvSpPr txBox="1">
            <a:spLocks noChangeArrowheads="1"/>
          </p:cNvSpPr>
          <p:nvPr/>
        </p:nvSpPr>
        <p:spPr bwMode="auto">
          <a:xfrm>
            <a:off x="6019800" y="990600"/>
            <a:ext cx="18907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latin typeface="Tahoma" pitchFamily="34" charset="0"/>
                <a:ea typeface="PMingLiU" pitchFamily="18" charset="-120"/>
              </a:rPr>
              <a:t>Mean1=24.1</a:t>
            </a:r>
          </a:p>
          <a:p>
            <a:r>
              <a:rPr lang="en-US" altLang="zh-TW">
                <a:latin typeface="Tahoma" pitchFamily="34" charset="0"/>
                <a:ea typeface="PMingLiU" pitchFamily="18" charset="-120"/>
              </a:rPr>
              <a:t>Mean2=53.8</a:t>
            </a:r>
          </a:p>
        </p:txBody>
      </p:sp>
      <p:graphicFrame>
        <p:nvGraphicFramePr>
          <p:cNvPr id="59450" name="Object 58"/>
          <p:cNvGraphicFramePr>
            <a:graphicFrameLocks noChangeAspect="1"/>
          </p:cNvGraphicFramePr>
          <p:nvPr>
            <p:ph sz="quarter" idx="3"/>
          </p:nvPr>
        </p:nvGraphicFramePr>
        <p:xfrm>
          <a:off x="4775200" y="4108450"/>
          <a:ext cx="3552825" cy="1987550"/>
        </p:xfrm>
        <a:graphic>
          <a:graphicData uri="http://schemas.openxmlformats.org/presentationml/2006/ole">
            <p:oleObj spid="_x0000_s9219" name="Chart" r:id="rId5" imgW="4324224" imgH="2543023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F349-7E97-4F99-8272-7D4AECFC0F48}" type="slidenum">
              <a:rPr lang="en-US"/>
              <a:pPr/>
              <a:t>17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>
                <a:ea typeface="PMingLiU" pitchFamily="18" charset="-120"/>
              </a:rPr>
              <a:t>Covariance Matrix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259638" cy="4114800"/>
          </a:xfrm>
        </p:spPr>
        <p:txBody>
          <a:bodyPr/>
          <a:lstStyle/>
          <a:p>
            <a:r>
              <a:rPr lang="en-US" altLang="zh-TW" sz="2800">
                <a:ea typeface="PMingLiU" pitchFamily="18" charset="-120"/>
              </a:rPr>
              <a:t>C=</a:t>
            </a:r>
          </a:p>
          <a:p>
            <a:endParaRPr lang="en-US" altLang="zh-TW" sz="2800">
              <a:ea typeface="PMingLiU" pitchFamily="18" charset="-120"/>
            </a:endParaRPr>
          </a:p>
          <a:p>
            <a:endParaRPr lang="en-US" altLang="zh-TW" sz="2800">
              <a:ea typeface="PMingLiU" pitchFamily="18" charset="-120"/>
            </a:endParaRPr>
          </a:p>
          <a:p>
            <a:r>
              <a:rPr lang="en-US" altLang="zh-TW" sz="2800">
                <a:ea typeface="PMingLiU" pitchFamily="18" charset="-120"/>
              </a:rPr>
              <a:t>Using MATLAB, we find out:</a:t>
            </a:r>
          </a:p>
          <a:p>
            <a:pPr lvl="1"/>
            <a:r>
              <a:rPr lang="en-US" altLang="zh-TW" sz="2400">
                <a:ea typeface="PMingLiU" pitchFamily="18" charset="-120"/>
              </a:rPr>
              <a:t>Eigenvectors: </a:t>
            </a:r>
          </a:p>
          <a:p>
            <a:pPr lvl="1"/>
            <a:r>
              <a:rPr lang="en-US" altLang="zh-TW" sz="2400">
                <a:ea typeface="PMingLiU" pitchFamily="18" charset="-120"/>
              </a:rPr>
              <a:t>e1=(-0.98,-0.21), </a:t>
            </a:r>
            <a:r>
              <a:rPr lang="sv-SE" sz="2000">
                <a:sym typeface="Symbol" pitchFamily="18" charset="2"/>
              </a:rPr>
              <a:t>1=51.8</a:t>
            </a:r>
          </a:p>
          <a:p>
            <a:pPr lvl="1"/>
            <a:r>
              <a:rPr lang="en-US" altLang="zh-TW" sz="2400">
                <a:ea typeface="PMingLiU" pitchFamily="18" charset="-120"/>
              </a:rPr>
              <a:t>e2=(0.21,-0.98),  </a:t>
            </a:r>
            <a:r>
              <a:rPr lang="sv-SE" sz="2000">
                <a:sym typeface="Symbol" pitchFamily="18" charset="2"/>
              </a:rPr>
              <a:t>2=560.2</a:t>
            </a:r>
          </a:p>
          <a:p>
            <a:pPr lvl="1"/>
            <a:r>
              <a:rPr lang="sv-SE" sz="2000">
                <a:sym typeface="Symbol" pitchFamily="18" charset="2"/>
              </a:rPr>
              <a:t>Thus the second eigenvector is more important!</a:t>
            </a:r>
          </a:p>
          <a:p>
            <a:pPr lvl="1"/>
            <a:endParaRPr lang="zh-TW" altLang="en-US" sz="2400">
              <a:ea typeface="PMingLiU" pitchFamily="18" charset="-120"/>
            </a:endParaRPr>
          </a:p>
        </p:txBody>
      </p:sp>
      <p:graphicFrame>
        <p:nvGraphicFramePr>
          <p:cNvPr id="61444" name="Group 4"/>
          <p:cNvGraphicFramePr>
            <a:graphicFrameLocks noGrp="1"/>
          </p:cNvGraphicFramePr>
          <p:nvPr>
            <p:ph sz="half" idx="2"/>
          </p:nvPr>
        </p:nvGraphicFramePr>
        <p:xfrm>
          <a:off x="1752600" y="1828800"/>
          <a:ext cx="1447800" cy="990600"/>
        </p:xfrm>
        <a:graphic>
          <a:graphicData uri="http://schemas.openxmlformats.org/drawingml/2006/table">
            <a:tbl>
              <a:tblPr/>
              <a:tblGrid>
                <a:gridCol w="838200"/>
                <a:gridCol w="609600"/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75</a:t>
                      </a:r>
                      <a:endParaRPr kumimoji="0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106</a:t>
                      </a:r>
                      <a:endParaRPr kumimoji="0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106</a:t>
                      </a:r>
                      <a:endParaRPr kumimoji="0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482</a:t>
                      </a:r>
                      <a:endParaRPr kumimoji="0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EC11A-CF96-48B4-AD22-B51570FCB2AB}" type="slidenum">
              <a:rPr lang="en-US"/>
              <a:pPr/>
              <a:t>18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>
                <a:ea typeface="PMingLiU" pitchFamily="18" charset="-120"/>
              </a:rPr>
              <a:t>If we only keep one dimension: e2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2514600"/>
            <a:ext cx="3505200" cy="1676400"/>
          </a:xfrm>
        </p:spPr>
        <p:txBody>
          <a:bodyPr/>
          <a:lstStyle/>
          <a:p>
            <a:r>
              <a:rPr lang="en-US" altLang="zh-TW" sz="2400">
                <a:ea typeface="PMingLiU" pitchFamily="18" charset="-120"/>
              </a:rPr>
              <a:t>We keep the dimension of e2=(0.21,-0.98)</a:t>
            </a:r>
          </a:p>
          <a:p>
            <a:r>
              <a:rPr lang="en-US" altLang="zh-TW" sz="2400">
                <a:ea typeface="PMingLiU" pitchFamily="18" charset="-120"/>
              </a:rPr>
              <a:t>We can obtain the final data as</a:t>
            </a:r>
          </a:p>
          <a:p>
            <a:pPr lvl="1"/>
            <a:endParaRPr lang="zh-TW" altLang="en-US" sz="2000">
              <a:ea typeface="PMingLiU" pitchFamily="18" charset="-120"/>
            </a:endParaRP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1223963" y="4770438"/>
          <a:ext cx="5962650" cy="1020762"/>
        </p:xfrm>
        <a:graphic>
          <a:graphicData uri="http://schemas.openxmlformats.org/presentationml/2006/ole">
            <p:oleObj spid="_x0000_s10242" name="Equation" r:id="rId4" imgW="2819160" imgH="482400" progId="Equation.3">
              <p:embed/>
            </p:oleObj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3581400" y="1676400"/>
          <a:ext cx="4565650" cy="2832100"/>
        </p:xfrm>
        <a:graphic>
          <a:graphicData uri="http://schemas.openxmlformats.org/presentationml/2006/ole">
            <p:oleObj spid="_x0000_s10243" name="Chart" r:id="rId5" imgW="3362304" imgH="2086093" progId="Excel.Sheet.8">
              <p:embed/>
            </p:oleObj>
          </a:graphicData>
        </a:graphic>
      </p:graphicFrame>
      <p:graphicFrame>
        <p:nvGraphicFramePr>
          <p:cNvPr id="63519" name="Group 31"/>
          <p:cNvGraphicFramePr>
            <a:graphicFrameLocks noGrp="1"/>
          </p:cNvGraphicFramePr>
          <p:nvPr/>
        </p:nvGraphicFramePr>
        <p:xfrm>
          <a:off x="8305800" y="1905000"/>
          <a:ext cx="647700" cy="2499360"/>
        </p:xfrm>
        <a:graphic>
          <a:graphicData uri="http://schemas.openxmlformats.org/drawingml/2006/table">
            <a:tbl>
              <a:tblPr/>
              <a:tblGrid>
                <a:gridCol w="647700"/>
              </a:tblGrid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yi</a:t>
                      </a:r>
                      <a:endParaRPr kumimoji="0" lang="en-US" altLang="zh-TW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-10.14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-16.72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-31.35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31.374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16.464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8.624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19.404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cs typeface="Arial" charset="0"/>
                        </a:rPr>
                        <a:t>-17.63</a:t>
                      </a:r>
                      <a:endParaRPr kumimoji="0" lang="en-US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A8435-1311-4EB4-846C-8C62F5CC5A12}" type="slidenum">
              <a:rPr lang="en-US"/>
              <a:pPr/>
              <a:t>19</a:t>
            </a:fld>
            <a:endParaRPr lang="en-US"/>
          </a:p>
        </p:txBody>
      </p:sp>
      <p:pic>
        <p:nvPicPr>
          <p:cNvPr id="72712" name="Picture 8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438275"/>
            <a:ext cx="4572000" cy="2600325"/>
          </a:xfrm>
          <a:noFill/>
          <a:ln/>
        </p:spPr>
      </p:pic>
      <p:pic>
        <p:nvPicPr>
          <p:cNvPr id="72714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465638" y="762000"/>
            <a:ext cx="4449762" cy="4495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978B-79DD-4A63-B9A9-B7B8D530F59A}" type="slidenum">
              <a:rPr lang="en-US"/>
              <a:pPr/>
              <a:t>20</a:t>
            </a:fld>
            <a:endParaRPr lang="en-US"/>
          </a:p>
        </p:txBody>
      </p:sp>
      <p:pic>
        <p:nvPicPr>
          <p:cNvPr id="788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457200"/>
            <a:ext cx="6035675" cy="6172200"/>
          </a:xfrm>
          <a:noFill/>
          <a:ln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4B20-1644-4D6E-86F0-3D24C058D3B8}" type="slidenum">
              <a:rPr lang="en-US"/>
              <a:pPr/>
              <a:t>21</a:t>
            </a:fld>
            <a:endParaRPr lang="en-US"/>
          </a:p>
        </p:txBody>
      </p:sp>
      <p:pic>
        <p:nvPicPr>
          <p:cNvPr id="80900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-76200" y="1600200"/>
            <a:ext cx="6172200" cy="2736850"/>
          </a:xfrm>
          <a:noFill/>
          <a:ln/>
        </p:spPr>
      </p:pic>
      <p:pic>
        <p:nvPicPr>
          <p:cNvPr id="80903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3886200" y="1066800"/>
            <a:ext cx="5410200" cy="5006975"/>
          </a:xfrm>
          <a:noFill/>
          <a:ln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FD602-C460-49A6-9DFC-F4A8E90761A0}" type="slidenum">
              <a:rPr lang="en-US"/>
              <a:pPr/>
              <a:t>22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sv-SE"/>
              <a:t>PCA –&gt; Original Data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r>
              <a:rPr lang="sv-SE"/>
              <a:t>Retrieving old data (e.g. in data compression)</a:t>
            </a:r>
          </a:p>
          <a:p>
            <a:pPr lvl="1"/>
            <a:r>
              <a:rPr lang="sv-SE" i="1"/>
              <a:t>RetrievedRowData</a:t>
            </a:r>
            <a:r>
              <a:rPr lang="sv-SE"/>
              <a:t>=(</a:t>
            </a:r>
            <a:r>
              <a:rPr lang="sv-SE" i="1"/>
              <a:t>RowFeatureVector</a:t>
            </a:r>
            <a:r>
              <a:rPr lang="sv-SE" baseline="30000"/>
              <a:t>T</a:t>
            </a:r>
            <a:r>
              <a:rPr lang="sv-SE"/>
              <a:t> x </a:t>
            </a:r>
            <a:r>
              <a:rPr lang="sv-SE" i="1"/>
              <a:t>FinalData</a:t>
            </a:r>
            <a:r>
              <a:rPr lang="sv-SE"/>
              <a:t>)+</a:t>
            </a:r>
            <a:r>
              <a:rPr lang="sv-SE" i="1"/>
              <a:t>OriginalMean</a:t>
            </a:r>
          </a:p>
          <a:p>
            <a:pPr lvl="1"/>
            <a:r>
              <a:rPr lang="sv-SE"/>
              <a:t>Yields original data using the chosen components</a:t>
            </a:r>
          </a:p>
          <a:p>
            <a:pPr lvl="1">
              <a:buFontTx/>
              <a:buNone/>
            </a:pPr>
            <a:endParaRPr lang="sv-SE"/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E066F-F645-42D1-B3D2-61A568F02DC6}" type="slidenum">
              <a:rPr lang="en-US"/>
              <a:pPr/>
              <a:t>23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Principal components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General about principal components</a:t>
            </a:r>
          </a:p>
          <a:p>
            <a:pPr lvl="1"/>
            <a:r>
              <a:rPr lang="da-DK"/>
              <a:t>summary variables</a:t>
            </a:r>
          </a:p>
          <a:p>
            <a:pPr lvl="1"/>
            <a:r>
              <a:rPr lang="da-DK"/>
              <a:t>linear combinations of the original variables</a:t>
            </a:r>
          </a:p>
          <a:p>
            <a:pPr lvl="1"/>
            <a:r>
              <a:rPr lang="da-DK"/>
              <a:t>uncorrelated with each other</a:t>
            </a:r>
          </a:p>
          <a:p>
            <a:pPr lvl="1"/>
            <a:r>
              <a:rPr lang="da-DK"/>
              <a:t>capture as much of the original variance as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24A99-BC55-4439-A5A1-B9FE2A5A3804}" type="slidenum">
              <a:rPr lang="en-US"/>
              <a:pPr/>
              <a:t>24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52400"/>
            <a:ext cx="8458200" cy="1143000"/>
          </a:xfrm>
        </p:spPr>
        <p:txBody>
          <a:bodyPr/>
          <a:lstStyle/>
          <a:p>
            <a:r>
              <a:rPr lang="sv-SE" sz="4000"/>
              <a:t>Applications – Gene expression analysis</a:t>
            </a:r>
            <a:endParaRPr lang="en-US" sz="40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839200" cy="5181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Reference: Raychaudhuri et al. (2000)</a:t>
            </a:r>
          </a:p>
          <a:p>
            <a:pPr>
              <a:lnSpc>
                <a:spcPct val="90000"/>
              </a:lnSpc>
            </a:pPr>
            <a:r>
              <a:rPr lang="en-US" sz="2800" b="1"/>
              <a:t>Purpose:</a:t>
            </a:r>
            <a:r>
              <a:rPr lang="en-US" sz="2800"/>
              <a:t> Determine core set of conditions for useful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    gene comparison</a:t>
            </a:r>
          </a:p>
          <a:p>
            <a:pPr>
              <a:lnSpc>
                <a:spcPct val="90000"/>
              </a:lnSpc>
            </a:pPr>
            <a:r>
              <a:rPr lang="en-US" sz="2800"/>
              <a:t>Dimensions: conditions, observations: genes</a:t>
            </a:r>
          </a:p>
          <a:p>
            <a:pPr>
              <a:lnSpc>
                <a:spcPct val="90000"/>
              </a:lnSpc>
            </a:pPr>
            <a:r>
              <a:rPr lang="en-US" sz="2800"/>
              <a:t>Yeast sporulation dataset (7 conditions, 6118 genes)</a:t>
            </a:r>
          </a:p>
          <a:p>
            <a:pPr>
              <a:lnSpc>
                <a:spcPct val="90000"/>
              </a:lnSpc>
            </a:pPr>
            <a:r>
              <a:rPr lang="en-US" sz="2800" b="1"/>
              <a:t>Result:</a:t>
            </a:r>
            <a:r>
              <a:rPr lang="en-US" sz="2800"/>
              <a:t> Two components capture most of variability (90%)</a:t>
            </a:r>
          </a:p>
          <a:p>
            <a:pPr>
              <a:lnSpc>
                <a:spcPct val="90000"/>
              </a:lnSpc>
            </a:pPr>
            <a:r>
              <a:rPr lang="en-US" sz="2800"/>
              <a:t>Issues: uneven data intervals, data dependencies</a:t>
            </a:r>
          </a:p>
          <a:p>
            <a:pPr>
              <a:lnSpc>
                <a:spcPct val="90000"/>
              </a:lnSpc>
            </a:pPr>
            <a:r>
              <a:rPr lang="en-US" sz="2800"/>
              <a:t>PCA is common prior to clustering</a:t>
            </a:r>
          </a:p>
          <a:p>
            <a:pPr>
              <a:lnSpc>
                <a:spcPct val="90000"/>
              </a:lnSpc>
            </a:pPr>
            <a:r>
              <a:rPr lang="en-US" sz="2800"/>
              <a:t>Crisp clustering questioned : genes may correlate with multiple clusters</a:t>
            </a:r>
          </a:p>
          <a:p>
            <a:pPr>
              <a:lnSpc>
                <a:spcPct val="90000"/>
              </a:lnSpc>
            </a:pPr>
            <a:r>
              <a:rPr lang="en-US" sz="2800"/>
              <a:t>Alternative: determination of gene’s closest neighbours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40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sz="2000"/>
          </a:p>
          <a:p>
            <a:pPr lvl="2">
              <a:lnSpc>
                <a:spcPct val="90000"/>
              </a:lnSpc>
              <a:buFontTx/>
              <a:buNone/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F636-F83D-428F-AA57-ED2F0E91DFD3}" type="slidenum">
              <a:rPr lang="en-US"/>
              <a:pPr/>
              <a:t>25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Two Way (Angle) Data Analysis</a:t>
            </a:r>
          </a:p>
        </p:txBody>
      </p:sp>
      <p:sp>
        <p:nvSpPr>
          <p:cNvPr id="41987" name="Rectangle 3" descr="Large grid"/>
          <p:cNvSpPr>
            <a:spLocks noChangeArrowheads="1"/>
          </p:cNvSpPr>
          <p:nvPr/>
        </p:nvSpPr>
        <p:spPr bwMode="auto">
          <a:xfrm>
            <a:off x="1560513" y="2163763"/>
            <a:ext cx="2374900" cy="3124200"/>
          </a:xfrm>
          <a:prstGeom prst="rect">
            <a:avLst/>
          </a:prstGeom>
          <a:pattFill prst="lgGrid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933575" y="873125"/>
            <a:ext cx="1854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latin typeface="cmssbx10" pitchFamily="34" charset="0"/>
              </a:rPr>
              <a:t>Genes 10</a:t>
            </a:r>
            <a:r>
              <a:rPr lang="en-GB" sz="2000" baseline="30000">
                <a:latin typeface="cmssbx10" pitchFamily="34" charset="0"/>
              </a:rPr>
              <a:t>3</a:t>
            </a:r>
            <a:r>
              <a:rPr lang="en-GB" sz="2000">
                <a:latin typeface="cmssbx10" pitchFamily="34" charset="0"/>
              </a:rPr>
              <a:t>–10</a:t>
            </a:r>
            <a:r>
              <a:rPr lang="en-GB" sz="2000" baseline="30000">
                <a:latin typeface="cmssbx10" pitchFamily="34" charset="0"/>
              </a:rPr>
              <a:t>4</a:t>
            </a:r>
            <a:endParaRPr lang="en-GB" sz="2000">
              <a:latin typeface="cmssbx10" pitchFamily="34" charset="0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 rot="-5400000">
            <a:off x="-621506" y="3586956"/>
            <a:ext cx="2065338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rgbClr val="FF9933"/>
                </a:solidFill>
                <a:latin typeface="cmssbx10" pitchFamily="34" charset="0"/>
              </a:rPr>
              <a:t>Samples 10</a:t>
            </a:r>
            <a:r>
              <a:rPr lang="en-GB" sz="2000" baseline="30000">
                <a:solidFill>
                  <a:srgbClr val="FF9933"/>
                </a:solidFill>
                <a:latin typeface="cmssbx10" pitchFamily="34" charset="0"/>
              </a:rPr>
              <a:t>1</a:t>
            </a:r>
            <a:r>
              <a:rPr lang="en-GB" sz="2000">
                <a:solidFill>
                  <a:srgbClr val="FF9933"/>
                </a:solidFill>
                <a:latin typeface="cmssbx10" pitchFamily="34" charset="0"/>
              </a:rPr>
              <a:t>-10</a:t>
            </a:r>
            <a:r>
              <a:rPr lang="en-GB" sz="2000" baseline="30000">
                <a:solidFill>
                  <a:srgbClr val="FF9933"/>
                </a:solidFill>
                <a:latin typeface="cmssbx10" pitchFamily="34" charset="0"/>
              </a:rPr>
              <a:t>2</a:t>
            </a:r>
          </a:p>
        </p:txBody>
      </p:sp>
      <p:sp>
        <p:nvSpPr>
          <p:cNvPr id="41990" name="Rectangle 6" descr="Dark vertical"/>
          <p:cNvSpPr>
            <a:spLocks noChangeArrowheads="1"/>
          </p:cNvSpPr>
          <p:nvPr/>
        </p:nvSpPr>
        <p:spPr bwMode="auto">
          <a:xfrm>
            <a:off x="1560513" y="1325563"/>
            <a:ext cx="2416175" cy="457200"/>
          </a:xfrm>
          <a:prstGeom prst="rect">
            <a:avLst/>
          </a:prstGeom>
          <a:pattFill prst="dkVert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Rectangle 7" descr="Light horizontal"/>
          <p:cNvSpPr>
            <a:spLocks noChangeArrowheads="1"/>
          </p:cNvSpPr>
          <p:nvPr/>
        </p:nvSpPr>
        <p:spPr bwMode="auto">
          <a:xfrm rot="-5400000">
            <a:off x="-650875" y="3470275"/>
            <a:ext cx="3130550" cy="45720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1560513" y="3459163"/>
            <a:ext cx="2478087" cy="76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sz="2200">
                <a:solidFill>
                  <a:srgbClr val="FF0000"/>
                </a:solidFill>
                <a:latin typeface="cmssbx10" pitchFamily="34" charset="0"/>
              </a:rPr>
              <a:t>Gene expression matrix</a:t>
            </a: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838200" y="5486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  <a:latin typeface="cmssbx10" pitchFamily="34" charset="0"/>
              </a:rPr>
              <a:t>Sample space analysis</a:t>
            </a:r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5486400" y="5486400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  <a:latin typeface="cmssbx10" pitchFamily="34" charset="0"/>
              </a:rPr>
              <a:t>Gene space analysis</a:t>
            </a:r>
          </a:p>
        </p:txBody>
      </p:sp>
      <p:sp>
        <p:nvSpPr>
          <p:cNvPr id="41995" name="Rectangle 11" descr="Large grid"/>
          <p:cNvSpPr>
            <a:spLocks noChangeArrowheads="1"/>
          </p:cNvSpPr>
          <p:nvPr/>
        </p:nvSpPr>
        <p:spPr bwMode="auto">
          <a:xfrm>
            <a:off x="6049963" y="2163763"/>
            <a:ext cx="2374900" cy="3124200"/>
          </a:xfrm>
          <a:prstGeom prst="rect">
            <a:avLst/>
          </a:prstGeom>
          <a:pattFill prst="lgGrid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6030913" y="838200"/>
            <a:ext cx="24257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2000">
                <a:latin typeface="cmssbx10" pitchFamily="34" charset="0"/>
              </a:rPr>
              <a:t>Conditions 10</a:t>
            </a:r>
            <a:r>
              <a:rPr lang="en-GB" sz="2000" baseline="30000">
                <a:latin typeface="cmssbx10" pitchFamily="34" charset="0"/>
              </a:rPr>
              <a:t>1</a:t>
            </a:r>
            <a:r>
              <a:rPr lang="en-GB" sz="2000">
                <a:latin typeface="cmssbx10" pitchFamily="34" charset="0"/>
              </a:rPr>
              <a:t>–10</a:t>
            </a:r>
            <a:r>
              <a:rPr lang="en-GB" sz="2000" baseline="30000">
                <a:latin typeface="cmssbx10" pitchFamily="34" charset="0"/>
              </a:rPr>
              <a:t>2</a:t>
            </a: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 rot="-5400000">
            <a:off x="4019550" y="3449638"/>
            <a:ext cx="180657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rgbClr val="FF9933"/>
                </a:solidFill>
                <a:latin typeface="cmssbx10" pitchFamily="34" charset="0"/>
              </a:rPr>
              <a:t>Genes 10</a:t>
            </a:r>
            <a:r>
              <a:rPr lang="en-GB" sz="2000" baseline="30000">
                <a:solidFill>
                  <a:srgbClr val="FF9933"/>
                </a:solidFill>
                <a:latin typeface="cmssbx10" pitchFamily="34" charset="0"/>
              </a:rPr>
              <a:t>3</a:t>
            </a:r>
            <a:r>
              <a:rPr lang="en-GB" sz="2000">
                <a:solidFill>
                  <a:srgbClr val="FF9933"/>
                </a:solidFill>
                <a:latin typeface="cmssbx10" pitchFamily="34" charset="0"/>
              </a:rPr>
              <a:t>-10</a:t>
            </a:r>
            <a:r>
              <a:rPr lang="en-GB" sz="2000" baseline="30000">
                <a:solidFill>
                  <a:srgbClr val="FF9933"/>
                </a:solidFill>
                <a:latin typeface="cmssbx10" pitchFamily="34" charset="0"/>
              </a:rPr>
              <a:t>4</a:t>
            </a:r>
          </a:p>
        </p:txBody>
      </p:sp>
      <p:sp>
        <p:nvSpPr>
          <p:cNvPr id="41998" name="Rectangle 14" descr="Light vertical"/>
          <p:cNvSpPr>
            <a:spLocks noChangeArrowheads="1"/>
          </p:cNvSpPr>
          <p:nvPr/>
        </p:nvSpPr>
        <p:spPr bwMode="auto">
          <a:xfrm>
            <a:off x="6049963" y="1325563"/>
            <a:ext cx="2416175" cy="45720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9" name="Rectangle 15" descr="Dark horizontal"/>
          <p:cNvSpPr>
            <a:spLocks noChangeArrowheads="1"/>
          </p:cNvSpPr>
          <p:nvPr/>
        </p:nvSpPr>
        <p:spPr bwMode="auto">
          <a:xfrm rot="-5400000">
            <a:off x="3844925" y="3470275"/>
            <a:ext cx="3130550" cy="457200"/>
          </a:xfrm>
          <a:prstGeom prst="rect">
            <a:avLst/>
          </a:prstGeom>
          <a:pattFill prst="dkHorz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6049963" y="3459163"/>
            <a:ext cx="2478087" cy="76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sz="2200">
                <a:solidFill>
                  <a:srgbClr val="FF0000"/>
                </a:solidFill>
                <a:latin typeface="cmssbx10" pitchFamily="34" charset="0"/>
              </a:rPr>
              <a:t>Gene expression matrix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10B2-9F9F-4D8E-86A6-7F824593C584}" type="slidenum">
              <a:rPr lang="en-US"/>
              <a:pPr/>
              <a:t>26</a:t>
            </a:fld>
            <a:endParaRPr lang="en-US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268538" y="1449388"/>
            <a:ext cx="4932362" cy="4716462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PCA - example</a:t>
            </a:r>
          </a:p>
        </p:txBody>
      </p:sp>
      <p:pic>
        <p:nvPicPr>
          <p:cNvPr id="23556" name="Picture 4" descr="PCAALLred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32000" y="1978025"/>
            <a:ext cx="5121275" cy="4117975"/>
          </a:xfrm>
          <a:noFill/>
          <a:ln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77302-0485-4F35-99EB-B0431D6C1C80}" type="slidenum">
              <a:rPr lang="en-US"/>
              <a:pPr/>
              <a:t>27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da-DK" sz="4000"/>
              <a:t>PCA on all Genes</a:t>
            </a:r>
            <a:br>
              <a:rPr lang="da-DK" sz="4000"/>
            </a:br>
            <a:r>
              <a:rPr lang="da-DK" sz="3400"/>
              <a:t>Leukemia data, precursor B and 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00225" y="2060575"/>
            <a:ext cx="5867400" cy="4429125"/>
            <a:chOff x="1066" y="907"/>
            <a:chExt cx="3810" cy="2954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1134" y="958"/>
              <a:ext cx="3742" cy="290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4581" name="Picture 5" descr="PCAALL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6" y="907"/>
              <a:ext cx="3787" cy="2933"/>
            </a:xfrm>
            <a:prstGeom prst="rect">
              <a:avLst/>
            </a:prstGeom>
            <a:noFill/>
            <a:ln/>
            <a:effectLst/>
          </p:spPr>
        </p:pic>
      </p:grp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219200" y="1371600"/>
            <a:ext cx="69850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da-DK" sz="2800"/>
              <a:t>Plot of 34 patients, dimension of 8973 genes reduced to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20C9-FD73-4BFF-9AFD-B0EF04D85452}" type="slidenum">
              <a:rPr lang="en-US"/>
              <a:pPr/>
              <a:t>28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da-DK" sz="3800"/>
              <a:t>PCA on 100 top significant genes </a:t>
            </a:r>
            <a:br>
              <a:rPr lang="da-DK" sz="3800"/>
            </a:br>
            <a:r>
              <a:rPr lang="da-DK" sz="3800"/>
              <a:t> </a:t>
            </a:r>
            <a:r>
              <a:rPr lang="da-DK" sz="3400"/>
              <a:t>Leukemia data, precursor B and 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68425" y="1952625"/>
            <a:ext cx="6805613" cy="4608513"/>
            <a:chOff x="884" y="958"/>
            <a:chExt cx="4287" cy="2903"/>
          </a:xfrm>
        </p:grpSpPr>
        <p:sp>
          <p:nvSpPr>
            <p:cNvPr id="25604" name="Rectangle 4"/>
            <p:cNvSpPr>
              <a:spLocks noChangeArrowheads="1"/>
            </p:cNvSpPr>
            <p:nvPr/>
          </p:nvSpPr>
          <p:spPr bwMode="auto">
            <a:xfrm>
              <a:off x="884" y="958"/>
              <a:ext cx="4287" cy="290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5605" name="Picture 5" descr="PCAALL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84" y="958"/>
              <a:ext cx="4287" cy="2880"/>
            </a:xfrm>
            <a:prstGeom prst="rect">
              <a:avLst/>
            </a:prstGeom>
            <a:noFill/>
            <a:ln/>
            <a:effectLst/>
          </p:spPr>
        </p:pic>
      </p:grp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1295400" y="1295400"/>
            <a:ext cx="74866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da-DK" sz="2800"/>
              <a:t>Plot of 34 patients, dimension of 100 genes reduced to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F8F4-B3A2-4F66-93F1-B48F2E31FF10}" type="slidenum">
              <a:rPr lang="en-US"/>
              <a:pPr/>
              <a:t>29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da-DK"/>
              <a:t>PCA of genes (Leukemia data)</a:t>
            </a:r>
          </a:p>
        </p:txBody>
      </p:sp>
      <p:pic>
        <p:nvPicPr>
          <p:cNvPr id="26627" name="Picture 3" descr="PCA_genesB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331913" y="1773238"/>
            <a:ext cx="6694487" cy="4564062"/>
          </a:xfrm>
          <a:noFill/>
          <a:ln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331913" y="1196975"/>
            <a:ext cx="66167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da-DK" sz="2200">
                <a:solidFill>
                  <a:srgbClr val="FFFF66"/>
                </a:solidFill>
              </a:rPr>
              <a:t>Plot of 8973 genes, dimension of 34 patients</a:t>
            </a:r>
            <a:r>
              <a:rPr lang="da-DK" sz="2200"/>
              <a:t> </a:t>
            </a:r>
            <a:r>
              <a:rPr lang="da-DK" sz="2200">
                <a:solidFill>
                  <a:srgbClr val="FFFF66"/>
                </a:solidFill>
              </a:rPr>
              <a:t>reduced to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for </a:t>
            </a:r>
          </a:p>
          <a:p>
            <a:r>
              <a:rPr lang="en-US" dirty="0" smtClean="0"/>
              <a:t>Noise</a:t>
            </a:r>
          </a:p>
          <a:p>
            <a:r>
              <a:rPr lang="en-US" dirty="0" smtClean="0"/>
              <a:t>Visualization</a:t>
            </a:r>
          </a:p>
          <a:p>
            <a:r>
              <a:rPr lang="en-US" dirty="0" smtClean="0"/>
              <a:t>Feature extraction</a:t>
            </a:r>
          </a:p>
          <a:p>
            <a:r>
              <a:rPr lang="en-US" dirty="0" smtClean="0"/>
              <a:t>Stock market predictions</a:t>
            </a:r>
          </a:p>
          <a:p>
            <a:r>
              <a:rPr lang="en-US" dirty="0" smtClean="0"/>
              <a:t>Gene data analysis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1058</Words>
  <Application>Microsoft Office PowerPoint</Application>
  <PresentationFormat>On-screen Show (4:3)</PresentationFormat>
  <Paragraphs>297</Paragraphs>
  <Slides>30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Office Theme</vt:lpstr>
      <vt:lpstr>Equation</vt:lpstr>
      <vt:lpstr>Chart</vt:lpstr>
      <vt:lpstr>Principal component Analysis</vt:lpstr>
      <vt:lpstr>Purpose</vt:lpstr>
      <vt:lpstr>Slide 3</vt:lpstr>
      <vt:lpstr>Slide 4</vt:lpstr>
      <vt:lpstr>Slide 5</vt:lpstr>
      <vt:lpstr>Principal Component Analysis: one attribute first</vt:lpstr>
      <vt:lpstr>Now consider two dimensions</vt:lpstr>
      <vt:lpstr>More than two attributes: covariance matrix</vt:lpstr>
      <vt:lpstr>Eigenvalues &amp; eigenvectors</vt:lpstr>
      <vt:lpstr>Eigenvalues &amp; eigenvectors</vt:lpstr>
      <vt:lpstr>Principal components</vt:lpstr>
      <vt:lpstr>Steps of PCA</vt:lpstr>
      <vt:lpstr>Eigenvalues</vt:lpstr>
      <vt:lpstr>Principal components - Variance</vt:lpstr>
      <vt:lpstr>Transformed Data</vt:lpstr>
      <vt:lpstr>An Example</vt:lpstr>
      <vt:lpstr>Covariance Matrix</vt:lpstr>
      <vt:lpstr>If we only keep one dimension: e2</vt:lpstr>
      <vt:lpstr>Slide 19</vt:lpstr>
      <vt:lpstr>Slide 20</vt:lpstr>
      <vt:lpstr>Slide 21</vt:lpstr>
      <vt:lpstr>PCA –&gt; Original Data</vt:lpstr>
      <vt:lpstr>Principal components</vt:lpstr>
      <vt:lpstr>Applications – Gene expression analysis</vt:lpstr>
      <vt:lpstr>Two Way (Angle) Data Analysis</vt:lpstr>
      <vt:lpstr>PCA - example</vt:lpstr>
      <vt:lpstr>PCA on all Genes Leukemia data, precursor B and T</vt:lpstr>
      <vt:lpstr>PCA on 100 top significant genes   Leukemia data, precursor B and T</vt:lpstr>
      <vt:lpstr>PCA of genes (Leukemia data)</vt:lpstr>
      <vt:lpstr>PCA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</dc:title>
  <dc:creator>Amrita</dc:creator>
  <cp:lastModifiedBy>Amrita</cp:lastModifiedBy>
  <cp:revision>15</cp:revision>
  <dcterms:created xsi:type="dcterms:W3CDTF">2021-04-27T01:08:45Z</dcterms:created>
  <dcterms:modified xsi:type="dcterms:W3CDTF">2022-09-13T05:49:10Z</dcterms:modified>
</cp:coreProperties>
</file>