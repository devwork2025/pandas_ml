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6380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981">
          <p15:clr>
            <a:srgbClr val="000000"/>
          </p15:clr>
        </p15:guide>
      </p15:sldGuideLst>
    </p:ext>
    <p:ext uri="GoogleSlidesCustomDataVersion2">
      <go:slidesCustomData xmlns:go="http://customooxmlschemas.google.com/" r:id="rId28" roundtripDataSignature="AMtx7mi/FeU9Z/aLm1a6LVp3Cx3aDs2F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2D3930-C07A-48F2-9FE9-28529254D04D}">
  <a:tblStyle styleId="{4D2D3930-C07A-48F2-9FE9-28529254D04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981"/>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customschemas.google.com/relationships/presentationmetadata" Target="meta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947857" y="2130427"/>
            <a:ext cx="10742375"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idx="1" type="subTitle"/>
          </p:nvPr>
        </p:nvSpPr>
        <p:spPr>
          <a:xfrm>
            <a:off x="1895714" y="3886200"/>
            <a:ext cx="8846662"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3"/>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4"/>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4"/>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4"/>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4"/>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5"/>
          <p:cNvSpPr txBox="1"/>
          <p:nvPr>
            <p:ph type="title"/>
          </p:nvPr>
        </p:nvSpPr>
        <p:spPr>
          <a:xfrm>
            <a:off x="998322" y="4406902"/>
            <a:ext cx="10742375"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body"/>
          </p:nvPr>
        </p:nvSpPr>
        <p:spPr>
          <a:xfrm>
            <a:off x="998322" y="2906713"/>
            <a:ext cx="10742375"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5"/>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631905" y="1600202"/>
            <a:ext cx="5581822"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26"/>
          <p:cNvSpPr txBox="1"/>
          <p:nvPr>
            <p:ph idx="2" type="body"/>
          </p:nvPr>
        </p:nvSpPr>
        <p:spPr>
          <a:xfrm>
            <a:off x="6424361" y="1600202"/>
            <a:ext cx="5581822"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26"/>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7"/>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631905" y="1535113"/>
            <a:ext cx="55840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7"/>
          <p:cNvSpPr txBox="1"/>
          <p:nvPr>
            <p:ph idx="2" type="body"/>
          </p:nvPr>
        </p:nvSpPr>
        <p:spPr>
          <a:xfrm>
            <a:off x="631905" y="2174875"/>
            <a:ext cx="55840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7"/>
          <p:cNvSpPr txBox="1"/>
          <p:nvPr>
            <p:ph idx="3" type="body"/>
          </p:nvPr>
        </p:nvSpPr>
        <p:spPr>
          <a:xfrm>
            <a:off x="6419974" y="1535113"/>
            <a:ext cx="5586211"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27"/>
          <p:cNvSpPr txBox="1"/>
          <p:nvPr>
            <p:ph idx="4" type="body"/>
          </p:nvPr>
        </p:nvSpPr>
        <p:spPr>
          <a:xfrm>
            <a:off x="6419974" y="2174875"/>
            <a:ext cx="5586211"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27"/>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8"/>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8"/>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9"/>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631905" y="273050"/>
            <a:ext cx="415784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idx="1" type="body"/>
          </p:nvPr>
        </p:nvSpPr>
        <p:spPr>
          <a:xfrm>
            <a:off x="4941142" y="273052"/>
            <a:ext cx="7065043"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0"/>
          <p:cNvSpPr txBox="1"/>
          <p:nvPr>
            <p:ph idx="2" type="body"/>
          </p:nvPr>
        </p:nvSpPr>
        <p:spPr>
          <a:xfrm>
            <a:off x="631905" y="1435102"/>
            <a:ext cx="415784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0"/>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2477153" y="4800600"/>
            <a:ext cx="7582853"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idx="2" type="pic"/>
          </p:nvPr>
        </p:nvSpPr>
        <p:spPr>
          <a:xfrm>
            <a:off x="2477153" y="612775"/>
            <a:ext cx="7582853" cy="4114800"/>
          </a:xfrm>
          <a:prstGeom prst="rect">
            <a:avLst/>
          </a:prstGeom>
          <a:noFill/>
          <a:ln>
            <a:noFill/>
          </a:ln>
        </p:spPr>
      </p:sp>
      <p:sp>
        <p:nvSpPr>
          <p:cNvPr id="64" name="Google Shape;64;p31"/>
          <p:cNvSpPr txBox="1"/>
          <p:nvPr>
            <p:ph idx="1" type="body"/>
          </p:nvPr>
        </p:nvSpPr>
        <p:spPr>
          <a:xfrm>
            <a:off x="2477153" y="5367338"/>
            <a:ext cx="7582853"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1"/>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idx="1" type="body"/>
          </p:nvPr>
        </p:nvSpPr>
        <p:spPr>
          <a:xfrm rot="5400000">
            <a:off x="4056064" y="-1823956"/>
            <a:ext cx="4525963" cy="11374279"/>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2"/>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7658636" y="1778618"/>
            <a:ext cx="5851525" cy="284357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1866179" y="-959635"/>
            <a:ext cx="5851525" cy="8320075"/>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3"/>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2"/>
          <p:cNvSpPr txBox="1"/>
          <p:nvPr>
            <p:ph idx="10" type="dt"/>
          </p:nvPr>
        </p:nvSpPr>
        <p:spPr>
          <a:xfrm>
            <a:off x="631906" y="6356352"/>
            <a:ext cx="294888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2"/>
          <p:cNvSpPr txBox="1"/>
          <p:nvPr>
            <p:ph idx="11" type="ftr"/>
          </p:nvPr>
        </p:nvSpPr>
        <p:spPr>
          <a:xfrm>
            <a:off x="4318013" y="6356352"/>
            <a:ext cx="4002062"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2"/>
          <p:cNvSpPr txBox="1"/>
          <p:nvPr>
            <p:ph idx="12" type="sldNum"/>
          </p:nvPr>
        </p:nvSpPr>
        <p:spPr>
          <a:xfrm>
            <a:off x="9057298" y="6356352"/>
            <a:ext cx="294888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947857" y="2130427"/>
            <a:ext cx="10742375"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Inferential statistics</a:t>
            </a:r>
            <a:endParaRPr/>
          </a:p>
        </p:txBody>
      </p:sp>
      <p:sp>
        <p:nvSpPr>
          <p:cNvPr id="85" name="Google Shape;85;p1"/>
          <p:cNvSpPr txBox="1"/>
          <p:nvPr>
            <p:ph idx="1" type="subTitle"/>
          </p:nvPr>
        </p:nvSpPr>
        <p:spPr>
          <a:xfrm>
            <a:off x="1895714" y="3886200"/>
            <a:ext cx="8846662"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Introduction</a:t>
            </a:r>
            <a:endParaRPr/>
          </a:p>
        </p:txBody>
      </p:sp>
      <p:sp>
        <p:nvSpPr>
          <p:cNvPr id="91" name="Google Shape;91;p2"/>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Hypothesis testing is </a:t>
            </a:r>
            <a:r>
              <a:rPr b="1" lang="en-US"/>
              <a:t>a form of statistical inference that uses data from a sample to draw conclusions about a population parameter or a population probability distribution</a:t>
            </a:r>
            <a:endParaRPr/>
          </a:p>
          <a:p>
            <a:pPr indent="-342900" lvl="0" marL="342900" rtl="0" algn="l">
              <a:spcBef>
                <a:spcPts val="640"/>
              </a:spcBef>
              <a:spcAft>
                <a:spcPts val="0"/>
              </a:spcAft>
              <a:buClr>
                <a:schemeClr val="dk1"/>
              </a:buClr>
              <a:buSzPts val="3200"/>
              <a:buChar char="•"/>
            </a:pPr>
            <a:r>
              <a:rPr lang="en-US"/>
              <a:t>the theory, methods, and practice of testing a hypothesis by comparing it with the null hypothesis. The null hypothesis is only rejected if its probability falls below a predetermined significance level, in which case the hypothesis being tested is said to have that level of significance.</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Introduction </a:t>
            </a:r>
            <a:endParaRPr/>
          </a:p>
        </p:txBody>
      </p:sp>
      <p:sp>
        <p:nvSpPr>
          <p:cNvPr id="97" name="Google Shape;97;p3"/>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Summary of population is called as population parameter</a:t>
            </a:r>
            <a:endParaRPr/>
          </a:p>
          <a:p>
            <a:pPr indent="-342900" lvl="0" marL="342900" rtl="0" algn="l">
              <a:spcBef>
                <a:spcPts val="640"/>
              </a:spcBef>
              <a:spcAft>
                <a:spcPts val="0"/>
              </a:spcAft>
              <a:buClr>
                <a:schemeClr val="dk1"/>
              </a:buClr>
              <a:buSzPts val="3200"/>
              <a:buChar char="•"/>
            </a:pPr>
            <a:r>
              <a:rPr lang="en-US"/>
              <a:t>Summary of sample is called sample statistics</a:t>
            </a:r>
            <a:endParaRPr/>
          </a:p>
          <a:p>
            <a:pPr indent="-342900" lvl="0" marL="342900" rtl="0" algn="l">
              <a:spcBef>
                <a:spcPts val="640"/>
              </a:spcBef>
              <a:spcAft>
                <a:spcPts val="0"/>
              </a:spcAft>
              <a:buClr>
                <a:schemeClr val="dk1"/>
              </a:buClr>
              <a:buSzPts val="3200"/>
              <a:buChar char="•"/>
            </a:pPr>
            <a:r>
              <a:rPr lang="en-US"/>
              <a:t>E.g average result of university is population parameter where as average result of the college is sample statistics.</a:t>
            </a:r>
            <a:endParaRPr/>
          </a:p>
          <a:p>
            <a:pPr indent="-342900" lvl="0" marL="342900" rtl="0" algn="l">
              <a:spcBef>
                <a:spcPts val="640"/>
              </a:spcBef>
              <a:spcAft>
                <a:spcPts val="0"/>
              </a:spcAft>
              <a:buClr>
                <a:schemeClr val="dk1"/>
              </a:buClr>
              <a:buSzPts val="3200"/>
              <a:buChar char="•"/>
            </a:pPr>
            <a:r>
              <a:rPr lang="en-US"/>
              <a:t>Commonly used tests include:</a:t>
            </a:r>
            <a:endParaRPr/>
          </a:p>
          <a:p>
            <a:pPr indent="-285750" lvl="1" marL="742950" rtl="0" algn="l">
              <a:spcBef>
                <a:spcPts val="560"/>
              </a:spcBef>
              <a:spcAft>
                <a:spcPts val="0"/>
              </a:spcAft>
              <a:buClr>
                <a:schemeClr val="dk1"/>
              </a:buClr>
              <a:buSzPts val="2800"/>
              <a:buChar char="–"/>
            </a:pPr>
            <a:r>
              <a:rPr lang="en-US"/>
              <a:t>Compare sample statistics with the population parameter</a:t>
            </a:r>
            <a:endParaRPr/>
          </a:p>
          <a:p>
            <a:pPr indent="-285750" lvl="1" marL="742950" rtl="0" algn="l">
              <a:spcBef>
                <a:spcPts val="560"/>
              </a:spcBef>
              <a:spcAft>
                <a:spcPts val="0"/>
              </a:spcAft>
              <a:buClr>
                <a:schemeClr val="dk1"/>
              </a:buClr>
              <a:buSzPts val="2800"/>
              <a:buChar char="–"/>
            </a:pPr>
            <a:r>
              <a:rPr lang="en-US"/>
              <a:t>Compare two data sets</a:t>
            </a:r>
            <a:endParaRPr/>
          </a:p>
          <a:p>
            <a:pPr indent="-107950" lvl="1" marL="742950" rtl="0" algn="l">
              <a:spcBef>
                <a:spcPts val="56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Steps </a:t>
            </a:r>
            <a:endParaRPr/>
          </a:p>
        </p:txBody>
      </p:sp>
      <p:sp>
        <p:nvSpPr>
          <p:cNvPr id="103" name="Google Shape;103;p4"/>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State alternative hypothesis</a:t>
            </a:r>
            <a:endParaRPr/>
          </a:p>
          <a:p>
            <a:pPr indent="-342900" lvl="0" marL="342900" rtl="0" algn="l">
              <a:spcBef>
                <a:spcPts val="640"/>
              </a:spcBef>
              <a:spcAft>
                <a:spcPts val="0"/>
              </a:spcAft>
              <a:buClr>
                <a:schemeClr val="dk1"/>
              </a:buClr>
              <a:buSzPts val="3200"/>
              <a:buChar char="•"/>
            </a:pPr>
            <a:r>
              <a:rPr lang="en-US"/>
              <a:t>State null hypothesis</a:t>
            </a:r>
            <a:endParaRPr/>
          </a:p>
          <a:p>
            <a:pPr indent="-342900" lvl="0" marL="342900" rtl="0" algn="l">
              <a:spcBef>
                <a:spcPts val="640"/>
              </a:spcBef>
              <a:spcAft>
                <a:spcPts val="0"/>
              </a:spcAft>
              <a:buClr>
                <a:schemeClr val="dk1"/>
              </a:buClr>
              <a:buSzPts val="3200"/>
              <a:buChar char="•"/>
            </a:pPr>
            <a:r>
              <a:rPr lang="en-US"/>
              <a:t>Select probability of error level or alpha level (α =0.05)</a:t>
            </a:r>
            <a:endParaRPr/>
          </a:p>
          <a:p>
            <a:pPr indent="-342900" lvl="0" marL="342900" rtl="0" algn="l">
              <a:spcBef>
                <a:spcPts val="640"/>
              </a:spcBef>
              <a:spcAft>
                <a:spcPts val="0"/>
              </a:spcAft>
              <a:buClr>
                <a:schemeClr val="dk1"/>
              </a:buClr>
              <a:buSzPts val="3200"/>
              <a:buChar char="•"/>
            </a:pPr>
            <a:r>
              <a:rPr lang="en-US"/>
              <a:t>Calculate the test statistics (t-statistics or z-statistics)</a:t>
            </a:r>
            <a:endParaRPr/>
          </a:p>
          <a:p>
            <a:pPr indent="-342900" lvl="0" marL="342900" rtl="0" algn="l">
              <a:spcBef>
                <a:spcPts val="640"/>
              </a:spcBef>
              <a:spcAft>
                <a:spcPts val="0"/>
              </a:spcAft>
              <a:buClr>
                <a:schemeClr val="dk1"/>
              </a:buClr>
              <a:buSzPts val="3200"/>
              <a:buChar char="•"/>
            </a:pPr>
            <a:r>
              <a:rPr lang="en-US"/>
              <a:t>Critical test statistics</a:t>
            </a:r>
            <a:endParaRPr/>
          </a:p>
          <a:p>
            <a:pPr indent="-342900" lvl="0" marL="342900" rtl="0" algn="l">
              <a:spcBef>
                <a:spcPts val="640"/>
              </a:spcBef>
              <a:spcAft>
                <a:spcPts val="0"/>
              </a:spcAft>
              <a:buClr>
                <a:schemeClr val="dk1"/>
              </a:buClr>
              <a:buSzPts val="3200"/>
              <a:buChar char="•"/>
            </a:pPr>
            <a:r>
              <a:rPr lang="en-US"/>
              <a:t>Interpret the result</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Alternative hypothesis</a:t>
            </a:r>
            <a:endParaRPr/>
          </a:p>
        </p:txBody>
      </p:sp>
      <p:sp>
        <p:nvSpPr>
          <p:cNvPr id="109" name="Google Shape;109;p5"/>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In a court basic assumption is the person is innocent </a:t>
            </a:r>
            <a:endParaRPr/>
          </a:p>
          <a:p>
            <a:pPr indent="-285750" lvl="1" marL="742950" rtl="0" algn="l">
              <a:spcBef>
                <a:spcPts val="560"/>
              </a:spcBef>
              <a:spcAft>
                <a:spcPts val="0"/>
              </a:spcAft>
              <a:buClr>
                <a:schemeClr val="dk1"/>
              </a:buClr>
              <a:buSzPts val="2800"/>
              <a:buChar char="–"/>
            </a:pPr>
            <a:r>
              <a:rPr lang="en-US"/>
              <a:t>Null hypothesis: The person is innocent</a:t>
            </a:r>
            <a:endParaRPr/>
          </a:p>
          <a:p>
            <a:pPr indent="-342900" lvl="0" marL="342900" rtl="0" algn="l">
              <a:spcBef>
                <a:spcPts val="640"/>
              </a:spcBef>
              <a:spcAft>
                <a:spcPts val="0"/>
              </a:spcAft>
              <a:buClr>
                <a:schemeClr val="dk1"/>
              </a:buClr>
              <a:buSzPts val="3200"/>
              <a:buChar char="•"/>
            </a:pPr>
            <a:r>
              <a:rPr lang="en-US"/>
              <a:t>The court lawyer is going to prove that person is guilty</a:t>
            </a:r>
            <a:endParaRPr/>
          </a:p>
          <a:p>
            <a:pPr indent="-285750" lvl="1" marL="742950" rtl="0" algn="l">
              <a:spcBef>
                <a:spcPts val="560"/>
              </a:spcBef>
              <a:spcAft>
                <a:spcPts val="0"/>
              </a:spcAft>
              <a:buClr>
                <a:schemeClr val="dk1"/>
              </a:buClr>
              <a:buSzPts val="2800"/>
              <a:buChar char="–"/>
            </a:pPr>
            <a:r>
              <a:rPr lang="en-US"/>
              <a:t>Alternate hypothesis: The person is guilty</a:t>
            </a:r>
            <a:endParaRPr/>
          </a:p>
          <a:p>
            <a:pPr indent="-342900" lvl="0" marL="342900" rtl="0" algn="l">
              <a:spcBef>
                <a:spcPts val="640"/>
              </a:spcBef>
              <a:spcAft>
                <a:spcPts val="0"/>
              </a:spcAft>
              <a:buClr>
                <a:schemeClr val="dk1"/>
              </a:buClr>
              <a:buSzPts val="3200"/>
              <a:buChar char="•"/>
            </a:pPr>
            <a:r>
              <a:rPr lang="en-US"/>
              <a:t>Statistical terms says</a:t>
            </a:r>
            <a:endParaRPr/>
          </a:p>
          <a:p>
            <a:pPr indent="-285750" lvl="1" marL="742950" rtl="0" algn="l">
              <a:spcBef>
                <a:spcPts val="560"/>
              </a:spcBef>
              <a:spcAft>
                <a:spcPts val="0"/>
              </a:spcAft>
              <a:buClr>
                <a:schemeClr val="dk1"/>
              </a:buClr>
              <a:buSzPts val="2800"/>
              <a:buChar char="–"/>
            </a:pPr>
            <a:r>
              <a:rPr lang="en-US"/>
              <a:t>Reject the null hypothesis</a:t>
            </a:r>
            <a:endParaRPr/>
          </a:p>
          <a:p>
            <a:pPr indent="-285750" lvl="1" marL="742950" rtl="0" algn="l">
              <a:spcBef>
                <a:spcPts val="560"/>
              </a:spcBef>
              <a:spcAft>
                <a:spcPts val="0"/>
              </a:spcAft>
              <a:buClr>
                <a:schemeClr val="dk1"/>
              </a:buClr>
              <a:buSzPts val="2800"/>
              <a:buChar char="–"/>
            </a:pPr>
            <a:r>
              <a:rPr lang="en-US"/>
              <a:t>Fail to reject null hypothesis (accept the null hypothesis)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 1</a:t>
            </a:r>
            <a:endParaRPr/>
          </a:p>
        </p:txBody>
      </p:sp>
      <p:sp>
        <p:nvSpPr>
          <p:cNvPr id="115" name="Google Shape;115;p6"/>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manufacture company creating a bottle. Each bottle is having volume as 150 cc. </a:t>
            </a:r>
            <a:endParaRPr/>
          </a:p>
          <a:p>
            <a:pPr indent="-342900" lvl="0" marL="342900" rtl="0" algn="l">
              <a:spcBef>
                <a:spcPts val="640"/>
              </a:spcBef>
              <a:spcAft>
                <a:spcPts val="0"/>
              </a:spcAft>
              <a:buClr>
                <a:schemeClr val="dk1"/>
              </a:buClr>
              <a:buSzPts val="3200"/>
              <a:buChar char="•"/>
            </a:pPr>
            <a:r>
              <a:rPr lang="en-US"/>
              <a:t>Every bottle may not be exactly same as 150 cc or there might be some changes in bottle while doing production. This change is mentioned by standard deviation. Here while producing bottles 2cc deviation is accepted.</a:t>
            </a:r>
            <a:endParaRPr/>
          </a:p>
          <a:p>
            <a:pPr indent="-342900" lvl="0" marL="342900" rtl="0" algn="l">
              <a:spcBef>
                <a:spcPts val="640"/>
              </a:spcBef>
              <a:spcAft>
                <a:spcPts val="0"/>
              </a:spcAft>
              <a:buClr>
                <a:schemeClr val="dk1"/>
              </a:buClr>
              <a:buSzPts val="3200"/>
              <a:buChar char="•"/>
            </a:pPr>
            <a:r>
              <a:rPr lang="en-US"/>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21" name="Google Shape;121;p7"/>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Null hypothesis: the machine is producing bottles of 150 cc</a:t>
            </a:r>
            <a:endParaRPr/>
          </a:p>
          <a:p>
            <a:pPr indent="-342900" lvl="0" marL="342900" rtl="0" algn="l">
              <a:spcBef>
                <a:spcPts val="640"/>
              </a:spcBef>
              <a:spcAft>
                <a:spcPts val="0"/>
              </a:spcAft>
              <a:buClr>
                <a:schemeClr val="dk1"/>
              </a:buClr>
              <a:buSzPts val="3200"/>
              <a:buChar char="•"/>
            </a:pPr>
            <a:r>
              <a:rPr lang="en-US"/>
              <a:t>Alternative hypothesis: machine is not producing bottles of 150 cc.</a:t>
            </a:r>
            <a:endParaRPr/>
          </a:p>
          <a:p>
            <a:pPr indent="-342900" lvl="0" marL="342900" rtl="0" algn="l">
              <a:spcBef>
                <a:spcPts val="640"/>
              </a:spcBef>
              <a:spcAft>
                <a:spcPts val="0"/>
              </a:spcAft>
              <a:buClr>
                <a:schemeClr val="dk1"/>
              </a:buClr>
              <a:buSzPts val="3200"/>
              <a:buChar char="•"/>
            </a:pPr>
            <a:r>
              <a:rPr lang="en-US"/>
              <a:t>Based on the result, judgment can be made as:</a:t>
            </a:r>
            <a:endParaRPr/>
          </a:p>
          <a:p>
            <a:pPr indent="-285750" lvl="1" marL="742950" rtl="0" algn="l">
              <a:spcBef>
                <a:spcPts val="560"/>
              </a:spcBef>
              <a:spcAft>
                <a:spcPts val="0"/>
              </a:spcAft>
              <a:buClr>
                <a:schemeClr val="dk1"/>
              </a:buClr>
              <a:buSzPts val="2800"/>
              <a:buChar char="–"/>
            </a:pPr>
            <a:r>
              <a:rPr lang="en-US"/>
              <a:t>Machine has changed  (stop the machine. Reset the machine )</a:t>
            </a:r>
            <a:endParaRPr/>
          </a:p>
          <a:p>
            <a:pPr indent="-285750" lvl="1" marL="742950" rtl="0" algn="l">
              <a:spcBef>
                <a:spcPts val="560"/>
              </a:spcBef>
              <a:spcAft>
                <a:spcPts val="0"/>
              </a:spcAft>
              <a:buClr>
                <a:schemeClr val="dk1"/>
              </a:buClr>
              <a:buSzPts val="2800"/>
              <a:buChar char="–"/>
            </a:pPr>
            <a:r>
              <a:rPr lang="en-US"/>
              <a:t>Machine is working as per the settings (no need to change machine settings)</a:t>
            </a:r>
            <a:endParaRPr/>
          </a:p>
          <a:p>
            <a:pPr indent="-285750" lvl="1" marL="742950" rtl="0" algn="l">
              <a:spcBef>
                <a:spcPts val="56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tests</a:t>
            </a:r>
            <a:endParaRPr/>
          </a:p>
        </p:txBody>
      </p:sp>
      <p:sp>
        <p:nvSpPr>
          <p:cNvPr id="127" name="Google Shape;127;p8"/>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lnSpcReduction="20000"/>
          </a:bodyPr>
          <a:lstStyle/>
          <a:p>
            <a:pPr indent="-431800" lvl="0" marL="342900" rtl="0" algn="l">
              <a:spcBef>
                <a:spcPts val="640"/>
              </a:spcBef>
              <a:spcAft>
                <a:spcPts val="0"/>
              </a:spcAft>
              <a:buSzPts val="3200"/>
              <a:buChar char="•"/>
            </a:pPr>
            <a:r>
              <a:rPr lang="en-US"/>
              <a:t>Two tail test</a:t>
            </a:r>
            <a:endParaRPr/>
          </a:p>
          <a:p>
            <a:pPr indent="-349250" lvl="1" marL="742950" rtl="0" algn="l">
              <a:spcBef>
                <a:spcPts val="560"/>
              </a:spcBef>
              <a:spcAft>
                <a:spcPts val="0"/>
              </a:spcAft>
              <a:buSzPts val="2800"/>
              <a:buChar char="–"/>
            </a:pPr>
            <a:r>
              <a:rPr lang="en-US"/>
              <a:t>H0: µ == 150 cc</a:t>
            </a:r>
            <a:endParaRPr/>
          </a:p>
          <a:p>
            <a:pPr indent="-349250" lvl="1" marL="742950" rtl="0" algn="l">
              <a:spcBef>
                <a:spcPts val="560"/>
              </a:spcBef>
              <a:spcAft>
                <a:spcPts val="0"/>
              </a:spcAft>
              <a:buSzPts val="2800"/>
              <a:buChar char="–"/>
            </a:pPr>
            <a:r>
              <a:rPr lang="en-US"/>
              <a:t>H1: µ != 150 cc</a:t>
            </a:r>
            <a:endParaRPr/>
          </a:p>
          <a:p>
            <a:pPr indent="-342900" lvl="0" marL="342900" rtl="0" algn="l">
              <a:spcBef>
                <a:spcPts val="0"/>
              </a:spcBef>
              <a:spcAft>
                <a:spcPts val="0"/>
              </a:spcAft>
              <a:buClr>
                <a:schemeClr val="dk1"/>
              </a:buClr>
              <a:buSzPts val="3200"/>
              <a:buChar char="•"/>
            </a:pPr>
            <a:r>
              <a:rPr lang="en-US"/>
              <a:t>Lower (One) tail test</a:t>
            </a:r>
            <a:endParaRPr/>
          </a:p>
          <a:p>
            <a:pPr indent="-285750" lvl="1" marL="742950" rtl="0" algn="l">
              <a:spcBef>
                <a:spcPts val="560"/>
              </a:spcBef>
              <a:spcAft>
                <a:spcPts val="0"/>
              </a:spcAft>
              <a:buClr>
                <a:schemeClr val="dk1"/>
              </a:buClr>
              <a:buSzPts val="2800"/>
              <a:buChar char="–"/>
            </a:pPr>
            <a:r>
              <a:rPr lang="en-US"/>
              <a:t>H0: µ &gt;= 150 cc</a:t>
            </a:r>
            <a:endParaRPr/>
          </a:p>
          <a:p>
            <a:pPr indent="-285750" lvl="1" marL="742950" rtl="0" algn="l">
              <a:spcBef>
                <a:spcPts val="560"/>
              </a:spcBef>
              <a:spcAft>
                <a:spcPts val="0"/>
              </a:spcAft>
              <a:buClr>
                <a:schemeClr val="dk1"/>
              </a:buClr>
              <a:buSzPts val="2800"/>
              <a:buChar char="–"/>
            </a:pPr>
            <a:r>
              <a:rPr lang="en-US"/>
              <a:t>H1: µ &lt; 150 cc </a:t>
            </a:r>
            <a:endParaRPr/>
          </a:p>
          <a:p>
            <a:pPr indent="-342900" lvl="0" marL="342900" rtl="0" algn="l">
              <a:spcBef>
                <a:spcPts val="640"/>
              </a:spcBef>
              <a:spcAft>
                <a:spcPts val="0"/>
              </a:spcAft>
              <a:buClr>
                <a:schemeClr val="dk1"/>
              </a:buClr>
              <a:buSzPts val="3200"/>
              <a:buChar char="•"/>
            </a:pPr>
            <a:r>
              <a:rPr lang="en-US"/>
              <a:t>Upper (One)  tail test</a:t>
            </a:r>
            <a:endParaRPr/>
          </a:p>
          <a:p>
            <a:pPr indent="-285750" lvl="1" marL="742950" rtl="0" algn="l">
              <a:spcBef>
                <a:spcPts val="560"/>
              </a:spcBef>
              <a:spcAft>
                <a:spcPts val="0"/>
              </a:spcAft>
              <a:buClr>
                <a:schemeClr val="dk1"/>
              </a:buClr>
              <a:buSzPts val="2800"/>
              <a:buChar char="–"/>
            </a:pPr>
            <a:r>
              <a:rPr lang="en-US"/>
              <a:t>H0: µ &lt; = 150 cc</a:t>
            </a:r>
            <a:endParaRPr/>
          </a:p>
          <a:p>
            <a:pPr indent="-285750" lvl="1" marL="742950" rtl="0" algn="l">
              <a:spcBef>
                <a:spcPts val="560"/>
              </a:spcBef>
              <a:spcAft>
                <a:spcPts val="0"/>
              </a:spcAft>
              <a:buClr>
                <a:schemeClr val="dk1"/>
              </a:buClr>
              <a:buSzPts val="2800"/>
              <a:buChar char="–"/>
            </a:pPr>
            <a:r>
              <a:rPr lang="en-US"/>
              <a:t>H1: µ  &gt;150 cc</a:t>
            </a:r>
            <a:endParaRPr/>
          </a:p>
          <a:p>
            <a:pPr indent="0" lvl="0" marL="0" rtl="0" algn="l">
              <a:spcBef>
                <a:spcPts val="64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Continue….</a:t>
            </a:r>
            <a:endParaRPr/>
          </a:p>
        </p:txBody>
      </p:sp>
      <p:sp>
        <p:nvSpPr>
          <p:cNvPr id="133" name="Google Shape;133;p9"/>
          <p:cNvSpPr txBox="1"/>
          <p:nvPr>
            <p:ph idx="1" type="body"/>
          </p:nvPr>
        </p:nvSpPr>
        <p:spPr>
          <a:xfrm>
            <a:off x="631906" y="1600203"/>
            <a:ext cx="11374279" cy="312419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For any test, samples are collected. Based on sample statistics population parameter is calculated.</a:t>
            </a:r>
            <a:endParaRPr/>
          </a:p>
          <a:p>
            <a:pPr indent="-342900" lvl="0" marL="342900" rtl="0" algn="l">
              <a:spcBef>
                <a:spcPts val="640"/>
              </a:spcBef>
              <a:spcAft>
                <a:spcPts val="0"/>
              </a:spcAft>
              <a:buClr>
                <a:schemeClr val="dk1"/>
              </a:buClr>
              <a:buSzPts val="3200"/>
              <a:buChar char="•"/>
            </a:pPr>
            <a:r>
              <a:rPr lang="en-US"/>
              <a:t>Based on samples, prediction about whole population can be calculated.</a:t>
            </a:r>
            <a:endParaRPr/>
          </a:p>
          <a:p>
            <a:pPr indent="-342900" lvl="0" marL="342900" rtl="0" algn="l">
              <a:spcBef>
                <a:spcPts val="640"/>
              </a:spcBef>
              <a:spcAft>
                <a:spcPts val="0"/>
              </a:spcAft>
              <a:buClr>
                <a:schemeClr val="dk1"/>
              </a:buClr>
              <a:buSzPts val="3200"/>
              <a:buChar char="•"/>
            </a:pPr>
            <a:r>
              <a:rPr lang="en-US"/>
              <a:t>  </a:t>
            </a:r>
            <a:endParaRPr/>
          </a:p>
        </p:txBody>
      </p:sp>
      <p:pic>
        <p:nvPicPr>
          <p:cNvPr id="134" name="Google Shape;134;p9"/>
          <p:cNvPicPr preferRelativeResize="0"/>
          <p:nvPr/>
        </p:nvPicPr>
        <p:blipFill rotWithShape="1">
          <a:blip r:embed="rId3">
            <a:alphaModFix/>
          </a:blip>
          <a:srcRect b="0" l="0" r="0" t="0"/>
          <a:stretch/>
        </p:blipFill>
        <p:spPr>
          <a:xfrm>
            <a:off x="3499644" y="3429000"/>
            <a:ext cx="5407025" cy="31892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Continue..</a:t>
            </a:r>
            <a:endParaRPr/>
          </a:p>
        </p:txBody>
      </p:sp>
      <p:sp>
        <p:nvSpPr>
          <p:cNvPr id="140" name="Google Shape;140;p10"/>
          <p:cNvSpPr txBox="1"/>
          <p:nvPr>
            <p:ph idx="1" type="body"/>
          </p:nvPr>
        </p:nvSpPr>
        <p:spPr>
          <a:xfrm>
            <a:off x="631907" y="1752600"/>
            <a:ext cx="7134938" cy="4373565"/>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Normal distribution has observed as per the graph</a:t>
            </a:r>
            <a:endParaRPr/>
          </a:p>
          <a:p>
            <a:pPr indent="-342900" lvl="0" marL="342900" rtl="0" algn="l">
              <a:spcBef>
                <a:spcPts val="544"/>
              </a:spcBef>
              <a:spcAft>
                <a:spcPts val="0"/>
              </a:spcAft>
              <a:buClr>
                <a:schemeClr val="dk1"/>
              </a:buClr>
              <a:buSzPct val="100000"/>
              <a:buChar char="•"/>
            </a:pPr>
            <a:r>
              <a:rPr lang="en-US"/>
              <a:t>Most of the bottles are having volume as 150cc</a:t>
            </a:r>
            <a:endParaRPr/>
          </a:p>
          <a:p>
            <a:pPr indent="-342900" lvl="0" marL="342900" rtl="0" algn="l">
              <a:spcBef>
                <a:spcPts val="544"/>
              </a:spcBef>
              <a:spcAft>
                <a:spcPts val="0"/>
              </a:spcAft>
              <a:buClr>
                <a:schemeClr val="dk1"/>
              </a:buClr>
              <a:buSzPct val="100000"/>
              <a:buChar char="•"/>
            </a:pPr>
            <a:r>
              <a:rPr lang="en-US"/>
              <a:t>Some bottles may have 148cc or some of the bottle may have 152 cc</a:t>
            </a:r>
            <a:endParaRPr/>
          </a:p>
          <a:p>
            <a:pPr indent="-342900" lvl="0" marL="342900" rtl="0" algn="l">
              <a:spcBef>
                <a:spcPts val="544"/>
              </a:spcBef>
              <a:spcAft>
                <a:spcPts val="0"/>
              </a:spcAft>
              <a:buClr>
                <a:schemeClr val="dk1"/>
              </a:buClr>
              <a:buSzPct val="100000"/>
              <a:buChar char="•"/>
            </a:pPr>
            <a:r>
              <a:rPr lang="en-US"/>
              <a:t>Exceptionally volume may recorded as 144cc or 156 cc </a:t>
            </a:r>
            <a:endParaRPr/>
          </a:p>
          <a:p>
            <a:pPr indent="-342900" lvl="0" marL="342900" rtl="0" algn="l">
              <a:spcBef>
                <a:spcPts val="544"/>
              </a:spcBef>
              <a:spcAft>
                <a:spcPts val="0"/>
              </a:spcAft>
              <a:buClr>
                <a:schemeClr val="dk1"/>
              </a:buClr>
              <a:buSzPct val="100000"/>
              <a:buChar char="•"/>
            </a:pPr>
            <a:r>
              <a:rPr lang="en-US"/>
              <a:t>If any exception are recorded then machine setting should not be changed. As it is the part of distribution. </a:t>
            </a:r>
            <a:endParaRPr/>
          </a:p>
        </p:txBody>
      </p:sp>
      <p:pic>
        <p:nvPicPr>
          <p:cNvPr id="141" name="Google Shape;141;p10"/>
          <p:cNvPicPr preferRelativeResize="0"/>
          <p:nvPr/>
        </p:nvPicPr>
        <p:blipFill rotWithShape="1">
          <a:blip r:embed="rId3">
            <a:alphaModFix/>
          </a:blip>
          <a:srcRect b="0" l="0" r="0" t="0"/>
          <a:stretch/>
        </p:blipFill>
        <p:spPr>
          <a:xfrm>
            <a:off x="7538244" y="2286000"/>
            <a:ext cx="4761089" cy="28082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Continue…</a:t>
            </a:r>
            <a:endParaRPr/>
          </a:p>
        </p:txBody>
      </p:sp>
      <p:sp>
        <p:nvSpPr>
          <p:cNvPr id="147" name="Google Shape;147;p11"/>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Assumption: volume can be recorded between +2σ and -2 σ anything apart from that is rare observation.</a:t>
            </a:r>
            <a:endParaRPr/>
          </a:p>
          <a:p>
            <a:pPr indent="-342900" lvl="0" marL="342900" rtl="0" algn="l">
              <a:spcBef>
                <a:spcPts val="640"/>
              </a:spcBef>
              <a:spcAft>
                <a:spcPts val="0"/>
              </a:spcAft>
              <a:buClr>
                <a:schemeClr val="dk1"/>
              </a:buClr>
              <a:buSzPts val="3200"/>
              <a:buChar char="•"/>
            </a:pPr>
            <a:r>
              <a:rPr lang="en-US"/>
              <a:t>From +2σ and -2 σ 95% of the observation are recorded.</a:t>
            </a:r>
            <a:endParaRPr/>
          </a:p>
          <a:p>
            <a:pPr indent="-342900" lvl="0" marL="342900" rtl="0" algn="l">
              <a:spcBef>
                <a:spcPts val="640"/>
              </a:spcBef>
              <a:spcAft>
                <a:spcPts val="0"/>
              </a:spcAft>
              <a:buClr>
                <a:schemeClr val="dk1"/>
              </a:buClr>
              <a:buSzPts val="3200"/>
              <a:buChar char="•"/>
            </a:pPr>
            <a:r>
              <a:rPr lang="en-US"/>
              <a:t>Anything beyond 2 standard deviation is exception.</a:t>
            </a:r>
            <a:endParaRPr/>
          </a:p>
          <a:p>
            <a:pPr indent="-342900" lvl="0" marL="342900" rtl="0" algn="l">
              <a:spcBef>
                <a:spcPts val="640"/>
              </a:spcBef>
              <a:spcAft>
                <a:spcPts val="0"/>
              </a:spcAft>
              <a:buClr>
                <a:schemeClr val="dk1"/>
              </a:buClr>
              <a:buSzPts val="3200"/>
              <a:buChar char="•"/>
            </a:pPr>
            <a:r>
              <a:rPr lang="en-US"/>
              <a:t>If the volume recorded is more than 2 standard deviation then there is a cause of concern. This leads to take decision to reset the machine.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Type-1 and Type-2 error</a:t>
            </a:r>
            <a:endParaRPr/>
          </a:p>
        </p:txBody>
      </p:sp>
      <p:sp>
        <p:nvSpPr>
          <p:cNvPr id="153" name="Google Shape;153;p12"/>
          <p:cNvSpPr txBox="1"/>
          <p:nvPr>
            <p:ph idx="1" type="body"/>
          </p:nvPr>
        </p:nvSpPr>
        <p:spPr>
          <a:xfrm>
            <a:off x="604044" y="1371600"/>
            <a:ext cx="11374279" cy="312419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In this example 1 , some sample of bottles are collected.</a:t>
            </a:r>
            <a:endParaRPr/>
          </a:p>
          <a:p>
            <a:pPr indent="-342900" lvl="0" marL="342900" rtl="0" algn="l">
              <a:spcBef>
                <a:spcPts val="640"/>
              </a:spcBef>
              <a:spcAft>
                <a:spcPts val="0"/>
              </a:spcAft>
              <a:buClr>
                <a:schemeClr val="dk1"/>
              </a:buClr>
              <a:buSzPts val="3200"/>
              <a:buChar char="•"/>
            </a:pPr>
            <a:r>
              <a:rPr lang="en-US"/>
              <a:t>Based on sample, null hypothesis and alternate hypothesis is defined.</a:t>
            </a:r>
            <a:endParaRPr/>
          </a:p>
          <a:p>
            <a:pPr indent="-342900" lvl="0" marL="342900" rtl="0" algn="l">
              <a:spcBef>
                <a:spcPts val="640"/>
              </a:spcBef>
              <a:spcAft>
                <a:spcPts val="0"/>
              </a:spcAft>
              <a:buClr>
                <a:schemeClr val="dk1"/>
              </a:buClr>
              <a:buSzPts val="3200"/>
              <a:buChar char="•"/>
            </a:pPr>
            <a:r>
              <a:rPr lang="en-US"/>
              <a:t>There might be a chance of error while working on samples.</a:t>
            </a:r>
            <a:endParaRPr/>
          </a:p>
          <a:p>
            <a:pPr indent="-342900" lvl="0" marL="342900" rtl="0" algn="l">
              <a:spcBef>
                <a:spcPts val="640"/>
              </a:spcBef>
              <a:spcAft>
                <a:spcPts val="0"/>
              </a:spcAft>
              <a:buClr>
                <a:schemeClr val="dk1"/>
              </a:buClr>
              <a:buSzPts val="3200"/>
              <a:buChar char="•"/>
            </a:pPr>
            <a:r>
              <a:rPr lang="en-US"/>
              <a:t>Generally, out of 100 samples 5 error values can be accepted.</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graphicFrame>
        <p:nvGraphicFramePr>
          <p:cNvPr id="154" name="Google Shape;154;p12"/>
          <p:cNvGraphicFramePr/>
          <p:nvPr/>
        </p:nvGraphicFramePr>
        <p:xfrm>
          <a:off x="1518444" y="4343400"/>
          <a:ext cx="3000000" cy="3000000"/>
        </p:xfrm>
        <a:graphic>
          <a:graphicData uri="http://schemas.openxmlformats.org/drawingml/2006/table">
            <a:tbl>
              <a:tblPr bandRow="1" firstRow="1">
                <a:noFill/>
                <a:tableStyleId>{4D2D3930-C07A-48F2-9FE9-28529254D04D}</a:tableStyleId>
              </a:tblPr>
              <a:tblGrid>
                <a:gridCol w="2106350"/>
                <a:gridCol w="2106350"/>
                <a:gridCol w="2106350"/>
                <a:gridCol w="2106350"/>
              </a:tblGrid>
              <a:tr h="370850">
                <a:tc gridSpan="2" rowSpan="2">
                  <a:txBody>
                    <a:bodyPr/>
                    <a:lstStyle/>
                    <a:p>
                      <a:pPr indent="0" lvl="0" marL="0" marR="0" rtl="0" algn="l">
                        <a:spcBef>
                          <a:spcPts val="0"/>
                        </a:spcBef>
                        <a:spcAft>
                          <a:spcPts val="0"/>
                        </a:spcAft>
                        <a:buNone/>
                      </a:pPr>
                      <a:r>
                        <a:t/>
                      </a:r>
                      <a:endParaRPr sz="1800"/>
                    </a:p>
                  </a:txBody>
                  <a:tcPr marT="45725" marB="45725" marR="91450" marL="91450"/>
                </a:tc>
                <a:tc rowSpan="2" hMerge="1"/>
                <a:tc gridSpan="2">
                  <a:txBody>
                    <a:bodyPr/>
                    <a:lstStyle/>
                    <a:p>
                      <a:pPr indent="0" lvl="0" marL="0" marR="0" rtl="0" algn="l">
                        <a:spcBef>
                          <a:spcPts val="0"/>
                        </a:spcBef>
                        <a:spcAft>
                          <a:spcPts val="0"/>
                        </a:spcAft>
                        <a:buNone/>
                      </a:pPr>
                      <a:r>
                        <a:rPr lang="en-US" sz="1800"/>
                        <a:t>True state of nature</a:t>
                      </a:r>
                      <a:endParaRPr sz="1800"/>
                    </a:p>
                  </a:txBody>
                  <a:tcPr marT="45725" marB="45725" marR="91450" marL="91450"/>
                </a:tc>
                <a:tc hMerge="1"/>
              </a:tr>
              <a:tr h="370850">
                <a:tc gridSpan="2" vMerge="1"/>
                <a:tc hMerge="1" vMerge="1"/>
                <a:tc>
                  <a:txBody>
                    <a:bodyPr/>
                    <a:lstStyle/>
                    <a:p>
                      <a:pPr indent="0" lvl="0" marL="0" marR="0" rtl="0" algn="l">
                        <a:spcBef>
                          <a:spcPts val="0"/>
                        </a:spcBef>
                        <a:spcAft>
                          <a:spcPts val="0"/>
                        </a:spcAft>
                        <a:buNone/>
                      </a:pPr>
                      <a:r>
                        <a:rPr lang="en-US" sz="1800"/>
                        <a:t>H0 is true</a:t>
                      </a:r>
                      <a:endParaRPr sz="1800"/>
                    </a:p>
                  </a:txBody>
                  <a:tcPr marT="45725" marB="45725" marR="91450" marL="91450"/>
                </a:tc>
                <a:tc>
                  <a:txBody>
                    <a:bodyPr/>
                    <a:lstStyle/>
                    <a:p>
                      <a:pPr indent="0" lvl="0" marL="0" marR="0" rtl="0" algn="l">
                        <a:spcBef>
                          <a:spcPts val="0"/>
                        </a:spcBef>
                        <a:spcAft>
                          <a:spcPts val="0"/>
                        </a:spcAft>
                        <a:buNone/>
                      </a:pPr>
                      <a:r>
                        <a:rPr lang="en-US" sz="1800"/>
                        <a:t>H</a:t>
                      </a:r>
                      <a:r>
                        <a:rPr lang="en-US" sz="1800"/>
                        <a:t>a is true</a:t>
                      </a:r>
                      <a:endParaRPr sz="1800"/>
                    </a:p>
                  </a:txBody>
                  <a:tcPr marT="45725" marB="45725" marR="91450" marL="91450"/>
                </a:tc>
              </a:tr>
              <a:tr h="370850">
                <a:tc rowSpan="2">
                  <a:txBody>
                    <a:bodyPr/>
                    <a:lstStyle/>
                    <a:p>
                      <a:pPr indent="0" lvl="0" marL="0" marR="0" rtl="0" algn="l">
                        <a:spcBef>
                          <a:spcPts val="0"/>
                        </a:spcBef>
                        <a:spcAft>
                          <a:spcPts val="0"/>
                        </a:spcAft>
                        <a:buNone/>
                      </a:pPr>
                      <a:r>
                        <a:rPr lang="en-US" sz="1800"/>
                        <a:t>Conclusion </a:t>
                      </a:r>
                      <a:endParaRPr sz="1800"/>
                    </a:p>
                  </a:txBody>
                  <a:tcPr marT="45725" marB="45725" marR="91450" marL="91450"/>
                </a:tc>
                <a:tc>
                  <a:txBody>
                    <a:bodyPr/>
                    <a:lstStyle/>
                    <a:p>
                      <a:pPr indent="0" lvl="0" marL="0" marR="0" rtl="0" algn="l">
                        <a:spcBef>
                          <a:spcPts val="0"/>
                        </a:spcBef>
                        <a:spcAft>
                          <a:spcPts val="0"/>
                        </a:spcAft>
                        <a:buNone/>
                      </a:pPr>
                      <a:r>
                        <a:rPr lang="en-US" sz="1800"/>
                        <a:t>Support H0/ reject Ha</a:t>
                      </a:r>
                      <a:endParaRPr sz="1800"/>
                    </a:p>
                  </a:txBody>
                  <a:tcPr marT="45725" marB="45725" marR="91450" marL="91450"/>
                </a:tc>
                <a:tc>
                  <a:txBody>
                    <a:bodyPr/>
                    <a:lstStyle/>
                    <a:p>
                      <a:pPr indent="0" lvl="0" marL="0" marR="0" rtl="0" algn="l">
                        <a:spcBef>
                          <a:spcPts val="0"/>
                        </a:spcBef>
                        <a:spcAft>
                          <a:spcPts val="0"/>
                        </a:spcAft>
                        <a:buNone/>
                      </a:pPr>
                      <a:r>
                        <a:rPr lang="en-US" sz="1800"/>
                        <a:t>Correct conclusion</a:t>
                      </a:r>
                      <a:endParaRPr sz="1800"/>
                    </a:p>
                  </a:txBody>
                  <a:tcPr marT="45725" marB="45725" marR="91450" marL="91450"/>
                </a:tc>
                <a:tc>
                  <a:txBody>
                    <a:bodyPr/>
                    <a:lstStyle/>
                    <a:p>
                      <a:pPr indent="0" lvl="0" marL="0" marR="0" rtl="0" algn="l">
                        <a:spcBef>
                          <a:spcPts val="0"/>
                        </a:spcBef>
                        <a:spcAft>
                          <a:spcPts val="0"/>
                        </a:spcAft>
                        <a:buNone/>
                      </a:pPr>
                      <a:r>
                        <a:rPr lang="en-US" sz="1800"/>
                        <a:t>Type 2 error</a:t>
                      </a:r>
                      <a:endParaRPr sz="1800"/>
                    </a:p>
                  </a:txBody>
                  <a:tcPr marT="45725" marB="45725" marR="91450" marL="91450">
                    <a:solidFill>
                      <a:srgbClr val="FABF8E"/>
                    </a:solidFill>
                  </a:tcPr>
                </a:tc>
              </a:tr>
              <a:tr h="370850">
                <a:tc vMerge="1"/>
                <a:tc>
                  <a:txBody>
                    <a:bodyPr/>
                    <a:lstStyle/>
                    <a:p>
                      <a:pPr indent="0" lvl="0" marL="0" marR="0" rtl="0" algn="l">
                        <a:lnSpc>
                          <a:spcPct val="100000"/>
                        </a:lnSpc>
                        <a:spcBef>
                          <a:spcPts val="0"/>
                        </a:spcBef>
                        <a:spcAft>
                          <a:spcPts val="0"/>
                        </a:spcAft>
                        <a:buClr>
                          <a:schemeClr val="dk1"/>
                        </a:buClr>
                        <a:buSzPts val="1800"/>
                        <a:buFont typeface="Calibri"/>
                        <a:buNone/>
                      </a:pPr>
                      <a:r>
                        <a:rPr lang="en-US" sz="1800"/>
                        <a:t>Support Ha/ reject H0</a:t>
                      </a:r>
                      <a:endParaRPr sz="1800"/>
                    </a:p>
                  </a:txBody>
                  <a:tcPr marT="45725" marB="45725" marR="91450" marL="91450"/>
                </a:tc>
                <a:tc>
                  <a:txBody>
                    <a:bodyPr/>
                    <a:lstStyle/>
                    <a:p>
                      <a:pPr indent="0" lvl="0" marL="0" marR="0" rtl="0" algn="l">
                        <a:spcBef>
                          <a:spcPts val="0"/>
                        </a:spcBef>
                        <a:spcAft>
                          <a:spcPts val="0"/>
                        </a:spcAft>
                        <a:buNone/>
                      </a:pPr>
                      <a:r>
                        <a:rPr lang="en-US" sz="1800"/>
                        <a:t>Type</a:t>
                      </a:r>
                      <a:r>
                        <a:rPr lang="en-US" sz="1800"/>
                        <a:t> 1 error</a:t>
                      </a:r>
                      <a:endParaRPr sz="1800"/>
                    </a:p>
                  </a:txBody>
                  <a:tcPr marT="45725" marB="45725" marR="91450" marL="91450">
                    <a:solidFill>
                      <a:srgbClr val="FABF8E"/>
                    </a:solidFill>
                  </a:tcPr>
                </a:tc>
                <a:tc>
                  <a:txBody>
                    <a:bodyPr/>
                    <a:lstStyle/>
                    <a:p>
                      <a:pPr indent="0" lvl="0" marL="0" marR="0" rtl="0" algn="l">
                        <a:spcBef>
                          <a:spcPts val="0"/>
                        </a:spcBef>
                        <a:spcAft>
                          <a:spcPts val="0"/>
                        </a:spcAft>
                        <a:buNone/>
                      </a:pPr>
                      <a:r>
                        <a:rPr lang="en-US" sz="1800"/>
                        <a:t>Correct conclusion</a:t>
                      </a:r>
                      <a:endParaRPr sz="1800"/>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3"/>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Continue..</a:t>
            </a:r>
            <a:endParaRPr/>
          </a:p>
        </p:txBody>
      </p:sp>
      <p:sp>
        <p:nvSpPr>
          <p:cNvPr id="160" name="Google Shape;160;p13"/>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fontScale="92500" lnSpcReduction="10000"/>
          </a:bodyPr>
          <a:lstStyle/>
          <a:p>
            <a:pPr indent="-285750" lvl="1" marL="742950" rtl="0" algn="l">
              <a:spcBef>
                <a:spcPts val="0"/>
              </a:spcBef>
              <a:spcAft>
                <a:spcPts val="0"/>
              </a:spcAft>
              <a:buClr>
                <a:schemeClr val="dk1"/>
              </a:buClr>
              <a:buSzPct val="100000"/>
              <a:buNone/>
            </a:pPr>
            <a:r>
              <a:rPr lang="en-US"/>
              <a:t>H0: µ == 150 cc</a:t>
            </a:r>
            <a:endParaRPr/>
          </a:p>
          <a:p>
            <a:pPr indent="-285750" lvl="1" marL="742950" rtl="0" algn="l">
              <a:spcBef>
                <a:spcPts val="518"/>
              </a:spcBef>
              <a:spcAft>
                <a:spcPts val="0"/>
              </a:spcAft>
              <a:buClr>
                <a:schemeClr val="dk1"/>
              </a:buClr>
              <a:buSzPct val="100000"/>
              <a:buNone/>
            </a:pPr>
            <a:r>
              <a:rPr lang="en-US"/>
              <a:t>H1: µ != 150 cc</a:t>
            </a:r>
            <a:endParaRPr/>
          </a:p>
          <a:p>
            <a:pPr indent="-342900" lvl="0" marL="342900" rtl="0" algn="l">
              <a:spcBef>
                <a:spcPts val="592"/>
              </a:spcBef>
              <a:spcAft>
                <a:spcPts val="0"/>
              </a:spcAft>
              <a:buClr>
                <a:schemeClr val="dk1"/>
              </a:buClr>
              <a:buSzPct val="100000"/>
              <a:buChar char="•"/>
            </a:pPr>
            <a:r>
              <a:rPr lang="en-US"/>
              <a:t>Type 1 error:  Bottle are having 150 cc volume is actually true but based on samples we support alternate hypothesis. This scenario leads to resting of the machine and doing changes in the current process. This is a false alarm</a:t>
            </a:r>
            <a:endParaRPr/>
          </a:p>
          <a:p>
            <a:pPr indent="-342900" lvl="0" marL="342900" rtl="0" algn="l">
              <a:spcBef>
                <a:spcPts val="592"/>
              </a:spcBef>
              <a:spcAft>
                <a:spcPts val="0"/>
              </a:spcAft>
              <a:buClr>
                <a:schemeClr val="dk1"/>
              </a:buClr>
              <a:buSzPct val="100000"/>
              <a:buChar char="•"/>
            </a:pPr>
            <a:r>
              <a:rPr lang="en-US"/>
              <a:t>Type 2 error: Alternate hypothesis is true but predicted as null hypothesis.Bottles are not having 150 cc volume. Machine is having some defect.  Conclusion based on collected sample, supports Null hypothesis. This leads to huge loss of production.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Difference </a:t>
            </a:r>
            <a:endParaRPr/>
          </a:p>
        </p:txBody>
      </p:sp>
      <p:graphicFrame>
        <p:nvGraphicFramePr>
          <p:cNvPr id="166" name="Google Shape;166;p14"/>
          <p:cNvGraphicFramePr/>
          <p:nvPr/>
        </p:nvGraphicFramePr>
        <p:xfrm>
          <a:off x="1518444" y="1447800"/>
          <a:ext cx="3000000" cy="3000000"/>
        </p:xfrm>
        <a:graphic>
          <a:graphicData uri="http://schemas.openxmlformats.org/drawingml/2006/table">
            <a:tbl>
              <a:tblPr bandRow="1" firstRow="1">
                <a:noFill/>
                <a:tableStyleId>{4D2D3930-C07A-48F2-9FE9-28529254D04D}</a:tableStyleId>
              </a:tblPr>
              <a:tblGrid>
                <a:gridCol w="2362200"/>
                <a:gridCol w="3200400"/>
                <a:gridCol w="3657600"/>
              </a:tblGrid>
              <a:tr h="54427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Type 1 error (alpha)  α</a:t>
                      </a:r>
                      <a:endParaRPr sz="1800"/>
                    </a:p>
                  </a:txBody>
                  <a:tcPr marT="45725" marB="45725" marR="91450" marL="91450"/>
                </a:tc>
                <a:tc>
                  <a:txBody>
                    <a:bodyPr/>
                    <a:lstStyle/>
                    <a:p>
                      <a:pPr indent="0" lvl="0" marL="0" marR="0" rtl="0" algn="l">
                        <a:spcBef>
                          <a:spcPts val="0"/>
                        </a:spcBef>
                        <a:spcAft>
                          <a:spcPts val="0"/>
                        </a:spcAft>
                        <a:buNone/>
                      </a:pPr>
                      <a:r>
                        <a:rPr lang="en-US" sz="1800"/>
                        <a:t>Type 2 error (beta)  β</a:t>
                      </a:r>
                      <a:endParaRPr sz="1800"/>
                    </a:p>
                  </a:txBody>
                  <a:tcPr marT="45725" marB="45725" marR="91450" marL="91450"/>
                </a:tc>
              </a:tr>
              <a:tr h="544275">
                <a:tc>
                  <a:txBody>
                    <a:bodyPr/>
                    <a:lstStyle/>
                    <a:p>
                      <a:pPr indent="0" lvl="0" marL="0" marR="0" rtl="0" algn="l">
                        <a:spcBef>
                          <a:spcPts val="0"/>
                        </a:spcBef>
                        <a:spcAft>
                          <a:spcPts val="0"/>
                        </a:spcAft>
                        <a:buNone/>
                      </a:pPr>
                      <a:r>
                        <a:rPr lang="en-US" sz="1800"/>
                        <a:t>Name</a:t>
                      </a:r>
                      <a:endParaRPr sz="1800"/>
                    </a:p>
                  </a:txBody>
                  <a:tcPr marT="45725" marB="45725" marR="91450" marL="91450"/>
                </a:tc>
                <a:tc>
                  <a:txBody>
                    <a:bodyPr/>
                    <a:lstStyle/>
                    <a:p>
                      <a:pPr indent="0" lvl="0" marL="0" marR="0" rtl="0" algn="l">
                        <a:spcBef>
                          <a:spcPts val="0"/>
                        </a:spcBef>
                        <a:spcAft>
                          <a:spcPts val="0"/>
                        </a:spcAft>
                        <a:buNone/>
                      </a:pPr>
                      <a:r>
                        <a:rPr lang="en-US" sz="1800"/>
                        <a:t>Producer’s risk</a:t>
                      </a:r>
                      <a:r>
                        <a:rPr lang="en-US" sz="1800"/>
                        <a:t> / significance level</a:t>
                      </a:r>
                      <a:endParaRPr sz="1800"/>
                    </a:p>
                  </a:txBody>
                  <a:tcPr marT="45725" marB="45725" marR="91450" marL="91450"/>
                </a:tc>
                <a:tc>
                  <a:txBody>
                    <a:bodyPr/>
                    <a:lstStyle/>
                    <a:p>
                      <a:pPr indent="0" lvl="0" marL="0" marR="0" rtl="0" algn="l">
                        <a:spcBef>
                          <a:spcPts val="0"/>
                        </a:spcBef>
                        <a:spcAft>
                          <a:spcPts val="0"/>
                        </a:spcAft>
                        <a:buNone/>
                      </a:pPr>
                      <a:r>
                        <a:rPr lang="en-US" sz="1800"/>
                        <a:t>Consumer’s risk</a:t>
                      </a:r>
                      <a:endParaRPr sz="1800"/>
                    </a:p>
                  </a:txBody>
                  <a:tcPr marT="45725" marB="45725" marR="91450" marL="91450"/>
                </a:tc>
              </a:tr>
              <a:tr h="544275">
                <a:tc>
                  <a:txBody>
                    <a:bodyPr/>
                    <a:lstStyle/>
                    <a:p>
                      <a:pPr indent="0" lvl="0" marL="0" marR="0" rtl="0" algn="l">
                        <a:spcBef>
                          <a:spcPts val="0"/>
                        </a:spcBef>
                        <a:spcAft>
                          <a:spcPts val="0"/>
                        </a:spcAft>
                        <a:buNone/>
                      </a:pPr>
                      <a:r>
                        <a:rPr lang="en-US" sz="1800"/>
                        <a:t>1-error </a:t>
                      </a:r>
                      <a:endParaRPr sz="1800"/>
                    </a:p>
                  </a:txBody>
                  <a:tcPr marT="45725" marB="45725" marR="91450" marL="91450"/>
                </a:tc>
                <a:tc>
                  <a:txBody>
                    <a:bodyPr/>
                    <a:lstStyle/>
                    <a:p>
                      <a:pPr indent="0" lvl="0" marL="0" marR="0" rtl="0" algn="l">
                        <a:spcBef>
                          <a:spcPts val="0"/>
                        </a:spcBef>
                        <a:spcAft>
                          <a:spcPts val="0"/>
                        </a:spcAft>
                        <a:buNone/>
                      </a:pPr>
                      <a:r>
                        <a:rPr lang="en-US" sz="1800"/>
                        <a:t>Confidence interval (1-α) </a:t>
                      </a:r>
                      <a:endParaRPr sz="1800"/>
                    </a:p>
                  </a:txBody>
                  <a:tcPr marT="45725" marB="45725" marR="91450" marL="91450"/>
                </a:tc>
                <a:tc>
                  <a:txBody>
                    <a:bodyPr/>
                    <a:lstStyle/>
                    <a:p>
                      <a:pPr indent="0" lvl="0" marL="0" marR="0" rtl="0" algn="l">
                        <a:spcBef>
                          <a:spcPts val="0"/>
                        </a:spcBef>
                        <a:spcAft>
                          <a:spcPts val="0"/>
                        </a:spcAft>
                        <a:buNone/>
                      </a:pPr>
                      <a:r>
                        <a:rPr lang="en-US" sz="1800"/>
                        <a:t>Power of the test (1-β)</a:t>
                      </a:r>
                      <a:endParaRPr sz="1800"/>
                    </a:p>
                  </a:txBody>
                  <a:tcPr marT="45725" marB="45725" marR="91450" marL="91450"/>
                </a:tc>
              </a:tr>
              <a:tr h="544275">
                <a:tc>
                  <a:txBody>
                    <a:bodyPr/>
                    <a:lstStyle/>
                    <a:p>
                      <a:pPr indent="0" lvl="0" marL="0" marR="0" rtl="0" algn="l">
                        <a:spcBef>
                          <a:spcPts val="0"/>
                        </a:spcBef>
                        <a:spcAft>
                          <a:spcPts val="0"/>
                        </a:spcAft>
                        <a:buNone/>
                      </a:pPr>
                      <a:r>
                        <a:rPr lang="en-US" sz="1800"/>
                        <a:t>Example</a:t>
                      </a:r>
                      <a:endParaRPr sz="1800"/>
                    </a:p>
                  </a:txBody>
                  <a:tcPr marT="45725" marB="45725" marR="91450" marL="91450"/>
                </a:tc>
                <a:tc>
                  <a:txBody>
                    <a:bodyPr/>
                    <a:lstStyle/>
                    <a:p>
                      <a:pPr indent="0" lvl="0" marL="0" marR="0" rtl="0" algn="l">
                        <a:spcBef>
                          <a:spcPts val="0"/>
                        </a:spcBef>
                        <a:spcAft>
                          <a:spcPts val="0"/>
                        </a:spcAft>
                        <a:buNone/>
                      </a:pPr>
                      <a:r>
                        <a:rPr lang="en-US" sz="1800"/>
                        <a:t>False alarm leading to inconvenience </a:t>
                      </a:r>
                      <a:endParaRPr sz="1800"/>
                    </a:p>
                  </a:txBody>
                  <a:tcPr marT="45725" marB="45725" marR="91450" marL="91450"/>
                </a:tc>
                <a:tc>
                  <a:txBody>
                    <a:bodyPr/>
                    <a:lstStyle/>
                    <a:p>
                      <a:pPr indent="0" lvl="0" marL="0" marR="0" rtl="0" algn="l">
                        <a:spcBef>
                          <a:spcPts val="0"/>
                        </a:spcBef>
                        <a:spcAft>
                          <a:spcPts val="0"/>
                        </a:spcAft>
                        <a:buNone/>
                      </a:pPr>
                      <a:r>
                        <a:rPr lang="en-US" sz="1800"/>
                        <a:t>Missed fire leading to disaster</a:t>
                      </a:r>
                      <a:endParaRPr sz="1800"/>
                    </a:p>
                  </a:txBody>
                  <a:tcPr marT="45725" marB="45725" marR="91450" marL="91450"/>
                </a:tc>
              </a:tr>
              <a:tr h="544275">
                <a:tc>
                  <a:txBody>
                    <a:bodyPr/>
                    <a:lstStyle/>
                    <a:p>
                      <a:pPr indent="0" lvl="0" marL="0" marR="0" rtl="0" algn="l">
                        <a:spcBef>
                          <a:spcPts val="0"/>
                        </a:spcBef>
                        <a:spcAft>
                          <a:spcPts val="0"/>
                        </a:spcAft>
                        <a:buNone/>
                      </a:pPr>
                      <a:r>
                        <a:rPr lang="en-US" sz="1800"/>
                        <a:t>Effects on process</a:t>
                      </a:r>
                      <a:endParaRPr sz="1800"/>
                    </a:p>
                  </a:txBody>
                  <a:tcPr marT="45725" marB="45725" marR="91450" marL="91450"/>
                </a:tc>
                <a:tc>
                  <a:txBody>
                    <a:bodyPr/>
                    <a:lstStyle/>
                    <a:p>
                      <a:pPr indent="0" lvl="0" marL="0" marR="0" rtl="0" algn="l">
                        <a:spcBef>
                          <a:spcPts val="0"/>
                        </a:spcBef>
                        <a:spcAft>
                          <a:spcPts val="0"/>
                        </a:spcAft>
                        <a:buNone/>
                      </a:pPr>
                      <a:r>
                        <a:rPr lang="en-US" sz="1800"/>
                        <a:t>Unnecessary  cost increase due to frequent changes</a:t>
                      </a:r>
                      <a:endParaRPr sz="1800"/>
                    </a:p>
                  </a:txBody>
                  <a:tcPr marT="45725" marB="45725" marR="91450" marL="91450"/>
                </a:tc>
                <a:tc>
                  <a:txBody>
                    <a:bodyPr/>
                    <a:lstStyle/>
                    <a:p>
                      <a:pPr indent="0" lvl="0" marL="0" marR="0" rtl="0" algn="l">
                        <a:spcBef>
                          <a:spcPts val="0"/>
                        </a:spcBef>
                        <a:spcAft>
                          <a:spcPts val="0"/>
                        </a:spcAft>
                        <a:buNone/>
                      </a:pPr>
                      <a:r>
                        <a:rPr lang="en-US" sz="1800"/>
                        <a:t>Defects may produced</a:t>
                      </a:r>
                      <a:endParaRPr sz="1800"/>
                    </a:p>
                  </a:txBody>
                  <a:tcPr marT="45725" marB="45725" marR="91450" marL="91450"/>
                </a:tc>
              </a:tr>
              <a:tr h="544275">
                <a:tc>
                  <a:txBody>
                    <a:bodyPr/>
                    <a:lstStyle/>
                    <a:p>
                      <a:pPr indent="0" lvl="0" marL="0" marR="0" rtl="0" algn="l">
                        <a:spcBef>
                          <a:spcPts val="0"/>
                        </a:spcBef>
                        <a:spcAft>
                          <a:spcPts val="0"/>
                        </a:spcAft>
                        <a:buNone/>
                      </a:pPr>
                      <a:r>
                        <a:rPr lang="en-US" sz="1800"/>
                        <a:t>Control method</a:t>
                      </a:r>
                      <a:endParaRPr sz="1800"/>
                    </a:p>
                  </a:txBody>
                  <a:tcPr marT="45725" marB="45725" marR="91450" marL="91450"/>
                </a:tc>
                <a:tc>
                  <a:txBody>
                    <a:bodyPr/>
                    <a:lstStyle/>
                    <a:p>
                      <a:pPr indent="0" lvl="0" marL="0" marR="0" rtl="0" algn="l">
                        <a:spcBef>
                          <a:spcPts val="0"/>
                        </a:spcBef>
                        <a:spcAft>
                          <a:spcPts val="0"/>
                        </a:spcAft>
                        <a:buNone/>
                      </a:pPr>
                      <a:r>
                        <a:rPr lang="en-US" sz="1800"/>
                        <a:t>Usually fixed at predetermined level</a:t>
                      </a:r>
                      <a:r>
                        <a:rPr lang="en-US" sz="1800"/>
                        <a:t> 1%, 5% or 10%</a:t>
                      </a:r>
                      <a:endParaRPr sz="1800"/>
                    </a:p>
                  </a:txBody>
                  <a:tcPr marT="45725" marB="45725" marR="91450" marL="91450"/>
                </a:tc>
                <a:tc>
                  <a:txBody>
                    <a:bodyPr/>
                    <a:lstStyle/>
                    <a:p>
                      <a:pPr indent="0" lvl="0" marL="0" marR="0" rtl="0" algn="l">
                        <a:spcBef>
                          <a:spcPts val="0"/>
                        </a:spcBef>
                        <a:spcAft>
                          <a:spcPts val="0"/>
                        </a:spcAft>
                        <a:buNone/>
                      </a:pPr>
                      <a:r>
                        <a:rPr lang="en-US" sz="1800"/>
                        <a:t>Usually</a:t>
                      </a:r>
                      <a:r>
                        <a:rPr lang="en-US" sz="1800"/>
                        <a:t> controlled to &lt;10% by appropriate sample size.</a:t>
                      </a:r>
                      <a:endParaRPr sz="1800"/>
                    </a:p>
                  </a:txBody>
                  <a:tcPr marT="45725" marB="45725" marR="91450" marL="91450"/>
                </a:tc>
              </a:tr>
              <a:tr h="544275">
                <a:tc>
                  <a:txBody>
                    <a:bodyPr/>
                    <a:lstStyle/>
                    <a:p>
                      <a:pPr indent="0" lvl="0" marL="0" marR="0" rtl="0" algn="l">
                        <a:spcBef>
                          <a:spcPts val="0"/>
                        </a:spcBef>
                        <a:spcAft>
                          <a:spcPts val="0"/>
                        </a:spcAft>
                        <a:buNone/>
                      </a:pPr>
                      <a:r>
                        <a:rPr lang="en-US" sz="1800"/>
                        <a:t>Simple definition</a:t>
                      </a:r>
                      <a:endParaRPr sz="1800"/>
                    </a:p>
                  </a:txBody>
                  <a:tcPr marT="45725" marB="45725" marR="91450" marL="91450"/>
                </a:tc>
                <a:tc>
                  <a:txBody>
                    <a:bodyPr/>
                    <a:lstStyle/>
                    <a:p>
                      <a:pPr indent="0" lvl="0" marL="0" marR="0" rtl="0" algn="l">
                        <a:spcBef>
                          <a:spcPts val="0"/>
                        </a:spcBef>
                        <a:spcAft>
                          <a:spcPts val="0"/>
                        </a:spcAft>
                        <a:buNone/>
                      </a:pPr>
                      <a:r>
                        <a:rPr lang="en-US" sz="1800"/>
                        <a:t>Innocent declared as guilty</a:t>
                      </a:r>
                      <a:endParaRPr sz="1800"/>
                    </a:p>
                  </a:txBody>
                  <a:tcPr marT="45725" marB="45725" marR="91450" marL="91450"/>
                </a:tc>
                <a:tc>
                  <a:txBody>
                    <a:bodyPr/>
                    <a:lstStyle/>
                    <a:p>
                      <a:pPr indent="0" lvl="0" marL="0" marR="0" rtl="0" algn="l">
                        <a:spcBef>
                          <a:spcPts val="0"/>
                        </a:spcBef>
                        <a:spcAft>
                          <a:spcPts val="0"/>
                        </a:spcAft>
                        <a:buNone/>
                      </a:pPr>
                      <a:r>
                        <a:rPr lang="en-US" sz="1800"/>
                        <a:t>Guilty declared as innocent.</a:t>
                      </a:r>
                      <a:endParaRPr sz="1800"/>
                    </a:p>
                  </a:txBody>
                  <a:tcPr marT="45725" marB="45725" marR="91450" marL="9145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Confidence level</a:t>
            </a:r>
            <a:endParaRPr/>
          </a:p>
        </p:txBody>
      </p:sp>
      <p:sp>
        <p:nvSpPr>
          <p:cNvPr id="172" name="Google Shape;172;p15"/>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Confidence level :</a:t>
            </a:r>
            <a:endParaRPr/>
          </a:p>
          <a:p>
            <a:pPr indent="-342900" lvl="0" marL="342900" rtl="0" algn="l">
              <a:spcBef>
                <a:spcPts val="640"/>
              </a:spcBef>
              <a:spcAft>
                <a:spcPts val="0"/>
              </a:spcAft>
              <a:buClr>
                <a:schemeClr val="dk1"/>
              </a:buClr>
              <a:buSzPts val="3200"/>
              <a:buChar char="•"/>
            </a:pPr>
            <a:r>
              <a:rPr lang="en-US"/>
              <a:t>C  = 0.90, 0.95, 0.99 which is equivalent to 90%, 95%, 99% respectively.</a:t>
            </a:r>
            <a:endParaRPr/>
          </a:p>
          <a:p>
            <a:pPr indent="-342900" lvl="0" marL="342900" rtl="0" algn="l">
              <a:spcBef>
                <a:spcPts val="640"/>
              </a:spcBef>
              <a:spcAft>
                <a:spcPts val="0"/>
              </a:spcAft>
              <a:buClr>
                <a:schemeClr val="dk1"/>
              </a:buClr>
              <a:buSzPts val="3200"/>
              <a:buChar char="•"/>
            </a:pPr>
            <a:r>
              <a:rPr lang="en-US"/>
              <a:t>Level of significance or type 1 error:</a:t>
            </a:r>
            <a:endParaRPr/>
          </a:p>
          <a:p>
            <a:pPr indent="-342900" lvl="0" marL="342900" rtl="0" algn="l">
              <a:spcBef>
                <a:spcPts val="640"/>
              </a:spcBef>
              <a:spcAft>
                <a:spcPts val="0"/>
              </a:spcAft>
              <a:buClr>
                <a:schemeClr val="dk1"/>
              </a:buClr>
              <a:buSzPts val="3200"/>
              <a:buChar char="•"/>
            </a:pPr>
            <a:r>
              <a:rPr lang="en-US"/>
              <a:t>α = 1 – C(0.90, 0.95, 0.99)</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Power of the test</a:t>
            </a:r>
            <a:endParaRPr/>
          </a:p>
        </p:txBody>
      </p:sp>
      <p:sp>
        <p:nvSpPr>
          <p:cNvPr id="178" name="Google Shape;178;p16"/>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Power = 1-β  (i.e.  1 – type 2 error)</a:t>
            </a:r>
            <a:endParaRPr/>
          </a:p>
          <a:p>
            <a:pPr indent="-342900" lvl="0" marL="342900" rtl="0" algn="l">
              <a:spcBef>
                <a:spcPts val="640"/>
              </a:spcBef>
              <a:spcAft>
                <a:spcPts val="0"/>
              </a:spcAft>
              <a:buClr>
                <a:schemeClr val="dk1"/>
              </a:buClr>
              <a:buSzPts val="3200"/>
              <a:buChar char="•"/>
            </a:pPr>
            <a:r>
              <a:rPr lang="en-US"/>
              <a:t>Type 2 error : failing to reject null hypothesis when null hypothesis is false.</a:t>
            </a:r>
            <a:endParaRPr/>
          </a:p>
          <a:p>
            <a:pPr indent="-342900" lvl="0" marL="342900" rtl="0" algn="l">
              <a:spcBef>
                <a:spcPts val="640"/>
              </a:spcBef>
              <a:spcAft>
                <a:spcPts val="0"/>
              </a:spcAft>
              <a:buClr>
                <a:schemeClr val="dk1"/>
              </a:buClr>
              <a:buSzPts val="3200"/>
              <a:buChar char="•"/>
            </a:pPr>
            <a:r>
              <a:rPr lang="en-US"/>
              <a:t>Power : likelihood of reject null hypothesis when null hypothesis is false.</a:t>
            </a:r>
            <a:endParaRPr/>
          </a:p>
          <a:p>
            <a:pPr indent="-342900" lvl="0" marL="342900" rtl="0" algn="l">
              <a:spcBef>
                <a:spcPts val="640"/>
              </a:spcBef>
              <a:spcAft>
                <a:spcPts val="0"/>
              </a:spcAft>
              <a:buClr>
                <a:schemeClr val="dk1"/>
              </a:buClr>
              <a:buSzPts val="3200"/>
              <a:buChar char="•"/>
            </a:pPr>
            <a:r>
              <a:rPr lang="en-US"/>
              <a:t>Power is the ability of test to correctly reject the null hypothesis.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idx="1" type="body"/>
          </p:nvPr>
        </p:nvSpPr>
        <p:spPr>
          <a:xfrm>
            <a:off x="631907" y="304800"/>
            <a:ext cx="5382337" cy="5943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Let’s pick up 1 bottle from production line and the volume is 153.8cc</a:t>
            </a:r>
            <a:endParaRPr/>
          </a:p>
          <a:p>
            <a:pPr indent="-342900" lvl="0" marL="342900" rtl="0" algn="l">
              <a:spcBef>
                <a:spcPts val="640"/>
              </a:spcBef>
              <a:spcAft>
                <a:spcPts val="0"/>
              </a:spcAft>
              <a:buClr>
                <a:schemeClr val="dk1"/>
              </a:buClr>
              <a:buSzPts val="3200"/>
              <a:buChar char="•"/>
            </a:pPr>
            <a:r>
              <a:rPr lang="en-US"/>
              <a:t>With 95% confidence level we will fail to reject the null hypothesis.</a:t>
            </a:r>
            <a:endParaRPr/>
          </a:p>
          <a:p>
            <a:pPr indent="-285750" lvl="1" marL="742950" rtl="0" algn="l">
              <a:spcBef>
                <a:spcPts val="560"/>
              </a:spcBef>
              <a:spcAft>
                <a:spcPts val="0"/>
              </a:spcAft>
              <a:buClr>
                <a:schemeClr val="dk1"/>
              </a:buClr>
              <a:buSzPts val="2800"/>
              <a:buNone/>
            </a:pPr>
            <a:r>
              <a:rPr lang="en-US"/>
              <a:t>H0: µ == 150 cc</a:t>
            </a:r>
            <a:endParaRPr/>
          </a:p>
          <a:p>
            <a:pPr indent="-285750" lvl="1" marL="742950" rtl="0" algn="l">
              <a:spcBef>
                <a:spcPts val="560"/>
              </a:spcBef>
              <a:spcAft>
                <a:spcPts val="0"/>
              </a:spcAft>
              <a:buClr>
                <a:schemeClr val="dk1"/>
              </a:buClr>
              <a:buSzPts val="2800"/>
              <a:buNone/>
            </a:pPr>
            <a:r>
              <a:rPr lang="en-US"/>
              <a:t>H1: µ != 150 cc</a:t>
            </a:r>
            <a:endParaRPr/>
          </a:p>
          <a:p>
            <a:pPr indent="-139700" lvl="0" marL="342900" rtl="0" algn="l">
              <a:spcBef>
                <a:spcPts val="640"/>
              </a:spcBef>
              <a:spcAft>
                <a:spcPts val="0"/>
              </a:spcAft>
              <a:buClr>
                <a:schemeClr val="dk1"/>
              </a:buClr>
              <a:buSzPts val="3200"/>
              <a:buNone/>
            </a:pPr>
            <a:r>
              <a:t/>
            </a:r>
            <a:endParaRPr b="1"/>
          </a:p>
          <a:p>
            <a:pPr indent="-139700" lvl="0" marL="342900" rtl="0" algn="l">
              <a:spcBef>
                <a:spcPts val="640"/>
              </a:spcBef>
              <a:spcAft>
                <a:spcPts val="0"/>
              </a:spcAft>
              <a:buClr>
                <a:schemeClr val="dk1"/>
              </a:buClr>
              <a:buSzPts val="3200"/>
              <a:buNone/>
            </a:pPr>
            <a:r>
              <a:t/>
            </a:r>
            <a:endParaRPr/>
          </a:p>
        </p:txBody>
      </p:sp>
      <p:pic>
        <p:nvPicPr>
          <p:cNvPr id="184" name="Google Shape;184;p17"/>
          <p:cNvPicPr preferRelativeResize="0"/>
          <p:nvPr/>
        </p:nvPicPr>
        <p:blipFill rotWithShape="1">
          <a:blip r:embed="rId3">
            <a:alphaModFix/>
          </a:blip>
          <a:srcRect b="0" l="0" r="0" t="0"/>
          <a:stretch/>
        </p:blipFill>
        <p:spPr>
          <a:xfrm>
            <a:off x="6547644" y="1828800"/>
            <a:ext cx="5536213" cy="32654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90" name="Google Shape;190;p18"/>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Here sample of 4 bottles are collected. Mean of sample is 153.8</a:t>
            </a:r>
            <a:endParaRPr/>
          </a:p>
          <a:p>
            <a:pPr indent="-342900" lvl="0" marL="342900" rtl="0" algn="l">
              <a:spcBef>
                <a:spcPts val="640"/>
              </a:spcBef>
              <a:spcAft>
                <a:spcPts val="0"/>
              </a:spcAft>
              <a:buClr>
                <a:schemeClr val="dk1"/>
              </a:buClr>
              <a:buSzPts val="3200"/>
              <a:buChar char="•"/>
            </a:pPr>
            <a:r>
              <a:rPr lang="en-US"/>
              <a:t>Zcalc = (X-µ)  /σ /sqrt(n)</a:t>
            </a:r>
            <a:endParaRPr/>
          </a:p>
          <a:p>
            <a:pPr indent="-342900" lvl="0" marL="342900" rtl="0" algn="l">
              <a:spcBef>
                <a:spcPts val="640"/>
              </a:spcBef>
              <a:spcAft>
                <a:spcPts val="0"/>
              </a:spcAft>
              <a:buClr>
                <a:schemeClr val="dk1"/>
              </a:buClr>
              <a:buSzPts val="3200"/>
              <a:buChar char="•"/>
            </a:pPr>
            <a:r>
              <a:rPr lang="en-US"/>
              <a:t>Hence Z calc = (153.8-150)/2/sqrt(4) = 3.8</a:t>
            </a:r>
            <a:endParaRPr/>
          </a:p>
          <a:p>
            <a:pPr indent="-342900" lvl="0" marL="342900" rtl="0" algn="l">
              <a:spcBef>
                <a:spcPts val="640"/>
              </a:spcBef>
              <a:spcAft>
                <a:spcPts val="0"/>
              </a:spcAft>
              <a:buClr>
                <a:schemeClr val="dk1"/>
              </a:buClr>
              <a:buSzPts val="3200"/>
              <a:buChar char="•"/>
            </a:pPr>
            <a:r>
              <a:rPr lang="en-US"/>
              <a:t>For α = 0.05 , two tails means 0.025 on both tails Z-critical = 1.96</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9"/>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Test </a:t>
            </a:r>
            <a:endParaRPr/>
          </a:p>
        </p:txBody>
      </p:sp>
      <p:sp>
        <p:nvSpPr>
          <p:cNvPr id="196" name="Google Shape;196;p19"/>
          <p:cNvSpPr/>
          <p:nvPr/>
        </p:nvSpPr>
        <p:spPr>
          <a:xfrm>
            <a:off x="2128043" y="1600200"/>
            <a:ext cx="7620001" cy="4525963"/>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One sample</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One sample z-test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One sample t-test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One Proportion 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One variance 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1" marL="1143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Two sample</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Two sample z-test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Two sample t-test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Paired t 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Two proportion 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Two variance</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114300" lvl="1" marL="1143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More than 2 sample</a:t>
            </a:r>
            <a:endParaRPr b="0" i="0" sz="1800" u="none" cap="none" strike="noStrike">
              <a:solidFill>
                <a:schemeClr val="dk1"/>
              </a:solidFill>
              <a:latin typeface="Calibri"/>
              <a:ea typeface="Calibri"/>
              <a:cs typeface="Calibri"/>
              <a:sym typeface="Calibri"/>
            </a:endParaRPr>
          </a:p>
          <a:p>
            <a:pPr indent="-114300" lvl="2" marL="228600" marR="0" rtl="0" algn="l">
              <a:lnSpc>
                <a:spcPct val="75000"/>
              </a:lnSpc>
              <a:spcBef>
                <a:spcPts val="18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ANOVAs test</a:t>
            </a:r>
            <a:endParaRPr b="0" i="0" sz="1800" u="none" cap="none" strike="noStrike">
              <a:solidFill>
                <a:schemeClr val="dk1"/>
              </a:solidFill>
              <a:latin typeface="Calibri"/>
              <a:ea typeface="Calibri"/>
              <a:cs typeface="Calibri"/>
              <a:sym typeface="Calibri"/>
            </a:endParaRPr>
          </a:p>
          <a:p>
            <a:pPr indent="0" lvl="2" marL="228600" marR="0" rtl="0" algn="l">
              <a:lnSpc>
                <a:spcPct val="75000"/>
              </a:lnSpc>
              <a:spcBef>
                <a:spcPts val="18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0"/>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2" name="Google Shape;202;p20"/>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1"/>
          <p:cNvSpPr txBox="1"/>
          <p:nvPr>
            <p:ph type="title"/>
          </p:nvPr>
        </p:nvSpPr>
        <p:spPr>
          <a:xfrm>
            <a:off x="631906" y="274638"/>
            <a:ext cx="11374279"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8" name="Google Shape;208;p21"/>
          <p:cNvSpPr txBox="1"/>
          <p:nvPr>
            <p:ph idx="1" type="body"/>
          </p:nvPr>
        </p:nvSpPr>
        <p:spPr>
          <a:xfrm>
            <a:off x="631906" y="1600202"/>
            <a:ext cx="11374279"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Amrita</dc:creator>
</cp:coreProperties>
</file>